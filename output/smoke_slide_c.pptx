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C  ·  PURE NATIVE SHAPES — NO CHART OBJECT (via claude-pptx-plot)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bubble is a shape.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chart object at all. Every bubble is an ellipse, the arc is a line, axes are lines. Full control over bubble sizing, colors, and labels. Editable as graphic design — not as a chart.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" y="1783080"/>
            <a:ext cx="2660904" cy="2560320"/>
          </a:xfrm>
          <a:prstGeom prst="rect">
            <a:avLst/>
          </a:prstGeom>
          <a:solidFill>
            <a:srgbClr val="E9DED0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21024" y="1783080"/>
            <a:ext cx="1773936" cy="2560320"/>
          </a:xfrm>
          <a:prstGeom prst="rect">
            <a:avLst/>
          </a:prstGeom>
          <a:solidFill>
            <a:srgbClr val="C1FF72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4343400"/>
            <a:ext cx="2660904" cy="1920240"/>
          </a:xfrm>
          <a:prstGeom prst="rect">
            <a:avLst/>
          </a:prstGeom>
          <a:solidFill>
            <a:srgbClr val="E6C9B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621024" y="4343400"/>
            <a:ext cx="1773936" cy="1920240"/>
          </a:xfrm>
          <a:prstGeom prst="rect">
            <a:avLst/>
          </a:prstGeom>
          <a:solidFill>
            <a:srgbClr val="D4DEE5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621024" y="1783080"/>
            <a:ext cx="0" cy="4480560"/>
          </a:xfrm>
          <a:prstGeom prst="line">
            <a:avLst/>
          </a:prstGeom>
          <a:noFill/>
          <a:ln w="9525">
            <a:solidFill>
              <a:srgbClr val="353745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4343400"/>
            <a:ext cx="4434840" cy="0"/>
          </a:xfrm>
          <a:prstGeom prst="line">
            <a:avLst/>
          </a:prstGeom>
          <a:noFill/>
          <a:ln w="9525">
            <a:solidFill>
              <a:srgbClr val="353745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1856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53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LEVERAGED VOLUME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" y="2039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utilization, modest rates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94176" y="18562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53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SCARCITY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94176" y="20391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utilization, premium rates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33272" y="59527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53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33272" y="6099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utilization, low rates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94176" y="59527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53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TRAP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94176" y="60990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Falling util, high rates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60120" y="1783080"/>
            <a:ext cx="4434840" cy="4480560"/>
          </a:xfrm>
          <a:prstGeom prst="rect">
            <a:avLst/>
          </a:prstGeom>
          <a:ln w="6350">
            <a:solidFill>
              <a:srgbClr val="C9B9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63002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664208" y="63002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51176" y="63002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38144" y="63002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25112" y="63002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63002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60120" y="650138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 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5861304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" y="5221224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" y="4581144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" y="3941064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" y="3300984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" y="2660904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" y="2020824"/>
            <a:ext cx="338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 rot="-5400000">
            <a:off x="91440" y="4023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BILL RATE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 flipH="1">
            <a:off x="2462644" y="4841382"/>
            <a:ext cx="1394314" cy="666323"/>
          </a:xfrm>
          <a:prstGeom prst="line">
            <a:avLst/>
          </a:prstGeom>
          <a:noFill/>
          <a:ln w="6350">
            <a:solidFill>
              <a:srgbClr val="8A7968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>
            <a:off x="2263963" y="5507706"/>
            <a:ext cx="198681" cy="85771"/>
          </a:xfrm>
          <a:prstGeom prst="line">
            <a:avLst/>
          </a:prstGeom>
          <a:noFill/>
          <a:ln w="6350">
            <a:solidFill>
              <a:srgbClr val="8A7968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2263963" y="5160142"/>
            <a:ext cx="640391" cy="433334"/>
          </a:xfrm>
          <a:prstGeom prst="line">
            <a:avLst/>
          </a:prstGeom>
          <a:noFill/>
          <a:ln w="6350">
            <a:solidFill>
              <a:srgbClr val="8A7968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1772583" y="4807458"/>
            <a:ext cx="1131771" cy="352684"/>
          </a:xfrm>
          <a:prstGeom prst="line">
            <a:avLst/>
          </a:prstGeom>
          <a:noFill/>
          <a:ln w="6350">
            <a:solidFill>
              <a:srgbClr val="8A7968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1772583" y="4611594"/>
            <a:ext cx="3015691" cy="195864"/>
          </a:xfrm>
          <a:prstGeom prst="line">
            <a:avLst/>
          </a:prstGeom>
          <a:noFill/>
          <a:ln w="6350">
            <a:solidFill>
              <a:srgbClr val="8A7968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4602011" y="4336359"/>
            <a:ext cx="186263" cy="275234"/>
          </a:xfrm>
          <a:prstGeom prst="line">
            <a:avLst/>
          </a:prstGeom>
          <a:noFill/>
          <a:ln w="6350">
            <a:solidFill>
              <a:srgbClr val="8A7968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4279154" y="3942070"/>
            <a:ext cx="322856" cy="394289"/>
          </a:xfrm>
          <a:prstGeom prst="line">
            <a:avLst/>
          </a:prstGeom>
          <a:noFill/>
          <a:ln w="6350">
            <a:solidFill>
              <a:srgbClr val="8A7968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3715043" y="3483132"/>
            <a:ext cx="564112" cy="458937"/>
          </a:xfrm>
          <a:prstGeom prst="line">
            <a:avLst/>
          </a:prstGeom>
          <a:noFill/>
          <a:ln w="6350">
            <a:solidFill>
              <a:srgbClr val="8A7968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3715043" y="3109326"/>
            <a:ext cx="83375" cy="373807"/>
          </a:xfrm>
          <a:prstGeom prst="line">
            <a:avLst/>
          </a:prstGeom>
          <a:noFill/>
          <a:ln w="6350">
            <a:solidFill>
              <a:srgbClr val="8A7968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3186410" y="2552456"/>
            <a:ext cx="612008" cy="556870"/>
          </a:xfrm>
          <a:prstGeom prst="line">
            <a:avLst/>
          </a:prstGeom>
          <a:noFill/>
          <a:ln w="6350">
            <a:solidFill>
              <a:srgbClr val="8A7968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42989" y="4727414"/>
            <a:ext cx="227936" cy="227936"/>
          </a:xfrm>
          <a:prstGeom prst="ellipse">
            <a:avLst/>
          </a:prstGeom>
          <a:solidFill>
            <a:srgbClr val="8A7968">
              <a:alpha val="75000"/>
            </a:srgbClr>
          </a:solidFill>
          <a:ln w="15875">
            <a:solidFill>
              <a:srgbClr val="8A796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5789" y="475908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53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359764" y="5404826"/>
            <a:ext cx="205760" cy="205760"/>
          </a:xfrm>
          <a:prstGeom prst="ellipse">
            <a:avLst/>
          </a:prstGeom>
          <a:solidFill>
            <a:srgbClr val="B84C65">
              <a:alpha val="75000"/>
            </a:srgbClr>
          </a:solidFill>
          <a:ln w="15875">
            <a:solidFill>
              <a:srgbClr val="B84C6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61476" y="542541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162495" y="5492008"/>
            <a:ext cx="202936" cy="202936"/>
          </a:xfrm>
          <a:prstGeom prst="ellipse">
            <a:avLst/>
          </a:prstGeom>
          <a:solidFill>
            <a:srgbClr val="B84C65">
              <a:alpha val="75000"/>
            </a:srgbClr>
          </a:solidFill>
          <a:ln w="15875">
            <a:solidFill>
              <a:srgbClr val="B84C6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62795" y="551118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781509" y="5037297"/>
            <a:ext cx="245690" cy="245690"/>
          </a:xfrm>
          <a:prstGeom prst="ellipse">
            <a:avLst/>
          </a:prstGeom>
          <a:solidFill>
            <a:srgbClr val="B84C65">
              <a:alpha val="75000"/>
            </a:srgbClr>
          </a:solidFill>
          <a:ln w="15875">
            <a:solidFill>
              <a:srgbClr val="B84C6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03186" y="507784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651597" y="4686473"/>
            <a:ext cx="241971" cy="241971"/>
          </a:xfrm>
          <a:prstGeom prst="ellipse">
            <a:avLst/>
          </a:prstGeom>
          <a:solidFill>
            <a:srgbClr val="B84C65">
              <a:alpha val="75000"/>
            </a:srgbClr>
          </a:solidFill>
          <a:ln w="15875">
            <a:solidFill>
              <a:srgbClr val="B84C6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571415" y="4725162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624157" y="4447476"/>
            <a:ext cx="328234" cy="328234"/>
          </a:xfrm>
          <a:prstGeom prst="ellipse">
            <a:avLst/>
          </a:prstGeom>
          <a:solidFill>
            <a:srgbClr val="4A5E6A">
              <a:alpha val="75000"/>
            </a:srgbClr>
          </a:solidFill>
          <a:ln w="15875">
            <a:solidFill>
              <a:srgbClr val="4A5E6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87106" y="4529298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412448" y="4146797"/>
            <a:ext cx="379125" cy="379125"/>
          </a:xfrm>
          <a:prstGeom prst="ellipse">
            <a:avLst/>
          </a:prstGeom>
          <a:solidFill>
            <a:srgbClr val="4A5E6A">
              <a:alpha val="75000"/>
            </a:srgbClr>
          </a:solidFill>
          <a:ln w="15875">
            <a:solidFill>
              <a:srgbClr val="4A5E6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00843" y="4254063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2031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065726" y="3728642"/>
            <a:ext cx="426856" cy="426856"/>
          </a:xfrm>
          <a:prstGeom prst="ellipse">
            <a:avLst/>
          </a:prstGeom>
          <a:solidFill>
            <a:srgbClr val="2D5F7C">
              <a:alpha val="75000"/>
            </a:srgbClr>
          </a:solidFill>
          <a:ln w="15875">
            <a:solidFill>
              <a:srgbClr val="2D5F7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77986" y="385977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491306" y="3259396"/>
            <a:ext cx="447474" cy="447474"/>
          </a:xfrm>
          <a:prstGeom prst="ellipse">
            <a:avLst/>
          </a:prstGeom>
          <a:solidFill>
            <a:srgbClr val="2D5F7C">
              <a:alpha val="75000"/>
            </a:srgbClr>
          </a:solidFill>
          <a:ln w="15875">
            <a:solidFill>
              <a:srgbClr val="2D5F7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13875" y="340083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2033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560052" y="2870960"/>
            <a:ext cx="476731" cy="476731"/>
          </a:xfrm>
          <a:prstGeom prst="ellipse">
            <a:avLst/>
          </a:prstGeom>
          <a:solidFill>
            <a:srgbClr val="2D5F7C">
              <a:alpha val="75000"/>
            </a:srgbClr>
          </a:solidFill>
          <a:ln w="15875">
            <a:solidFill>
              <a:srgbClr val="2D5F7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97250" y="302703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2034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940470" y="2306516"/>
            <a:ext cx="491880" cy="491880"/>
          </a:xfrm>
          <a:prstGeom prst="ellipse">
            <a:avLst/>
          </a:prstGeom>
          <a:solidFill>
            <a:srgbClr val="2D5F7C">
              <a:alpha val="75000"/>
            </a:srgbClr>
          </a:solidFill>
          <a:ln w="15875">
            <a:solidFill>
              <a:srgbClr val="2D5F7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85242" y="2470160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943600" y="1783080"/>
            <a:ext cx="5696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353745"/>
                </a:solidFill>
                <a:highlight>
                  <a:srgbClr val="C1FF72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2 years</a:t>
            </a:r>
            <a:endParaRPr lang="en-US" sz="4400" dirty="0"/>
          </a:p>
        </p:txBody>
      </p:sp>
      <p:sp>
        <p:nvSpPr>
          <p:cNvPr id="68" name="Text 66"/>
          <p:cNvSpPr/>
          <p:nvPr/>
        </p:nvSpPr>
        <p:spPr>
          <a:xfrm>
            <a:off x="5943600" y="2560320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B84C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 </a:t>
            </a:r>
            <a:pPr indent="0" marL="0">
              <a:buNone/>
            </a:pPr>
            <a:r>
              <a:rPr lang="en-US" sz="1500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pPr indent="0" marL="0">
              <a:buNone/>
            </a:pPr>
            <a:r>
              <a:rPr lang="en-US" sz="1500" i="1" dirty="0">
                <a:solidFill>
                  <a:srgbClr val="3537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Premium Scarcity</a:t>
            </a:r>
            <a:endParaRPr lang="en-US" sz="1500" dirty="0"/>
          </a:p>
        </p:txBody>
      </p:sp>
      <p:sp>
        <p:nvSpPr>
          <p:cNvPr id="69" name="Text 67"/>
          <p:cNvSpPr/>
          <p:nvPr/>
        </p:nvSpPr>
        <p:spPr>
          <a:xfrm>
            <a:off x="5943600" y="3017520"/>
            <a:ext cx="5696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years to fall, two to climb back. From 2029 (util 60%, rate $248) to 2031 (util 76%, rate $255).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5943600" y="3977640"/>
            <a:ext cx="5696712" cy="0"/>
          </a:xfrm>
          <a:prstGeom prst="line">
            <a:avLst/>
          </a:prstGeom>
          <a:noFill/>
          <a:ln w="6350">
            <a:solidFill>
              <a:srgbClr val="C9B9A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43600" y="4114800"/>
            <a:ext cx="5696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 WARNING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943600" y="4361688"/>
            <a:ext cx="1424178" cy="0"/>
          </a:xfrm>
          <a:prstGeom prst="line">
            <a:avLst/>
          </a:prstGeom>
          <a:noFill/>
          <a:ln w="19050">
            <a:solidFill>
              <a:srgbClr val="35374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43600" y="4434840"/>
            <a:ext cx="5696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B84C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−9 pts</a:t>
            </a:r>
            <a:endParaRPr lang="en-US" sz="3400" dirty="0"/>
          </a:p>
        </p:txBody>
      </p:sp>
      <p:sp>
        <p:nvSpPr>
          <p:cNvPr id="74" name="Text 72"/>
          <p:cNvSpPr/>
          <p:nvPr/>
        </p:nvSpPr>
        <p:spPr>
          <a:xfrm>
            <a:off x="5943600" y="5166360"/>
            <a:ext cx="5696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8A79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Utilization slipping; rates still climbing. Classic Margin Trap drift.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claude-pptx-plot smoke test — Slide C port</dc:title>
  <dc:subject>PptxGenJS Presentation</dc:subject>
  <dc:creator>Saperia Consulting</dc:creator>
  <cp:lastModifiedBy>Saperia Consulting</cp:lastModifiedBy>
  <cp:revision>1</cp:revision>
  <dcterms:created xsi:type="dcterms:W3CDTF">2026-04-20T21:03:25Z</dcterms:created>
  <dcterms:modified xsi:type="dcterms:W3CDTF">2026-04-20T21:03:25Z</dcterms:modified>
</cp:coreProperties>
</file>