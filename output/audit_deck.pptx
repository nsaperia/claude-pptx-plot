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24.1</c:v>
                </c:pt>
                <c:pt idx="1">
                  <c:v>22.3</c:v>
                </c:pt>
                <c:pt idx="2">
                  <c:v>22.1</c:v>
                </c:pt>
                <c:pt idx="3">
                  <c:v>25.6</c:v>
                </c:pt>
                <c:pt idx="4">
                  <c:v>25.3</c:v>
                </c:pt>
                <c:pt idx="5">
                  <c:v>34.2</c:v>
                </c:pt>
                <c:pt idx="6">
                  <c:v>40.8</c:v>
                </c:pt>
                <c:pt idx="7">
                  <c:v>47.8</c:v>
                </c:pt>
                <c:pt idx="8">
                  <c:v>51.1</c:v>
                </c:pt>
                <c:pt idx="9">
                  <c:v>56</c:v>
                </c:pt>
                <c:pt idx="10">
                  <c:v>58.7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9.17</c:v>
                </c:pt>
                <c:pt idx="1">
                  <c:v>8.97</c:v>
                </c:pt>
                <c:pt idx="2">
                  <c:v>5.95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2035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8A796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8A7968"/>
              </a:solidFill>
              <a:ln w="12700" cap="flat">
                <a:solidFill>
                  <a:srgbClr val="8A796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6.53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Compression</c:v>
                </c:pt>
              </c:strCache>
            </c:strRef>
          </c:tx>
          <c:spPr>
            <a:solidFill>
              <a:srgbClr val="B84C65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B84C65"/>
              </a:solidFill>
              <a:ln w="12700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>4.69</c:v>
                </c:pt>
                <c:pt idx="2">
                  <c:v>4.32</c:v>
                </c:pt>
                <c:pt idx="3">
                  <c:v>6.19</c:v>
                </c:pt>
                <c:pt idx="4">
                  <c:v>3.87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4A5E6A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4A5E6A"/>
              </a:solidFill>
              <a:ln w="12700" cap="flat">
                <a:solidFill>
                  <a:srgbClr val="4A5E6A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11.43</c:v>
                </c:pt>
                <c:pt idx="6">
                  <c:v>12.88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Sheet1!$E$2:$E$12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14.72</c:v>
                </c:pt>
                <c:pt idx="8">
                  <c:v>13.96</c:v>
                </c:pt>
                <c:pt idx="9">
                  <c:v>15.65</c:v>
                </c:pt>
                <c:pt idx="10">
                  <c:v>15.4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20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>
                <a:alpha val="25000"/>
              </a:srgbClr>
            </a:solidFill>
            <a:ln w="190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>
                <a:alpha val="25000"/>
              </a:srgbClr>
            </a:solidFill>
            <a:ln w="190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>
                <a:alpha val="25000"/>
              </a:srgbClr>
            </a:solidFill>
            <a:ln w="190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984325" y="340895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53102" y="497865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73370" y="34928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three different trajectories.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time-points on six axes (every other year, 2025 to 2035). Revenue in $M — one shared scale, no normalization. Native handles multi-series radar when axes share units.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Tightest shape. Shallow dip in 2027, steady climb after. Least cyclical.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Deepest dent in 2029, then the biggest snap-back — ends largest in 2035.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Grew through every year, downturn included. The most counter-cyclical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STRESS-TEST (DUAL-AXIS COMBO)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bars, EBITDA % line, secondary axis.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Multi-type chart: native pptxgenjs pres.ChartType has no 'combo' — you pass an array of typed blocks. Each block has its own options. Tests secondary axis, per-series styling, legend mixing.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charts are where native shines — secondary axis, mixed bar + line, per-series styling all work in one addChart call.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STRESS-TEST (COMPARISON)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mix, ten years apart.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donuts, same color mapping, different years. Tests whether two instances of native addChart can be visually locked together. Center callouts added as overlays — native donuts have no center text option.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$24.1M</a:t>
            </a:r>
            <a:endParaRPr lang="en-US" sz="1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159752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159752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159752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728716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went from 38% of revenue to 31%; Operations grew to the #1 share; Technology more than tripled in dollars.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STRESS-TEST (PHASED MULTI-SERIES)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vs EBITDA $, colored by phase.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series (setup, compression, recovery, scale) sharing one x-axis. Tests pptxgenjs scatter's null-padding pattern for multi-series with non-overlapping x values.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years sit in the bottom-left cluster. Scale years walk up the diagonal. Phase coloring surfaces structure the simple scatter hides.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STRESS-TEST (FILLED OVERLAY)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three practices, filled regions.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radarStyle = 'filled' with transparency so all three practices read as overlapping shapes. Tests multi-series overlay legibility and whether native radar respects alpha.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FILL REVEALS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Filled overlay makes the area under each practice's shape comparable at a glance. Where line-only emphasizes trajectory, filled emphasizes cumulative footprint.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ceiling shows here: three filled regions on six axes fight for legibility. At four-plus series, filled radar stops scaling.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66560" y="5303520"/>
            <a:ext cx="484632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limit: no per-axis scale, no conditional fill.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five-stage pipeline funnel.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 has a native funnel type but pptxgenjs cannot emit it. Built with shape trapezoids via claude-pptx-plot. Stage labels and values embedded; conversion rates on the right.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828800" y="2011680"/>
            <a:ext cx="5486400" cy="749808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249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2842591" y="2807208"/>
            <a:ext cx="3458817" cy="749808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2591" y="3044952"/>
            <a:ext cx="34588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3602935" y="3602736"/>
            <a:ext cx="1938130" cy="749808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2935" y="3840480"/>
            <a:ext cx="1938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3932417" y="4398264"/>
            <a:ext cx="1279166" cy="749808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2417" y="4636008"/>
            <a:ext cx="12791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4160520" y="5193792"/>
            <a:ext cx="822960" cy="749808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54315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CONVERSION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6060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 → Qualified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28072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0" y="32644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→ Scoped / demo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34655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0" y="39227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 → Proposal sent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1239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57%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0" y="4581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 → Closed-won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78231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47%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229600" y="5285232"/>
            <a:ext cx="320040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53766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LEAD-TO-WIN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5605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8.0%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STRESS-TEST (TWO-ERA 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 pipeline vs 2035 pipeline.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funnels, same stages, ten years apart. Shape-based placement lets them share an x-axis logic and per-stage color coding — native would hit a wall here even if it existed.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914400" y="2194560"/>
            <a:ext cx="4114800" cy="676656"/>
          </a:xfrm>
          <a:prstGeom prst="trapezoid">
            <a:avLst/>
          </a:prstGeom>
          <a:solidFill>
            <a:srgbClr val="B84C65">
              <a:alpha val="82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450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926832" y="2916936"/>
            <a:ext cx="2089936" cy="676656"/>
          </a:xfrm>
          <a:prstGeom prst="trapezoid">
            <a:avLst/>
          </a:prstGeom>
          <a:solidFill>
            <a:srgbClr val="B84C65">
              <a:alpha val="74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6832" y="3118104"/>
            <a:ext cx="208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2477067" y="3639312"/>
            <a:ext cx="989466" cy="676656"/>
          </a:xfrm>
          <a:prstGeom prst="trapezoid">
            <a:avLst/>
          </a:prstGeom>
          <a:solidFill>
            <a:srgbClr val="B84C65">
              <a:alpha val="66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77067" y="3840480"/>
            <a:ext cx="9894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2675152" y="4361688"/>
            <a:ext cx="593297" cy="676656"/>
          </a:xfrm>
          <a:prstGeom prst="trapezoid">
            <a:avLst/>
          </a:prstGeom>
          <a:solidFill>
            <a:srgbClr val="B84C65">
              <a:alpha val="58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5152" y="4562856"/>
            <a:ext cx="593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2807208" y="5084064"/>
            <a:ext cx="329184" cy="676656"/>
          </a:xfrm>
          <a:prstGeom prst="trapezoid">
            <a:avLst/>
          </a:prstGeom>
          <a:solidFill>
            <a:srgbClr val="B84C65">
              <a:alpha val="50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0720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4.4% lead-to-win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194560"/>
            <a:ext cx="4114800" cy="676656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650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889443" y="2916936"/>
            <a:ext cx="2600554" cy="676656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9443" y="3118104"/>
            <a:ext cx="2600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8514893" y="3639312"/>
            <a:ext cx="1349654" cy="676656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4893" y="3840480"/>
            <a:ext cx="1349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230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 flipV="1">
            <a:off x="8811158" y="4361688"/>
            <a:ext cx="757123" cy="676656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11158" y="4562856"/>
            <a:ext cx="757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>
            <a:off x="9025128" y="5084064"/>
            <a:ext cx="329184" cy="676656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2512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3232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11.5% lead-to-win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846320" y="4434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2.6× efficiency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revenue by practice.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PPT-native type pptxgenjs cannot emit. Slice-and-dice layout in claude-pptx-plot — rectangles sized by value, colored by practice, labeled in situ.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800394" cy="411480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234086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5797296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95338" y="2011680"/>
            <a:ext cx="3675065" cy="411480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0202" y="206654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50202" y="234086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50202" y="5797296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5266" y="2011680"/>
            <a:ext cx="3387614" cy="411480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30" y="206654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80130" y="234086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80130" y="5797296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three nearly-equal segments, treemap reads like a horizontal composition bar. Its advantage shows at higher cardinality.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STRESS-TEST (18 CELLS)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practice-year as a cell.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 × six years = 18 cells, sized by $M revenue, colored by practice. Slice-and-dice gets noisy at this density — shows where squarified algorithms would pay off.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991121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5705856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58633" y="2011680"/>
            <a:ext cx="958010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3497" y="2066544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2035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13497" y="5705856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44075" y="2011680"/>
            <a:ext cx="87498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8939" y="2066544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8939" y="5705856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$18.3M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46491" y="2011680"/>
            <a:ext cx="867571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355" y="2066544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355" y="5705856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41493" y="2011680"/>
            <a:ext cx="842366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6357" y="2066544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96357" y="5705856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$17.6M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11291" y="2011680"/>
            <a:ext cx="724746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63469" y="2011680"/>
            <a:ext cx="692622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3524" y="2011680"/>
            <a:ext cx="62936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40320" y="2011680"/>
            <a:ext cx="611573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79325" y="2011680"/>
            <a:ext cx="3533555" cy="545967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9325" y="2585079"/>
            <a:ext cx="547758" cy="3449961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4515" y="2585079"/>
            <a:ext cx="2958365" cy="588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54515" y="3201408"/>
            <a:ext cx="601992" cy="283363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83939" y="3201408"/>
            <a:ext cx="2328941" cy="678628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3939" y="3907468"/>
            <a:ext cx="652933" cy="212757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4304" y="3907468"/>
            <a:ext cx="1648576" cy="76498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9168" y="3962332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19168" y="4343264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$6.6M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964304" y="4699880"/>
            <a:ext cx="858659" cy="13351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9168" y="4754744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19168" y="5705856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$6.0M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850395" y="4699880"/>
            <a:ext cx="762485" cy="13351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05259" y="4754744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2029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05259" y="5705856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$5.1M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62179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cells, sliced-and-diced. Each color is a practice; size is $M revenue in that year. Good for scanning dominance; bad for precise comparison.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2026-04-20T22:17:32Z</dcterms:created>
  <dcterms:modified xsi:type="dcterms:W3CDTF">2026-04-20T22:17:32Z</dcterms:modified>
</cp:coreProperties>
</file>