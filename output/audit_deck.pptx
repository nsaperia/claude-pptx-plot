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1.png"/><Relationship Id="rId3" Type="http://schemas.openxmlformats.org/officeDocument/2006/relationships/image" Target="../media/image-20-1.png"/><Relationship Id="rId4" Type="http://schemas.openxmlformats.org/officeDocument/2006/relationships/image" Target="../media/image-20-1.png"/><Relationship Id="rId5" Type="http://schemas.openxmlformats.org/officeDocument/2006/relationships/image" Target="../media/image-20-1.png"/><Relationship Id="rId6" Type="http://schemas.openxmlformats.org/officeDocument/2006/relationships/image" Target="../media/image-2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five-stage pipeline funnel.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 has a native funnel type but pptxgenjs cannot emit it. Built with shape trapezoids via claude-pptx-plot. Stage labels and values embedded; conversion rates on the right.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828800" y="2011680"/>
            <a:ext cx="5486400" cy="749808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249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2842591" y="2807208"/>
            <a:ext cx="3458817" cy="749808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2591" y="3044952"/>
            <a:ext cx="34588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3602935" y="3602736"/>
            <a:ext cx="1938130" cy="749808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935" y="3840480"/>
            <a:ext cx="1938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932417" y="4398264"/>
            <a:ext cx="1279166" cy="749808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2417" y="4636008"/>
            <a:ext cx="12791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4160520" y="5193792"/>
            <a:ext cx="822960" cy="749808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54315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CONVERSION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060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 → Qualified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28072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264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Scoped /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3465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922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 → Proposal sent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1239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0" y="4581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 → Closed-won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7823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229600" y="5285232"/>
            <a:ext cx="320040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376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LEAD-TO-WIN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605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STRESS-TEST (TWO-ERA 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 pipeline vs 2035 pipeline.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funnels, same stages, ten years apart. Shape-based placement lets them share an x-axis logic and per-stage color coding — native would hit a wall here even if it existed.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914400" y="2194560"/>
            <a:ext cx="4114800" cy="676656"/>
          </a:xfrm>
          <a:prstGeom prst="trapezoid">
            <a:avLst/>
          </a:prstGeom>
          <a:solidFill>
            <a:srgbClr val="B84C65">
              <a:alpha val="82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926832" y="2916936"/>
            <a:ext cx="2089936" cy="676656"/>
          </a:xfrm>
          <a:prstGeom prst="trapezoid">
            <a:avLst/>
          </a:prstGeom>
          <a:solidFill>
            <a:srgbClr val="B84C65">
              <a:alpha val="74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6832" y="3118104"/>
            <a:ext cx="208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2477067" y="3639312"/>
            <a:ext cx="989466" cy="676656"/>
          </a:xfrm>
          <a:prstGeom prst="trapezoid">
            <a:avLst/>
          </a:prstGeom>
          <a:solidFill>
            <a:srgbClr val="B84C65">
              <a:alpha val="66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77067" y="3840480"/>
            <a:ext cx="9894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2675152" y="4361688"/>
            <a:ext cx="593297" cy="676656"/>
          </a:xfrm>
          <a:prstGeom prst="trapezoid">
            <a:avLst/>
          </a:prstGeom>
          <a:solidFill>
            <a:srgbClr val="B84C65">
              <a:alpha val="58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5152" y="4562856"/>
            <a:ext cx="593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807208" y="5084064"/>
            <a:ext cx="329184" cy="676656"/>
          </a:xfrm>
          <a:prstGeom prst="trapezoid">
            <a:avLst/>
          </a:prstGeom>
          <a:solidFill>
            <a:srgbClr val="B84C65">
              <a:alpha val="50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0720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4.4% lead-to-win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194560"/>
            <a:ext cx="4114800" cy="676656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889443" y="2916936"/>
            <a:ext cx="2600554" cy="676656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9443" y="3118104"/>
            <a:ext cx="2600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8514893" y="3639312"/>
            <a:ext cx="1349654" cy="676656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4893" y="3840480"/>
            <a:ext cx="1349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V="1">
            <a:off x="8811158" y="4361688"/>
            <a:ext cx="757123" cy="676656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11158" y="4562856"/>
            <a:ext cx="757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9025128" y="5084064"/>
            <a:ext cx="329184" cy="676656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2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11.5% lead-to-win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846320" y="4434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2.6× 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revenue by practice.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PPT-native type pptxgenjs cannot emit. Slice-and-dice layout in claude-pptx-plot — rectangles sized by value, colored by practice, labeled in situ.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800394" cy="411480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234086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5797296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338" y="2011680"/>
            <a:ext cx="3675065" cy="411480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0202" y="206654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50202" y="234086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50202" y="5797296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5266" y="2011680"/>
            <a:ext cx="3387614" cy="411480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30" y="206654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80130" y="234086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0130" y="5797296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three nearly-equal segments, treemap reads like a horizontal composition bar. Its advantage shows at higher cardinality.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STRESS-TEST (18 CELLS)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practice-year as a cell.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× six years = 18 cells, sized by $M revenue, colored by practice. Slice-and-dice gets noisy at this density — shows where squarified algorithms would pay off.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991121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5705856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8633" y="2011680"/>
            <a:ext cx="958010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3497" y="2066544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2035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13497" y="5705856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44075" y="2011680"/>
            <a:ext cx="87498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8939" y="2066544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8939" y="5705856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$18.3M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46491" y="2011680"/>
            <a:ext cx="867571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355" y="2066544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355" y="5705856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41493" y="2011680"/>
            <a:ext cx="842366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6357" y="2066544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96357" y="5705856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$17.6M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11291" y="2011680"/>
            <a:ext cx="724746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63469" y="2011680"/>
            <a:ext cx="692622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3524" y="2011680"/>
            <a:ext cx="62936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40320" y="2011680"/>
            <a:ext cx="611573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325" y="2011680"/>
            <a:ext cx="3533555" cy="545967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9325" y="2585079"/>
            <a:ext cx="547758" cy="3449961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4515" y="2585079"/>
            <a:ext cx="2958365" cy="588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54515" y="3201408"/>
            <a:ext cx="601992" cy="283363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83939" y="3201408"/>
            <a:ext cx="2328941" cy="678628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3939" y="3907468"/>
            <a:ext cx="652933" cy="212757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4304" y="3907468"/>
            <a:ext cx="1648576" cy="76498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9168" y="3962332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19168" y="4343264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$6.6M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4304" y="4699880"/>
            <a:ext cx="858659" cy="13351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9168" y="4754744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19168" y="5705856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$6.0M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850395" y="4699880"/>
            <a:ext cx="762485" cy="13351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05259" y="4754744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2029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05259" y="5705856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$5.1M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2179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cells, sliced-and-diced. Each color is a practice; size is $M revenue in that year. Good for scanning dominance; bad for precise comparison.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× year revenue, intensity-coded.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× 11 grid of cells. Fill color interpolated linearly between light and STEEL based on $M revenue. Values printed in each cell. Native PPT has no heatmap type.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46188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645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4672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46993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47262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4753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7799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4806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4833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48604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2359152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solidFill>
            <a:srgbClr val="B3BDC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solidFill>
            <a:srgbClr val="BAC1C3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solidFill>
            <a:srgbClr val="879EA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solidFill>
            <a:srgbClr val="93A7B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$12.9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solidFill>
            <a:srgbClr val="7793A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solidFill>
            <a:srgbClr val="557B9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solidFill>
            <a:srgbClr val="49738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solidFill>
            <a:srgbClr val="4E768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3432048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solidFill>
            <a:srgbClr val="C7CBC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$9.0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solidFill>
            <a:srgbClr val="DBD9D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solidFill>
            <a:srgbClr val="DEDBD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solidFill>
            <a:srgbClr val="FBEFE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$5.1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solidFill>
            <a:srgbClr val="BDC3C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$9.8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solidFill>
            <a:srgbClr val="8EA3A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solidFill>
            <a:srgbClr val="60829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$16.8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solidFill>
            <a:srgbClr val="4C74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solidFill>
            <a:srgbClr val="4A73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$18.4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$20.6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0080" y="4504944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solidFill>
            <a:srgbClr val="EFE7DE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solidFill>
            <a:srgbClr val="F3E9E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solidFill>
            <a:srgbClr val="E7E1D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$6.6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solidFill>
            <a:srgbClr val="E4DFD9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solidFill>
            <a:srgbClr val="B7C0C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$10.2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solidFill>
            <a:srgbClr val="B2BCB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$10.6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solidFill>
            <a:srgbClr val="7D97A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$14.6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solidFill>
            <a:srgbClr val="6A8A9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solidFill>
            <a:srgbClr val="7591A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$15.2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solidFill>
            <a:srgbClr val="426E87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solidFill>
            <a:srgbClr val="366681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14400" y="5760720"/>
            <a:ext cx="96012" cy="182880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" y="5760720"/>
            <a:ext cx="96012" cy="182880"/>
          </a:xfrm>
          <a:prstGeom prst="rect">
            <a:avLst/>
          </a:prstGeom>
          <a:solidFill>
            <a:srgbClr val="F6EBE1"/>
          </a:solidFill>
          <a:ln/>
        </p:spPr>
      </p:sp>
      <p:sp>
        <p:nvSpPr>
          <p:cNvPr id="87" name="Shape 85"/>
          <p:cNvSpPr/>
          <p:nvPr/>
        </p:nvSpPr>
        <p:spPr>
          <a:xfrm>
            <a:off x="1097280" y="5760720"/>
            <a:ext cx="96012" cy="182880"/>
          </a:xfrm>
          <a:prstGeom prst="rect">
            <a:avLst/>
          </a:prstGeom>
          <a:solidFill>
            <a:srgbClr val="F0E8DF"/>
          </a:solidFill>
          <a:ln/>
        </p:spPr>
      </p:sp>
      <p:sp>
        <p:nvSpPr>
          <p:cNvPr id="88" name="Shape 86"/>
          <p:cNvSpPr/>
          <p:nvPr/>
        </p:nvSpPr>
        <p:spPr>
          <a:xfrm>
            <a:off x="1188720" y="5760720"/>
            <a:ext cx="96012" cy="182880"/>
          </a:xfrm>
          <a:prstGeom prst="rect">
            <a:avLst/>
          </a:prstGeom>
          <a:solidFill>
            <a:srgbClr val="EBE4DC"/>
          </a:solidFill>
          <a:ln/>
        </p:spPr>
      </p:sp>
      <p:sp>
        <p:nvSpPr>
          <p:cNvPr id="89" name="Shape 87"/>
          <p:cNvSpPr/>
          <p:nvPr/>
        </p:nvSpPr>
        <p:spPr>
          <a:xfrm>
            <a:off x="1280160" y="5760720"/>
            <a:ext cx="96012" cy="182880"/>
          </a:xfrm>
          <a:prstGeom prst="rect">
            <a:avLst/>
          </a:prstGeom>
          <a:solidFill>
            <a:srgbClr val="E6E0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371600" y="5760720"/>
            <a:ext cx="96012" cy="182880"/>
          </a:xfrm>
          <a:prstGeom prst="rect">
            <a:avLst/>
          </a:prstGeom>
          <a:solidFill>
            <a:srgbClr val="E1DDD7"/>
          </a:solidFill>
          <a:ln/>
        </p:spPr>
      </p:sp>
      <p:sp>
        <p:nvSpPr>
          <p:cNvPr id="91" name="Shape 89"/>
          <p:cNvSpPr/>
          <p:nvPr/>
        </p:nvSpPr>
        <p:spPr>
          <a:xfrm>
            <a:off x="1463040" y="5760720"/>
            <a:ext cx="96012" cy="182880"/>
          </a:xfrm>
          <a:prstGeom prst="rect">
            <a:avLst/>
          </a:prstGeom>
          <a:solidFill>
            <a:srgbClr val="DBD9D4"/>
          </a:solidFill>
          <a:ln/>
        </p:spPr>
      </p:sp>
      <p:sp>
        <p:nvSpPr>
          <p:cNvPr id="92" name="Shape 90"/>
          <p:cNvSpPr/>
          <p:nvPr/>
        </p:nvSpPr>
        <p:spPr>
          <a:xfrm>
            <a:off x="1554480" y="5760720"/>
            <a:ext cx="96012" cy="182880"/>
          </a:xfrm>
          <a:prstGeom prst="rect">
            <a:avLst/>
          </a:prstGeom>
          <a:solidFill>
            <a:srgbClr val="D6D5D1"/>
          </a:solidFill>
          <a:ln/>
        </p:spPr>
      </p:sp>
      <p:sp>
        <p:nvSpPr>
          <p:cNvPr id="93" name="Shape 91"/>
          <p:cNvSpPr/>
          <p:nvPr/>
        </p:nvSpPr>
        <p:spPr>
          <a:xfrm>
            <a:off x="1645920" y="5760720"/>
            <a:ext cx="96012" cy="182880"/>
          </a:xfrm>
          <a:prstGeom prst="rect">
            <a:avLst/>
          </a:prstGeom>
          <a:solidFill>
            <a:srgbClr val="D1D1CF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5760720"/>
            <a:ext cx="96012" cy="182880"/>
          </a:xfrm>
          <a:prstGeom prst="rect">
            <a:avLst/>
          </a:prstGeom>
          <a:solidFill>
            <a:srgbClr val="CBCECC"/>
          </a:solidFill>
          <a:ln/>
        </p:spPr>
      </p:sp>
      <p:sp>
        <p:nvSpPr>
          <p:cNvPr id="95" name="Shape 93"/>
          <p:cNvSpPr/>
          <p:nvPr/>
        </p:nvSpPr>
        <p:spPr>
          <a:xfrm>
            <a:off x="1828800" y="5760720"/>
            <a:ext cx="96012" cy="182880"/>
          </a:xfrm>
          <a:prstGeom prst="rect">
            <a:avLst/>
          </a:prstGeom>
          <a:solidFill>
            <a:srgbClr val="C6CAC9"/>
          </a:solidFill>
          <a:ln/>
        </p:spPr>
      </p:sp>
      <p:sp>
        <p:nvSpPr>
          <p:cNvPr id="96" name="Shape 94"/>
          <p:cNvSpPr/>
          <p:nvPr/>
        </p:nvSpPr>
        <p:spPr>
          <a:xfrm>
            <a:off x="1920240" y="5760720"/>
            <a:ext cx="96012" cy="182880"/>
          </a:xfrm>
          <a:prstGeom prst="rect">
            <a:avLst/>
          </a:prstGeom>
          <a:solidFill>
            <a:srgbClr val="C1C6C7"/>
          </a:solidFill>
          <a:ln/>
        </p:spPr>
      </p:sp>
      <p:sp>
        <p:nvSpPr>
          <p:cNvPr id="97" name="Shape 95"/>
          <p:cNvSpPr/>
          <p:nvPr/>
        </p:nvSpPr>
        <p:spPr>
          <a:xfrm>
            <a:off x="2011680" y="5760720"/>
            <a:ext cx="96012" cy="182880"/>
          </a:xfrm>
          <a:prstGeom prst="rect">
            <a:avLst/>
          </a:prstGeom>
          <a:solidFill>
            <a:srgbClr val="BCC3C4"/>
          </a:solidFill>
          <a:ln/>
        </p:spPr>
      </p:sp>
      <p:sp>
        <p:nvSpPr>
          <p:cNvPr id="98" name="Shape 96"/>
          <p:cNvSpPr/>
          <p:nvPr/>
        </p:nvSpPr>
        <p:spPr>
          <a:xfrm>
            <a:off x="2103120" y="5760720"/>
            <a:ext cx="96012" cy="182880"/>
          </a:xfrm>
          <a:prstGeom prst="rect">
            <a:avLst/>
          </a:prstGeom>
          <a:solidFill>
            <a:srgbClr val="B6BFC1"/>
          </a:solidFill>
          <a:ln/>
        </p:spPr>
      </p:sp>
      <p:sp>
        <p:nvSpPr>
          <p:cNvPr id="99" name="Shape 97"/>
          <p:cNvSpPr/>
          <p:nvPr/>
        </p:nvSpPr>
        <p:spPr>
          <a:xfrm>
            <a:off x="2194560" y="5760720"/>
            <a:ext cx="96012" cy="182880"/>
          </a:xfrm>
          <a:prstGeom prst="rect">
            <a:avLst/>
          </a:prstGeom>
          <a:solidFill>
            <a:srgbClr val="B1BBBF"/>
          </a:solidFill>
          <a:ln/>
        </p:spPr>
      </p:sp>
      <p:sp>
        <p:nvSpPr>
          <p:cNvPr id="100" name="Shape 98"/>
          <p:cNvSpPr/>
          <p:nvPr/>
        </p:nvSpPr>
        <p:spPr>
          <a:xfrm>
            <a:off x="2286000" y="5760720"/>
            <a:ext cx="96012" cy="182880"/>
          </a:xfrm>
          <a:prstGeom prst="rect">
            <a:avLst/>
          </a:prstGeom>
          <a:solidFill>
            <a:srgbClr val="ACB8BC"/>
          </a:solidFill>
          <a:ln/>
        </p:spPr>
      </p:sp>
      <p:sp>
        <p:nvSpPr>
          <p:cNvPr id="101" name="Shape 99"/>
          <p:cNvSpPr/>
          <p:nvPr/>
        </p:nvSpPr>
        <p:spPr>
          <a:xfrm>
            <a:off x="2377440" y="5760720"/>
            <a:ext cx="96012" cy="182880"/>
          </a:xfrm>
          <a:prstGeom prst="rect">
            <a:avLst/>
          </a:prstGeom>
          <a:solidFill>
            <a:srgbClr val="A6B4B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68880" y="5760720"/>
            <a:ext cx="96012" cy="182880"/>
          </a:xfrm>
          <a:prstGeom prst="rect">
            <a:avLst/>
          </a:prstGeom>
          <a:solidFill>
            <a:srgbClr val="A1B0B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60320" y="5760720"/>
            <a:ext cx="96012" cy="182880"/>
          </a:xfrm>
          <a:prstGeom prst="rect">
            <a:avLst/>
          </a:prstGeom>
          <a:solidFill>
            <a:srgbClr val="9CADB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51760" y="5760720"/>
            <a:ext cx="96012" cy="182880"/>
          </a:xfrm>
          <a:prstGeom prst="rect">
            <a:avLst/>
          </a:prstGeom>
          <a:solidFill>
            <a:srgbClr val="97A9B1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743200" y="5760720"/>
            <a:ext cx="96012" cy="182880"/>
          </a:xfrm>
          <a:prstGeom prst="rect">
            <a:avLst/>
          </a:prstGeom>
          <a:solidFill>
            <a:srgbClr val="91A5A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834640" y="5760720"/>
            <a:ext cx="96012" cy="182880"/>
          </a:xfrm>
          <a:prstGeom prst="rect">
            <a:avLst/>
          </a:prstGeom>
          <a:solidFill>
            <a:srgbClr val="8CA1A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6080" y="5760720"/>
            <a:ext cx="96012" cy="182880"/>
          </a:xfrm>
          <a:prstGeom prst="rect">
            <a:avLst/>
          </a:prstGeom>
          <a:solidFill>
            <a:srgbClr val="879EA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017520" y="5760720"/>
            <a:ext cx="96012" cy="182880"/>
          </a:xfrm>
          <a:prstGeom prst="rect">
            <a:avLst/>
          </a:prstGeom>
          <a:solidFill>
            <a:srgbClr val="829AA7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108960" y="5760720"/>
            <a:ext cx="96012" cy="182880"/>
          </a:xfrm>
          <a:prstGeom prst="rect">
            <a:avLst/>
          </a:prstGeom>
          <a:solidFill>
            <a:srgbClr val="7C96A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200400" y="5760720"/>
            <a:ext cx="96012" cy="182880"/>
          </a:xfrm>
          <a:prstGeom prst="rect">
            <a:avLst/>
          </a:prstGeom>
          <a:solidFill>
            <a:srgbClr val="7793A1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291840" y="5760720"/>
            <a:ext cx="96012" cy="182880"/>
          </a:xfrm>
          <a:prstGeom prst="rect">
            <a:avLst/>
          </a:prstGeom>
          <a:solidFill>
            <a:srgbClr val="728F9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383280" y="5760720"/>
            <a:ext cx="96012" cy="182880"/>
          </a:xfrm>
          <a:prstGeom prst="rect">
            <a:avLst/>
          </a:prstGeom>
          <a:solidFill>
            <a:srgbClr val="6C8B9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74720" y="5760720"/>
            <a:ext cx="96012" cy="182880"/>
          </a:xfrm>
          <a:prstGeom prst="rect">
            <a:avLst/>
          </a:prstGeom>
          <a:solidFill>
            <a:srgbClr val="678899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66160" y="5760720"/>
            <a:ext cx="96012" cy="182880"/>
          </a:xfrm>
          <a:prstGeom prst="rect">
            <a:avLst/>
          </a:prstGeom>
          <a:solidFill>
            <a:srgbClr val="628497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5760720"/>
            <a:ext cx="96012" cy="182880"/>
          </a:xfrm>
          <a:prstGeom prst="rect">
            <a:avLst/>
          </a:prstGeom>
          <a:solidFill>
            <a:srgbClr val="5D809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49040" y="5760720"/>
            <a:ext cx="96012" cy="182880"/>
          </a:xfrm>
          <a:prstGeom prst="rect">
            <a:avLst/>
          </a:prstGeom>
          <a:solidFill>
            <a:srgbClr val="577D9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40480" y="5760720"/>
            <a:ext cx="96012" cy="182880"/>
          </a:xfrm>
          <a:prstGeom prst="rect">
            <a:avLst/>
          </a:prstGeom>
          <a:solidFill>
            <a:srgbClr val="52798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931920" y="5760720"/>
            <a:ext cx="96012" cy="182880"/>
          </a:xfrm>
          <a:prstGeom prst="rect">
            <a:avLst/>
          </a:prstGeom>
          <a:solidFill>
            <a:srgbClr val="4D758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023360" y="5760720"/>
            <a:ext cx="96012" cy="182880"/>
          </a:xfrm>
          <a:prstGeom prst="rect">
            <a:avLst/>
          </a:prstGeom>
          <a:solidFill>
            <a:srgbClr val="477189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14800" y="5760720"/>
            <a:ext cx="96012" cy="182880"/>
          </a:xfrm>
          <a:prstGeom prst="rect">
            <a:avLst/>
          </a:prstGeom>
          <a:solidFill>
            <a:srgbClr val="426E8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206240" y="5760720"/>
            <a:ext cx="96012" cy="182880"/>
          </a:xfrm>
          <a:prstGeom prst="rect">
            <a:avLst/>
          </a:prstGeom>
          <a:solidFill>
            <a:srgbClr val="3D6A8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297680" y="5760720"/>
            <a:ext cx="96012" cy="182880"/>
          </a:xfrm>
          <a:prstGeom prst="rect">
            <a:avLst/>
          </a:prstGeom>
          <a:solidFill>
            <a:srgbClr val="38668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389120" y="5760720"/>
            <a:ext cx="96012" cy="182880"/>
          </a:xfrm>
          <a:prstGeom prst="rect">
            <a:avLst/>
          </a:prstGeom>
          <a:solidFill>
            <a:srgbClr val="32637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480560" y="5760720"/>
            <a:ext cx="96012" cy="18288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25" name="Text 123"/>
          <p:cNvSpPr/>
          <p:nvPr/>
        </p:nvSpPr>
        <p:spPr>
          <a:xfrm>
            <a:off x="914400" y="59801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$M revenue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3108960" y="5980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across a row to see practice trajectory; scan down a column to see firm mix that year. The 2029 dent sits in the middle.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/ TACHOMETER  ·  HYBRID (ARC PNG + NATIVE OVERLAYS)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KPIs, two categories, one panel.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Matplotlib supplies the arc zones only; every other element stays native so each gauge is independently editable. Pattern: minimize outsourcing to the absolute minimum required to get the job done.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WORKS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1091672" cy="256032"/>
          </a:xfrm>
          <a:prstGeom prst="rect">
            <a:avLst/>
          </a:prstGeom>
          <a:solidFill>
            <a:srgbClr val="FFF5E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920240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343400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PROBLEM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1672" cy="256032"/>
          </a:xfrm>
          <a:prstGeom prst="rect">
            <a:avLst/>
          </a:prstGeom>
          <a:solidFill>
            <a:srgbClr val="FFF5E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343400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PROBLEM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599432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40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Rate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4963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Billed vs. worked value</a:t>
            </a:r>
            <a:endParaRPr lang="en-US" sz="1000" dirty="0"/>
          </a:p>
        </p:txBody>
      </p:sp>
      <p:pic>
        <p:nvPicPr>
          <p:cNvPr id="15" name="Image 0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2743200"/>
            <a:ext cx="1828800" cy="9144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 flipH="1" flipV="1">
            <a:off x="1509914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90383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 flipH="1" flipV="1">
            <a:off x="2003690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57311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 flipV="1">
            <a:off x="2591425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58073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 flipV="1">
            <a:off x="3048625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025001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56716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232404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 rot="14040000">
            <a:off x="3324909" y="2808885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27" name="Shape 24"/>
          <p:cNvSpPr/>
          <p:nvPr/>
        </p:nvSpPr>
        <p:spPr>
          <a:xfrm flipV="1">
            <a:off x="2308860" y="3295521"/>
            <a:ext cx="769458" cy="362079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208276" y="355701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29" name="Text 26"/>
          <p:cNvSpPr/>
          <p:nvPr/>
        </p:nvSpPr>
        <p:spPr>
          <a:xfrm>
            <a:off x="548640" y="378561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48640" y="42245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90%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48640" y="44714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above target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334256" y="2240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Rate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334256" y="24963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Collected vs. billed</a:t>
            </a:r>
            <a:endParaRPr lang="en-US" sz="1000" dirty="0"/>
          </a:p>
        </p:txBody>
      </p:sp>
      <p:pic>
        <p:nvPicPr>
          <p:cNvPr id="34" name="Image 1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6" y="2743200"/>
            <a:ext cx="1828800" cy="91440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 flipH="1" flipV="1">
            <a:off x="5295530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975999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 flipH="1" flipV="1">
            <a:off x="5789306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542927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 flipV="1">
            <a:off x="6377041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243689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 flipV="1">
            <a:off x="6834241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810617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4942332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7018020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 rot="14040000">
            <a:off x="7110525" y="2808885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46" name="Shape 42"/>
          <p:cNvSpPr/>
          <p:nvPr/>
        </p:nvSpPr>
        <p:spPr>
          <a:xfrm flipV="1">
            <a:off x="6094476" y="3295521"/>
            <a:ext cx="769458" cy="362079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993892" y="355701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48" name="Text 44"/>
          <p:cNvSpPr/>
          <p:nvPr/>
        </p:nvSpPr>
        <p:spPr>
          <a:xfrm>
            <a:off x="4334256" y="378561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2200" dirty="0"/>
          </a:p>
        </p:txBody>
      </p:sp>
      <p:sp>
        <p:nvSpPr>
          <p:cNvPr id="49" name="Text 45"/>
          <p:cNvSpPr/>
          <p:nvPr/>
        </p:nvSpPr>
        <p:spPr>
          <a:xfrm>
            <a:off x="4334256" y="42245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90%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4334256" y="44714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above target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8119872" y="2240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119872" y="24963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Profitability after expenses</a:t>
            </a:r>
            <a:endParaRPr lang="en-US" sz="1000" dirty="0"/>
          </a:p>
        </p:txBody>
      </p:sp>
      <p:pic>
        <p:nvPicPr>
          <p:cNvPr id="53" name="Image 2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2" y="2743200"/>
            <a:ext cx="1828800" cy="914400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 flipH="1" flipV="1">
            <a:off x="9081146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761615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 flipH="1" flipV="1">
            <a:off x="9574922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9328543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58" name="Shape 53"/>
          <p:cNvSpPr/>
          <p:nvPr/>
        </p:nvSpPr>
        <p:spPr>
          <a:xfrm flipV="1">
            <a:off x="10162657" y="271838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10029305" y="247865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00" dirty="0"/>
          </a:p>
        </p:txBody>
      </p:sp>
      <p:sp>
        <p:nvSpPr>
          <p:cNvPr id="60" name="Shape 55"/>
          <p:cNvSpPr/>
          <p:nvPr/>
        </p:nvSpPr>
        <p:spPr>
          <a:xfrm flipV="1">
            <a:off x="10619857" y="307713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10596233" y="2890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00" dirty="0"/>
          </a:p>
        </p:txBody>
      </p:sp>
      <p:sp>
        <p:nvSpPr>
          <p:cNvPr id="62" name="Text 57"/>
          <p:cNvSpPr/>
          <p:nvPr/>
        </p:nvSpPr>
        <p:spPr>
          <a:xfrm>
            <a:off x="8727948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63" name="Text 58"/>
          <p:cNvSpPr/>
          <p:nvPr/>
        </p:nvSpPr>
        <p:spPr>
          <a:xfrm>
            <a:off x="10803636" y="358444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 rot="9900000">
            <a:off x="9470554" y="2304058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65" name="Shape 60"/>
          <p:cNvSpPr/>
          <p:nvPr/>
        </p:nvSpPr>
        <p:spPr>
          <a:xfrm flipH="1" flipV="1">
            <a:off x="9716373" y="2823117"/>
            <a:ext cx="163719" cy="834483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9779508" y="355701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67" name="Text 62"/>
          <p:cNvSpPr/>
          <p:nvPr/>
        </p:nvSpPr>
        <p:spPr>
          <a:xfrm>
            <a:off x="8119872" y="378561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26.3%</a:t>
            </a:r>
            <a:endParaRPr lang="en-US" sz="2200" dirty="0"/>
          </a:p>
        </p:txBody>
      </p:sp>
      <p:sp>
        <p:nvSpPr>
          <p:cNvPr id="68" name="Text 63"/>
          <p:cNvSpPr/>
          <p:nvPr/>
        </p:nvSpPr>
        <p:spPr>
          <a:xfrm>
            <a:off x="8119872" y="42245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25%</a:t>
            </a:r>
            <a:endParaRPr lang="en-US" sz="900" dirty="0"/>
          </a:p>
        </p:txBody>
      </p:sp>
      <p:sp>
        <p:nvSpPr>
          <p:cNvPr id="69" name="Text 64"/>
          <p:cNvSpPr/>
          <p:nvPr/>
        </p:nvSpPr>
        <p:spPr>
          <a:xfrm>
            <a:off x="8119872" y="44714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 above target</a:t>
            </a:r>
            <a:endParaRPr lang="en-US" sz="900" dirty="0"/>
          </a:p>
        </p:txBody>
      </p:sp>
      <p:sp>
        <p:nvSpPr>
          <p:cNvPr id="70" name="Text 65"/>
          <p:cNvSpPr/>
          <p:nvPr/>
        </p:nvSpPr>
        <p:spPr>
          <a:xfrm>
            <a:off x="548640" y="4663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Rate</a:t>
            </a:r>
            <a:endParaRPr lang="en-US" sz="1200" dirty="0"/>
          </a:p>
        </p:txBody>
      </p:sp>
      <p:sp>
        <p:nvSpPr>
          <p:cNvPr id="71" name="Text 66"/>
          <p:cNvSpPr/>
          <p:nvPr/>
        </p:nvSpPr>
        <p:spPr>
          <a:xfrm>
            <a:off x="548640" y="491947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Billable vs. total hours</a:t>
            </a:r>
            <a:endParaRPr lang="en-US" sz="1000" dirty="0"/>
          </a:p>
        </p:txBody>
      </p:sp>
      <p:pic>
        <p:nvPicPr>
          <p:cNvPr id="72" name="Image 3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460" y="5166360"/>
            <a:ext cx="1828800" cy="914400"/>
          </a:xfrm>
          <a:prstGeom prst="rect">
            <a:avLst/>
          </a:prstGeom>
        </p:spPr>
      </p:pic>
      <p:sp>
        <p:nvSpPr>
          <p:cNvPr id="73" name="Shape 67"/>
          <p:cNvSpPr/>
          <p:nvPr/>
        </p:nvSpPr>
        <p:spPr>
          <a:xfrm flipH="1" flipV="1">
            <a:off x="1509914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74" name="Text 68"/>
          <p:cNvSpPr/>
          <p:nvPr/>
        </p:nvSpPr>
        <p:spPr>
          <a:xfrm>
            <a:off x="1190383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00" dirty="0"/>
          </a:p>
        </p:txBody>
      </p:sp>
      <p:sp>
        <p:nvSpPr>
          <p:cNvPr id="75" name="Shape 69"/>
          <p:cNvSpPr/>
          <p:nvPr/>
        </p:nvSpPr>
        <p:spPr>
          <a:xfrm flipH="1" flipV="1">
            <a:off x="2003690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757311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00" dirty="0"/>
          </a:p>
        </p:txBody>
      </p:sp>
      <p:sp>
        <p:nvSpPr>
          <p:cNvPr id="77" name="Shape 71"/>
          <p:cNvSpPr/>
          <p:nvPr/>
        </p:nvSpPr>
        <p:spPr>
          <a:xfrm flipV="1">
            <a:off x="2591425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78" name="Text 72"/>
          <p:cNvSpPr/>
          <p:nvPr/>
        </p:nvSpPr>
        <p:spPr>
          <a:xfrm>
            <a:off x="2458073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800" dirty="0"/>
          </a:p>
        </p:txBody>
      </p:sp>
      <p:sp>
        <p:nvSpPr>
          <p:cNvPr id="79" name="Shape 73"/>
          <p:cNvSpPr/>
          <p:nvPr/>
        </p:nvSpPr>
        <p:spPr>
          <a:xfrm flipV="1">
            <a:off x="3048625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80" name="Text 74"/>
          <p:cNvSpPr/>
          <p:nvPr/>
        </p:nvSpPr>
        <p:spPr>
          <a:xfrm>
            <a:off x="3025001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800" dirty="0"/>
          </a:p>
        </p:txBody>
      </p:sp>
      <p:sp>
        <p:nvSpPr>
          <p:cNvPr id="81" name="Text 75"/>
          <p:cNvSpPr/>
          <p:nvPr/>
        </p:nvSpPr>
        <p:spPr>
          <a:xfrm>
            <a:off x="1156716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82" name="Text 76"/>
          <p:cNvSpPr/>
          <p:nvPr/>
        </p:nvSpPr>
        <p:spPr>
          <a:xfrm>
            <a:off x="3232404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00" dirty="0"/>
          </a:p>
        </p:txBody>
      </p:sp>
      <p:sp>
        <p:nvSpPr>
          <p:cNvPr id="83" name="Shape 77"/>
          <p:cNvSpPr/>
          <p:nvPr/>
        </p:nvSpPr>
        <p:spPr>
          <a:xfrm rot="12960000">
            <a:off x="3029559" y="4936695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84" name="Shape 78"/>
          <p:cNvSpPr/>
          <p:nvPr/>
        </p:nvSpPr>
        <p:spPr>
          <a:xfrm flipV="1">
            <a:off x="2308860" y="5296815"/>
            <a:ext cx="329540" cy="783945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2208276" y="598017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86" name="Text 80"/>
          <p:cNvSpPr/>
          <p:nvPr/>
        </p:nvSpPr>
        <p:spPr>
          <a:xfrm>
            <a:off x="548640" y="62087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68%</a:t>
            </a:r>
            <a:endParaRPr lang="en-US" sz="2200" dirty="0"/>
          </a:p>
        </p:txBody>
      </p:sp>
      <p:sp>
        <p:nvSpPr>
          <p:cNvPr id="87" name="Text 81"/>
          <p:cNvSpPr/>
          <p:nvPr/>
        </p:nvSpPr>
        <p:spPr>
          <a:xfrm>
            <a:off x="548640" y="66476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72%</a:t>
            </a:r>
            <a:endParaRPr lang="en-US" sz="900" dirty="0"/>
          </a:p>
        </p:txBody>
      </p:sp>
      <p:sp>
        <p:nvSpPr>
          <p:cNvPr id="88" name="Text 82"/>
          <p:cNvSpPr/>
          <p:nvPr/>
        </p:nvSpPr>
        <p:spPr>
          <a:xfrm>
            <a:off x="548640" y="68945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 below target</a:t>
            </a:r>
            <a:endParaRPr lang="en-US" sz="900" dirty="0"/>
          </a:p>
        </p:txBody>
      </p:sp>
      <p:sp>
        <p:nvSpPr>
          <p:cNvPr id="89" name="Text 83"/>
          <p:cNvSpPr/>
          <p:nvPr/>
        </p:nvSpPr>
        <p:spPr>
          <a:xfrm>
            <a:off x="4334256" y="4663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Turnover</a:t>
            </a:r>
            <a:endParaRPr lang="en-US" sz="1200" dirty="0"/>
          </a:p>
        </p:txBody>
      </p:sp>
      <p:sp>
        <p:nvSpPr>
          <p:cNvPr id="90" name="Text 84"/>
          <p:cNvSpPr/>
          <p:nvPr/>
        </p:nvSpPr>
        <p:spPr>
          <a:xfrm>
            <a:off x="4334256" y="491947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Departures / headcount</a:t>
            </a:r>
            <a:endParaRPr lang="en-US" sz="1000" dirty="0"/>
          </a:p>
        </p:txBody>
      </p:sp>
      <p:pic>
        <p:nvPicPr>
          <p:cNvPr id="91" name="Image 4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180076" y="5166360"/>
            <a:ext cx="1828800" cy="914400"/>
          </a:xfrm>
          <a:prstGeom prst="rect">
            <a:avLst/>
          </a:prstGeom>
        </p:spPr>
      </p:pic>
      <p:sp>
        <p:nvSpPr>
          <p:cNvPr id="92" name="Shape 85"/>
          <p:cNvSpPr/>
          <p:nvPr/>
        </p:nvSpPr>
        <p:spPr>
          <a:xfrm flipH="1" flipV="1">
            <a:off x="5295530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93" name="Text 86"/>
          <p:cNvSpPr/>
          <p:nvPr/>
        </p:nvSpPr>
        <p:spPr>
          <a:xfrm>
            <a:off x="4975999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94" name="Shape 87"/>
          <p:cNvSpPr/>
          <p:nvPr/>
        </p:nvSpPr>
        <p:spPr>
          <a:xfrm flipH="1" flipV="1">
            <a:off x="5789306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95" name="Text 88"/>
          <p:cNvSpPr/>
          <p:nvPr/>
        </p:nvSpPr>
        <p:spPr>
          <a:xfrm>
            <a:off x="5542927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96" name="Shape 89"/>
          <p:cNvSpPr/>
          <p:nvPr/>
        </p:nvSpPr>
        <p:spPr>
          <a:xfrm flipV="1">
            <a:off x="6377041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97" name="Text 90"/>
          <p:cNvSpPr/>
          <p:nvPr/>
        </p:nvSpPr>
        <p:spPr>
          <a:xfrm>
            <a:off x="6243689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98" name="Shape 91"/>
          <p:cNvSpPr/>
          <p:nvPr/>
        </p:nvSpPr>
        <p:spPr>
          <a:xfrm flipV="1">
            <a:off x="6834241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99" name="Text 92"/>
          <p:cNvSpPr/>
          <p:nvPr/>
        </p:nvSpPr>
        <p:spPr>
          <a:xfrm>
            <a:off x="6810617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00" dirty="0"/>
          </a:p>
        </p:txBody>
      </p:sp>
      <p:sp>
        <p:nvSpPr>
          <p:cNvPr id="100" name="Text 93"/>
          <p:cNvSpPr/>
          <p:nvPr/>
        </p:nvSpPr>
        <p:spPr>
          <a:xfrm>
            <a:off x="4942332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101" name="Text 94"/>
          <p:cNvSpPr/>
          <p:nvPr/>
        </p:nvSpPr>
        <p:spPr>
          <a:xfrm>
            <a:off x="7018020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00" dirty="0"/>
          </a:p>
        </p:txBody>
      </p:sp>
      <p:sp>
        <p:nvSpPr>
          <p:cNvPr id="102" name="Shape 95"/>
          <p:cNvSpPr/>
          <p:nvPr/>
        </p:nvSpPr>
        <p:spPr>
          <a:xfrm rot="9450000">
            <a:off x="5519576" y="4783351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103" name="Shape 96"/>
          <p:cNvSpPr/>
          <p:nvPr/>
        </p:nvSpPr>
        <p:spPr>
          <a:xfrm flipH="1" flipV="1">
            <a:off x="5369398" y="5636431"/>
            <a:ext cx="725078" cy="444329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5993892" y="598017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105" name="Text 98"/>
          <p:cNvSpPr/>
          <p:nvPr/>
        </p:nvSpPr>
        <p:spPr>
          <a:xfrm>
            <a:off x="4334256" y="62087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7%</a:t>
            </a:r>
            <a:endParaRPr lang="en-US" sz="2200" dirty="0"/>
          </a:p>
        </p:txBody>
      </p:sp>
      <p:sp>
        <p:nvSpPr>
          <p:cNvPr id="106" name="Text 99"/>
          <p:cNvSpPr/>
          <p:nvPr/>
        </p:nvSpPr>
        <p:spPr>
          <a:xfrm>
            <a:off x="4334256" y="66476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&lt;15%</a:t>
            </a:r>
            <a:endParaRPr lang="en-US" sz="900" dirty="0"/>
          </a:p>
        </p:txBody>
      </p:sp>
      <p:sp>
        <p:nvSpPr>
          <p:cNvPr id="107" name="Text 100"/>
          <p:cNvSpPr/>
          <p:nvPr/>
        </p:nvSpPr>
        <p:spPr>
          <a:xfrm>
            <a:off x="4334256" y="68945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 below target</a:t>
            </a:r>
            <a:endParaRPr lang="en-US" sz="900" dirty="0"/>
          </a:p>
        </p:txBody>
      </p:sp>
      <p:sp>
        <p:nvSpPr>
          <p:cNvPr id="108" name="Text 101"/>
          <p:cNvSpPr/>
          <p:nvPr/>
        </p:nvSpPr>
        <p:spPr>
          <a:xfrm>
            <a:off x="8119872" y="4663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Ratio</a:t>
            </a:r>
            <a:endParaRPr lang="en-US" sz="1200" dirty="0"/>
          </a:p>
        </p:txBody>
      </p:sp>
      <p:sp>
        <p:nvSpPr>
          <p:cNvPr id="109" name="Text 102"/>
          <p:cNvSpPr/>
          <p:nvPr/>
        </p:nvSpPr>
        <p:spPr>
          <a:xfrm>
            <a:off x="8119872" y="491947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per equity partner</a:t>
            </a:r>
            <a:endParaRPr lang="en-US" sz="1000" dirty="0"/>
          </a:p>
        </p:txBody>
      </p:sp>
      <p:pic>
        <p:nvPicPr>
          <p:cNvPr id="110" name="Image 5" descr="/Users/nathansaperia/Downloads/PPTX Chart Builder/claude-pptx-plot/assets/gauge_ar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2" y="5166360"/>
            <a:ext cx="1828800" cy="914400"/>
          </a:xfrm>
          <a:prstGeom prst="rect">
            <a:avLst/>
          </a:prstGeom>
        </p:spPr>
      </p:pic>
      <p:sp>
        <p:nvSpPr>
          <p:cNvPr id="111" name="Shape 103"/>
          <p:cNvSpPr/>
          <p:nvPr/>
        </p:nvSpPr>
        <p:spPr>
          <a:xfrm flipH="1" flipV="1">
            <a:off x="9081146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12" name="Text 104"/>
          <p:cNvSpPr/>
          <p:nvPr/>
        </p:nvSpPr>
        <p:spPr>
          <a:xfrm>
            <a:off x="8761615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13" name="Shape 105"/>
          <p:cNvSpPr/>
          <p:nvPr/>
        </p:nvSpPr>
        <p:spPr>
          <a:xfrm flipH="1" flipV="1">
            <a:off x="9574922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14" name="Text 106"/>
          <p:cNvSpPr/>
          <p:nvPr/>
        </p:nvSpPr>
        <p:spPr>
          <a:xfrm>
            <a:off x="9328543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15" name="Shape 107"/>
          <p:cNvSpPr/>
          <p:nvPr/>
        </p:nvSpPr>
        <p:spPr>
          <a:xfrm flipV="1">
            <a:off x="10162657" y="5141542"/>
            <a:ext cx="22605" cy="69572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16" name="Text 108"/>
          <p:cNvSpPr/>
          <p:nvPr/>
        </p:nvSpPr>
        <p:spPr>
          <a:xfrm>
            <a:off x="10029305" y="4901815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17" name="Shape 109"/>
          <p:cNvSpPr/>
          <p:nvPr/>
        </p:nvSpPr>
        <p:spPr>
          <a:xfrm flipV="1">
            <a:off x="10619857" y="5500291"/>
            <a:ext cx="59181" cy="42998"/>
          </a:xfrm>
          <a:prstGeom prst="line">
            <a:avLst/>
          </a:prstGeom>
          <a:noFill/>
          <a:ln w="6350">
            <a:solidFill>
              <a:srgbClr val="8A7968"/>
            </a:solidFill>
            <a:prstDash val="solid"/>
          </a:ln>
        </p:spPr>
      </p:sp>
      <p:sp>
        <p:nvSpPr>
          <p:cNvPr id="118" name="Text 110"/>
          <p:cNvSpPr/>
          <p:nvPr/>
        </p:nvSpPr>
        <p:spPr>
          <a:xfrm>
            <a:off x="10596233" y="531371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9" name="Text 111"/>
          <p:cNvSpPr/>
          <p:nvPr/>
        </p:nvSpPr>
        <p:spPr>
          <a:xfrm>
            <a:off x="8727948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120" name="Text 112"/>
          <p:cNvSpPr/>
          <p:nvPr/>
        </p:nvSpPr>
        <p:spPr>
          <a:xfrm>
            <a:off x="10803636" y="600760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121" name="Shape 113"/>
          <p:cNvSpPr/>
          <p:nvPr/>
        </p:nvSpPr>
        <p:spPr>
          <a:xfrm rot="9720000">
            <a:off x="9403539" y="4747069"/>
            <a:ext cx="128016" cy="128016"/>
          </a:xfrm>
          <a:prstGeom prst="triangle">
            <a:avLst/>
          </a:prstGeom>
          <a:solidFill>
            <a:srgbClr val="2D5F7C"/>
          </a:solidFill>
          <a:ln/>
        </p:spPr>
      </p:sp>
      <p:sp>
        <p:nvSpPr>
          <p:cNvPr id="122" name="Shape 114"/>
          <p:cNvSpPr/>
          <p:nvPr/>
        </p:nvSpPr>
        <p:spPr>
          <a:xfrm flipV="1">
            <a:off x="9880092" y="5344299"/>
            <a:ext cx="425196" cy="736461"/>
          </a:xfrm>
          <a:prstGeom prst="line">
            <a:avLst/>
          </a:prstGeom>
          <a:noFill/>
          <a:ln w="27940">
            <a:solidFill>
              <a:srgbClr val="B84C65"/>
            </a:solidFill>
            <a:prstDash val="solid"/>
          </a:ln>
        </p:spPr>
      </p:sp>
      <p:sp>
        <p:nvSpPr>
          <p:cNvPr id="123" name="Shape 115"/>
          <p:cNvSpPr/>
          <p:nvPr/>
        </p:nvSpPr>
        <p:spPr>
          <a:xfrm>
            <a:off x="9779508" y="5980176"/>
            <a:ext cx="201168" cy="201168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124" name="Text 116"/>
          <p:cNvSpPr/>
          <p:nvPr/>
        </p:nvSpPr>
        <p:spPr>
          <a:xfrm>
            <a:off x="8119872" y="62087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10.0×</a:t>
            </a:r>
            <a:endParaRPr lang="en-US" sz="2200" dirty="0"/>
          </a:p>
        </p:txBody>
      </p:sp>
      <p:sp>
        <p:nvSpPr>
          <p:cNvPr id="125" name="Text 117"/>
          <p:cNvSpPr/>
          <p:nvPr/>
        </p:nvSpPr>
        <p:spPr>
          <a:xfrm>
            <a:off x="8119872" y="66476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Target: 6×</a:t>
            </a:r>
            <a:endParaRPr lang="en-US" sz="900" dirty="0"/>
          </a:p>
        </p:txBody>
      </p:sp>
      <p:sp>
        <p:nvSpPr>
          <p:cNvPr id="126" name="Text 118"/>
          <p:cNvSpPr/>
          <p:nvPr/>
        </p:nvSpPr>
        <p:spPr>
          <a:xfrm>
            <a:off x="8119872" y="68945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 above target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2026-04-21T00:37:06Z</dcterms:created>
  <dcterms:modified xsi:type="dcterms:W3CDTF">2026-04-21T00:37:06Z</dcterms:modified>
</cp:coreProperties>
</file>