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5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6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8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9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($M)</c:v>
                </c:pt>
              </c:strCache>
            </c:strRef>
          </c:tx>
          <c:spPr>
            <a:solidFill>
              <a:srgbClr val="2D5F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  <c:pt idx="8">
                    <c:v>2033</c:v>
                  </c:pt>
                  <c:pt idx="9">
                    <c:v>2034</c:v>
                  </c:pt>
                  <c:pt idx="10">
                    <c:v>2035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24.09</c:v>
                </c:pt>
                <c:pt idx="1">
                  <c:v>22.34</c:v>
                </c:pt>
                <c:pt idx="2">
                  <c:v>22.13</c:v>
                </c:pt>
                <c:pt idx="3">
                  <c:v>25.62</c:v>
                </c:pt>
                <c:pt idx="4">
                  <c:v>25.29</c:v>
                </c:pt>
                <c:pt idx="5">
                  <c:v>34.24</c:v>
                </c:pt>
                <c:pt idx="6">
                  <c:v>40.79</c:v>
                </c:pt>
                <c:pt idx="7">
                  <c:v>47.79</c:v>
                </c:pt>
                <c:pt idx="8">
                  <c:v>51.07</c:v>
                </c:pt>
                <c:pt idx="9">
                  <c:v>55.99</c:v>
                </c:pt>
                <c:pt idx="10">
                  <c:v>58.66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Revenue ($M)</a:t>
                </a:r>
              </a:p>
            </c:rich>
          </c:tx>
          <c:layout/>
          <c:overlay val="0"/>
        </c:title>
        <c:numFmt formatCode="$0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($M)</c:v>
                </c:pt>
              </c:strCache>
            </c:strRef>
          </c:tx>
          <c:spPr>
            <a:solidFill>
              <a:srgbClr val="2D5F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  <c:pt idx="8">
                    <c:v>2033</c:v>
                  </c:pt>
                  <c:pt idx="9">
                    <c:v>2034</c:v>
                  </c:pt>
                  <c:pt idx="10">
                    <c:v>2035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24.09</c:v>
                </c:pt>
                <c:pt idx="1">
                  <c:v>22.34</c:v>
                </c:pt>
                <c:pt idx="2">
                  <c:v>22.13</c:v>
                </c:pt>
                <c:pt idx="3">
                  <c:v>25.62</c:v>
                </c:pt>
                <c:pt idx="4">
                  <c:v>25.29</c:v>
                </c:pt>
                <c:pt idx="5">
                  <c:v>34.24</c:v>
                </c:pt>
                <c:pt idx="6">
                  <c:v>40.79</c:v>
                </c:pt>
                <c:pt idx="7">
                  <c:v>47.79</c:v>
                </c:pt>
                <c:pt idx="8">
                  <c:v>51.07</c:v>
                </c:pt>
                <c:pt idx="9">
                  <c:v>55.99</c:v>
                </c:pt>
                <c:pt idx="10">
                  <c:v>58.66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5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2030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4.69</c:v>
                </c:pt>
                <c:pt idx="2">
                  <c:v>4.32</c:v>
                </c:pt>
                <c:pt idx="3">
                  <c:v>4.32</c:v>
                </c:pt>
                <c:pt idx="4">
                  <c:v>3.87</c:v>
                </c:pt>
                <c:pt idx="5">
                  <c:v>3.87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Delta</c:v>
                </c:pt>
              </c:strCache>
            </c:strRef>
          </c:tx>
          <c:spPr>
            <a:solidFill>
              <a:srgbClr val="2D5F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2030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6.53</c:v>
                </c:pt>
                <c:pt idx="1">
                  <c:v>1.8399999999999999</c:v>
                </c:pt>
                <c:pt idx="2">
                  <c:v>0.3700000000000001</c:v>
                </c:pt>
                <c:pt idx="3">
                  <c:v>1.87</c:v>
                </c:pt>
                <c:pt idx="4">
                  <c:v>2.3200000000000003</c:v>
                </c:pt>
                <c:pt idx="5">
                  <c:v>7.56</c:v>
                </c:pt>
                <c:pt idx="6">
                  <c:v>11.43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"/>
          <c:min val="0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EBITDA ($M)</a:t>
                </a:r>
              </a:p>
            </c:rich>
          </c:tx>
          <c:layout/>
          <c:overlay val="0"/>
        </c:title>
        <c:numFmt formatCode="$0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5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2030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4.69</c:v>
                </c:pt>
                <c:pt idx="2">
                  <c:v>4.32</c:v>
                </c:pt>
                <c:pt idx="3">
                  <c:v>4.32</c:v>
                </c:pt>
                <c:pt idx="4">
                  <c:v>3.87</c:v>
                </c:pt>
                <c:pt idx="5">
                  <c:v>3.87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Delta</c:v>
                </c:pt>
              </c:strCache>
            </c:strRef>
          </c:tx>
          <c:spPr>
            <a:solidFill>
              <a:srgbClr val="2D5F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2030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6.53</c:v>
                </c:pt>
                <c:pt idx="1">
                  <c:v>1.8399999999999999</c:v>
                </c:pt>
                <c:pt idx="2">
                  <c:v>0.3700000000000001</c:v>
                </c:pt>
                <c:pt idx="3">
                  <c:v>1.87</c:v>
                </c:pt>
                <c:pt idx="4">
                  <c:v>2.3200000000000003</c:v>
                </c:pt>
                <c:pt idx="5">
                  <c:v>7.56</c:v>
                </c:pt>
                <c:pt idx="6">
                  <c:v>11.43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"/>
          <c:min val="0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EBITDA ($M)</a:t>
                </a:r>
              </a:p>
            </c:rich>
          </c:tx>
          <c:layout/>
          <c:overlay val="0"/>
        </c:title>
        <c:numFmt formatCode="$0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EBITDA %</c:v>
                </c:pt>
              </c:strCache>
            </c:strRef>
          </c:tx>
          <c:spPr>
            <a:solidFill>
              <a:srgbClr val="2D5F7C"/>
            </a:solidFill>
            <a:ln w="31750" cap="flat">
              <a:solidFill>
                <a:srgbClr val="2D5F7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D5F7C"/>
              </a:solidFill>
              <a:ln w="9525" cap="flat">
                <a:solidFill>
                  <a:srgbClr val="2D5F7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  <c:pt idx="8">
                    <c:v>2033</c:v>
                  </c:pt>
                  <c:pt idx="9">
                    <c:v>2034</c:v>
                  </c:pt>
                  <c:pt idx="10">
                    <c:v>2035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27.1</c:v>
                </c:pt>
                <c:pt idx="1">
                  <c:v>21</c:v>
                </c:pt>
                <c:pt idx="2">
                  <c:v>19.5</c:v>
                </c:pt>
                <c:pt idx="3">
                  <c:v>24.2</c:v>
                </c:pt>
                <c:pt idx="4">
                  <c:v>15.3</c:v>
                </c:pt>
                <c:pt idx="5">
                  <c:v>33.4</c:v>
                </c:pt>
                <c:pt idx="6">
                  <c:v>31.6</c:v>
                </c:pt>
                <c:pt idx="7">
                  <c:v>30.8</c:v>
                </c:pt>
                <c:pt idx="8">
                  <c:v>27.3</c:v>
                </c:pt>
                <c:pt idx="9">
                  <c:v>28</c:v>
                </c:pt>
                <c:pt idx="10">
                  <c:v>26.3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  <c:min val="10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EBITDA %</a:t>
                </a:r>
              </a:p>
            </c:rich>
          </c:tx>
          <c:layout/>
          <c:overlay val="0"/>
        </c:title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 mix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D5F7C"/>
              </a:solidFill>
              <a:effectLst/>
            </c:spPr>
          </c:dPt>
          <c:dPt>
            <c:idx val="1"/>
            <c:bubble3D val="0"/>
            <c:spPr>
              <a:solidFill>
                <a:srgbClr val="BFE5EF"/>
              </a:solidFill>
              <a:effectLst/>
            </c:spPr>
          </c:dPt>
          <c:dPt>
            <c:idx val="2"/>
            <c:bubble3D val="0"/>
            <c:spPr>
              <a:solidFill>
                <a:srgbClr val="B84C65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Strategy</c:v>
                </c:pt>
                <c:pt idx="1">
                  <c:v>Operations</c:v>
                </c:pt>
                <c:pt idx="2">
                  <c:v>Technology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18.11</c:v>
                </c:pt>
                <c:pt idx="1">
                  <c:v>20.61</c:v>
                </c:pt>
                <c:pt idx="2">
                  <c:v>19.94</c:v>
                </c:pt>
              </c:numCache>
            </c:numRef>
          </c:val>
        </c:ser>
        <c:firstSliceAng val="0"/>
        <c:holeSize val="65"/>
      </c:doughnutChart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EBITDA %</c:v>
                </c:pt>
              </c:strCache>
            </c:strRef>
          </c:tx>
          <c:spPr>
            <a:solidFill>
              <a:srgbClr val="2D5F7C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2D5F7C"/>
              </a:solidFill>
              <a:ln w="12700" cap="flat">
                <a:solidFill>
                  <a:srgbClr val="2D5F7C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71.3</c:v>
                </c:pt>
                <c:pt idx="1">
                  <c:v>63.5</c:v>
                </c:pt>
                <c:pt idx="2">
                  <c:v>62.4</c:v>
                </c:pt>
                <c:pt idx="3">
                  <c:v>66</c:v>
                </c:pt>
                <c:pt idx="4">
                  <c:v>59.6</c:v>
                </c:pt>
                <c:pt idx="5">
                  <c:v>76.6</c:v>
                </c:pt>
                <c:pt idx="6">
                  <c:v>75.5</c:v>
                </c:pt>
                <c:pt idx="7">
                  <c:v>73.7</c:v>
                </c:pt>
                <c:pt idx="8">
                  <c:v>70.5</c:v>
                </c:pt>
                <c:pt idx="9">
                  <c:v>71</c:v>
                </c:pt>
                <c:pt idx="10">
                  <c:v>67.5</c:v>
                </c:pt>
              </c:numCache>
            </c:numRef>
          </c:xVal>
          <c:yVal>
            <c:numRef>
              <c:f>Sheet1!$B$2:$B$12</c:f>
              <c:numCache>
                <c:formatCode>General</c:formatCode>
                <c:ptCount val="11"/>
                <c:pt idx="0">
                  <c:v>27.1</c:v>
                </c:pt>
                <c:pt idx="1">
                  <c:v>21</c:v>
                </c:pt>
                <c:pt idx="2">
                  <c:v>19.5</c:v>
                </c:pt>
                <c:pt idx="3">
                  <c:v>24.2</c:v>
                </c:pt>
                <c:pt idx="4">
                  <c:v>15.3</c:v>
                </c:pt>
                <c:pt idx="5">
                  <c:v>33.4</c:v>
                </c:pt>
                <c:pt idx="6">
                  <c:v>31.6</c:v>
                </c:pt>
                <c:pt idx="7">
                  <c:v>30.8</c:v>
                </c:pt>
                <c:pt idx="8">
                  <c:v>27.3</c:v>
                </c:pt>
                <c:pt idx="9">
                  <c:v>28</c:v>
                </c:pt>
                <c:pt idx="10">
                  <c:v>26.3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80"/>
          <c:min val="55"/>
        </c:scaling>
        <c:delete val="0"/>
        <c:axPos val="b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Utilization %</a:t>
                </a:r>
              </a:p>
            </c:rich>
          </c:tx>
          <c:layout/>
          <c:overlay val="0"/>
        </c:title>
        <c:numFmt formatCode="0&quot;%&quot;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35"/>
          <c:min val="10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EBITDA %</a:t>
                </a:r>
              </a:p>
            </c:rich>
          </c:tx>
          <c:layout/>
          <c:overlay val="0"/>
        </c:title>
        <c:numFmt formatCode="0&quot;%&quot;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solidFill>
          <a:srgbClr val="FFF5ED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radarChart>
        <c:radarStyle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</c:v>
                </c:pt>
              </c:strCache>
            </c:strRef>
          </c:tx>
          <c:spPr>
            <a:solidFill>
              <a:srgbClr val="2D5F7C"/>
            </a:solidFill>
            <a:ln w="31750" cap="flat">
              <a:solidFill>
                <a:srgbClr val="2D5F7C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2D5F7C"/>
              </a:solidFill>
              <a:ln w="9525" cap="flat">
                <a:solidFill>
                  <a:srgbClr val="2D5F7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2027</c:v>
                  </c:pt>
                  <c:pt idx="2">
                    <c:v>2029</c:v>
                  </c:pt>
                  <c:pt idx="3">
                    <c:v>2031</c:v>
                  </c:pt>
                  <c:pt idx="4">
                    <c:v>2033</c:v>
                  </c:pt>
                  <c:pt idx="5">
                    <c:v>2035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9.17</c:v>
                </c:pt>
                <c:pt idx="1">
                  <c:v>8.27</c:v>
                </c:pt>
                <c:pt idx="2">
                  <c:v>9.98</c:v>
                </c:pt>
                <c:pt idx="3">
                  <c:v>12.93</c:v>
                </c:pt>
                <c:pt idx="4">
                  <c:v>17.6</c:v>
                </c:pt>
                <c:pt idx="5">
                  <c:v>18.11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Operations</c:v>
                </c:pt>
              </c:strCache>
            </c:strRef>
          </c:tx>
          <c:spPr>
            <a:solidFill>
              <a:srgbClr val="BFE5EF"/>
            </a:solidFill>
            <a:ln w="31750" cap="flat">
              <a:solidFill>
                <a:srgbClr val="BFE5EF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BFE5EF"/>
              </a:solidFill>
              <a:ln w="9525" cap="flat">
                <a:solidFill>
                  <a:srgbClr val="BFE5E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2027</c:v>
                  </c:pt>
                  <c:pt idx="2">
                    <c:v>2029</c:v>
                  </c:pt>
                  <c:pt idx="3">
                    <c:v>2031</c:v>
                  </c:pt>
                  <c:pt idx="4">
                    <c:v>2033</c:v>
                  </c:pt>
                  <c:pt idx="5">
                    <c:v>2035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8.97</c:v>
                </c:pt>
                <c:pt idx="1">
                  <c:v>7.28</c:v>
                </c:pt>
                <c:pt idx="2">
                  <c:v>5.12</c:v>
                </c:pt>
                <c:pt idx="3">
                  <c:v>13.29</c:v>
                </c:pt>
                <c:pt idx="4">
                  <c:v>18.26</c:v>
                </c:pt>
                <c:pt idx="5">
                  <c:v>20.61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Technology</c:v>
                </c:pt>
              </c:strCache>
            </c:strRef>
          </c:tx>
          <c:spPr>
            <a:solidFill>
              <a:srgbClr val="B84C65"/>
            </a:solidFill>
            <a:ln w="31750" cap="flat">
              <a:solidFill>
                <a:srgbClr val="B84C65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B84C65"/>
              </a:solidFill>
              <a:ln w="9525" cap="flat">
                <a:solidFill>
                  <a:srgbClr val="B84C6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2027</c:v>
                  </c:pt>
                  <c:pt idx="2">
                    <c:v>2029</c:v>
                  </c:pt>
                  <c:pt idx="3">
                    <c:v>2031</c:v>
                  </c:pt>
                  <c:pt idx="4">
                    <c:v>2033</c:v>
                  </c:pt>
                  <c:pt idx="5">
                    <c:v>2035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5.95</c:v>
                </c:pt>
                <c:pt idx="1">
                  <c:v>6.57</c:v>
                </c:pt>
                <c:pt idx="2">
                  <c:v>10.19</c:v>
                </c:pt>
                <c:pt idx="3">
                  <c:v>14.57</c:v>
                </c:pt>
                <c:pt idx="4">
                  <c:v>15.22</c:v>
                </c:pt>
                <c:pt idx="5">
                  <c:v>19.94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rad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"/>
          <c:min val="0"/>
        </c:scaling>
        <c:delete val="0"/>
        <c:axPos val="l"/>
        <c:majorGridlines>
          <c:spPr>
            <a:ln w="5080" cap="flat">
              <a:solidFill>
                <a:srgbClr val="C9B9A8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5ED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8A7968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($M)</c:v>
                </c:pt>
              </c:strCache>
            </c:strRef>
          </c:tx>
          <c:spPr>
            <a:solidFill>
              <a:srgbClr val="2D5F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  <c:pt idx="8">
                    <c:v>2033</c:v>
                  </c:pt>
                  <c:pt idx="9">
                    <c:v>2034</c:v>
                  </c:pt>
                  <c:pt idx="10">
                    <c:v>2035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24.1</c:v>
                </c:pt>
                <c:pt idx="1">
                  <c:v>22.3</c:v>
                </c:pt>
                <c:pt idx="2">
                  <c:v>22.1</c:v>
                </c:pt>
                <c:pt idx="3">
                  <c:v>25.6</c:v>
                </c:pt>
                <c:pt idx="4">
                  <c:v>25.3</c:v>
                </c:pt>
                <c:pt idx="5">
                  <c:v>34.2</c:v>
                </c:pt>
                <c:pt idx="6">
                  <c:v>40.8</c:v>
                </c:pt>
                <c:pt idx="7">
                  <c:v>47.8</c:v>
                </c:pt>
                <c:pt idx="8">
                  <c:v>51.1</c:v>
                </c:pt>
                <c:pt idx="9">
                  <c:v>56</c:v>
                </c:pt>
                <c:pt idx="10">
                  <c:v>58.7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EBITDA %</c:v>
                </c:pt>
              </c:strCache>
            </c:strRef>
          </c:tx>
          <c:spPr>
            <a:solidFill>
              <a:srgbClr val="B84C65"/>
            </a:solidFill>
            <a:ln w="31750" cap="flat">
              <a:solidFill>
                <a:srgbClr val="B84C6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B84C65"/>
              </a:solidFill>
              <a:ln w="9525" cap="flat">
                <a:solidFill>
                  <a:srgbClr val="B84C6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  <c:pt idx="8">
                    <c:v>2033</c:v>
                  </c:pt>
                  <c:pt idx="9">
                    <c:v>2034</c:v>
                  </c:pt>
                  <c:pt idx="10">
                    <c:v>2035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27.1</c:v>
                </c:pt>
                <c:pt idx="1">
                  <c:v>21</c:v>
                </c:pt>
                <c:pt idx="2">
                  <c:v>19.5</c:v>
                </c:pt>
                <c:pt idx="3">
                  <c:v>24.2</c:v>
                </c:pt>
                <c:pt idx="4">
                  <c:v>15.3</c:v>
                </c:pt>
                <c:pt idx="5">
                  <c:v>33.4</c:v>
                </c:pt>
                <c:pt idx="6">
                  <c:v>31.6</c:v>
                </c:pt>
                <c:pt idx="7">
                  <c:v>30.8</c:v>
                </c:pt>
                <c:pt idx="8">
                  <c:v>27.3</c:v>
                </c:pt>
                <c:pt idx="9">
                  <c:v>28</c:v>
                </c:pt>
                <c:pt idx="10">
                  <c:v>26.3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Revenue ($M)</a:t>
                </a:r>
              </a:p>
            </c:rich>
          </c:tx>
          <c:layout/>
          <c:overlay val="0"/>
        </c:title>
        <c:numFmt formatCode="$0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  <c:max val="40"/>
          <c:min val="0"/>
        </c:scaling>
        <c:delete val="0"/>
        <c:axPos val="r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EBITDA %</a:t>
                </a:r>
              </a:p>
            </c:rich>
          </c:tx>
          <c:layout/>
          <c:overlay val="0"/>
        </c:title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solidFill>
          <a:srgbClr val="FFF5ED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8A7968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 mix 2025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D5F7C"/>
              </a:solidFill>
              <a:effectLst/>
            </c:spPr>
          </c:dPt>
          <c:dPt>
            <c:idx val="1"/>
            <c:bubble3D val="0"/>
            <c:spPr>
              <a:solidFill>
                <a:srgbClr val="BFE5EF"/>
              </a:solidFill>
              <a:effectLst/>
            </c:spPr>
          </c:dPt>
          <c:dPt>
            <c:idx val="2"/>
            <c:bubble3D val="0"/>
            <c:spPr>
              <a:solidFill>
                <a:srgbClr val="B84C65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Strategy</c:v>
                </c:pt>
                <c:pt idx="1">
                  <c:v>Operations</c:v>
                </c:pt>
                <c:pt idx="2">
                  <c:v>Technology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9.17</c:v>
                </c:pt>
                <c:pt idx="1">
                  <c:v>8.97</c:v>
                </c:pt>
                <c:pt idx="2">
                  <c:v>5.95</c:v>
                </c:pt>
              </c:numCache>
            </c:numRef>
          </c:val>
        </c:ser>
        <c:firstSliceAng val="0"/>
        <c:holeSize val="65"/>
      </c:doughnutChart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 mix 2035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D5F7C"/>
              </a:solidFill>
              <a:effectLst/>
            </c:spPr>
          </c:dPt>
          <c:dPt>
            <c:idx val="1"/>
            <c:bubble3D val="0"/>
            <c:spPr>
              <a:solidFill>
                <a:srgbClr val="BFE5EF"/>
              </a:solidFill>
              <a:effectLst/>
            </c:spPr>
          </c:dPt>
          <c:dPt>
            <c:idx val="2"/>
            <c:bubble3D val="0"/>
            <c:spPr>
              <a:solidFill>
                <a:srgbClr val="B84C65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Strategy</c:v>
                </c:pt>
                <c:pt idx="1">
                  <c:v>Operations</c:v>
                </c:pt>
                <c:pt idx="2">
                  <c:v>Technology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18.11</c:v>
                </c:pt>
                <c:pt idx="1">
                  <c:v>20.61</c:v>
                </c:pt>
                <c:pt idx="2">
                  <c:v>19.94</c:v>
                </c:pt>
              </c:numCache>
            </c:numRef>
          </c:val>
        </c:ser>
        <c:firstSliceAng val="0"/>
        <c:holeSize val="65"/>
      </c:doughnutChart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Setup</c:v>
                </c:pt>
              </c:strCache>
            </c:strRef>
          </c:tx>
          <c:spPr>
            <a:solidFill>
              <a:srgbClr val="8A7968"/>
            </a:solidFill>
            <a:ln>
              <a:noFill/>
            </a:ln>
            <a:effectLst/>
          </c:spPr>
          <c:marker>
            <c:symbol val="circle"/>
            <c:size val="11"/>
            <c:spPr>
              <a:solidFill>
                <a:srgbClr val="8A7968"/>
              </a:solidFill>
              <a:ln w="12700" cap="flat">
                <a:solidFill>
                  <a:srgbClr val="8A7968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24.09</c:v>
                </c:pt>
                <c:pt idx="1">
                  <c:v>22.34</c:v>
                </c:pt>
                <c:pt idx="2">
                  <c:v>22.13</c:v>
                </c:pt>
                <c:pt idx="3">
                  <c:v>25.62</c:v>
                </c:pt>
                <c:pt idx="4">
                  <c:v>25.29</c:v>
                </c:pt>
                <c:pt idx="5">
                  <c:v>34.24</c:v>
                </c:pt>
                <c:pt idx="6">
                  <c:v>40.79</c:v>
                </c:pt>
                <c:pt idx="7">
                  <c:v>47.79</c:v>
                </c:pt>
                <c:pt idx="8">
                  <c:v>51.07</c:v>
                </c:pt>
                <c:pt idx="9">
                  <c:v>55.99</c:v>
                </c:pt>
                <c:pt idx="10">
                  <c:v>58.66</c:v>
                </c:pt>
              </c:numCache>
            </c:numRef>
          </c:xVal>
          <c:yVal>
            <c:numRef>
              <c:f>Sheet1!$B$2:$B$12</c:f>
              <c:numCache>
                <c:formatCode>General</c:formatCode>
                <c:ptCount val="11"/>
                <c:pt idx="0">
                  <c:v>6.53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Compression</c:v>
                </c:pt>
              </c:strCache>
            </c:strRef>
          </c:tx>
          <c:spPr>
            <a:solidFill>
              <a:srgbClr val="B84C65"/>
            </a:solidFill>
            <a:ln>
              <a:noFill/>
            </a:ln>
            <a:effectLst/>
          </c:spPr>
          <c:marker>
            <c:symbol val="circle"/>
            <c:size val="11"/>
            <c:spPr>
              <a:solidFill>
                <a:srgbClr val="B84C65"/>
              </a:solidFill>
              <a:ln w="12700" cap="flat">
                <a:solidFill>
                  <a:srgbClr val="B84C65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24.09</c:v>
                </c:pt>
                <c:pt idx="1">
                  <c:v>22.34</c:v>
                </c:pt>
                <c:pt idx="2">
                  <c:v>22.13</c:v>
                </c:pt>
                <c:pt idx="3">
                  <c:v>25.62</c:v>
                </c:pt>
                <c:pt idx="4">
                  <c:v>25.29</c:v>
                </c:pt>
                <c:pt idx="5">
                  <c:v>34.24</c:v>
                </c:pt>
                <c:pt idx="6">
                  <c:v>40.79</c:v>
                </c:pt>
                <c:pt idx="7">
                  <c:v>47.79</c:v>
                </c:pt>
                <c:pt idx="8">
                  <c:v>51.07</c:v>
                </c:pt>
                <c:pt idx="9">
                  <c:v>55.99</c:v>
                </c:pt>
                <c:pt idx="10">
                  <c:v>58.66</c:v>
                </c:pt>
              </c:numCache>
            </c:numRef>
          </c:xVal>
          <c:yVal>
            <c:numRef>
              <c:f>Sheet1!$C$2:$C$12</c:f>
              <c:numCache>
                <c:formatCode>General</c:formatCode>
                <c:ptCount val="11"/>
                <c:pt idx="0">
                  <c:v/>
                </c:pt>
                <c:pt idx="1">
                  <c:v>4.69</c:v>
                </c:pt>
                <c:pt idx="2">
                  <c:v>4.32</c:v>
                </c:pt>
                <c:pt idx="3">
                  <c:v>6.19</c:v>
                </c:pt>
                <c:pt idx="4">
                  <c:v>3.87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Recovery</c:v>
                </c:pt>
              </c:strCache>
            </c:strRef>
          </c:tx>
          <c:spPr>
            <a:solidFill>
              <a:srgbClr val="4A5E6A"/>
            </a:solidFill>
            <a:ln>
              <a:noFill/>
            </a:ln>
            <a:effectLst/>
          </c:spPr>
          <c:marker>
            <c:symbol val="circle"/>
            <c:size val="11"/>
            <c:spPr>
              <a:solidFill>
                <a:srgbClr val="4A5E6A"/>
              </a:solidFill>
              <a:ln w="12700" cap="flat">
                <a:solidFill>
                  <a:srgbClr val="4A5E6A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24.09</c:v>
                </c:pt>
                <c:pt idx="1">
                  <c:v>22.34</c:v>
                </c:pt>
                <c:pt idx="2">
                  <c:v>22.13</c:v>
                </c:pt>
                <c:pt idx="3">
                  <c:v>25.62</c:v>
                </c:pt>
                <c:pt idx="4">
                  <c:v>25.29</c:v>
                </c:pt>
                <c:pt idx="5">
                  <c:v>34.24</c:v>
                </c:pt>
                <c:pt idx="6">
                  <c:v>40.79</c:v>
                </c:pt>
                <c:pt idx="7">
                  <c:v>47.79</c:v>
                </c:pt>
                <c:pt idx="8">
                  <c:v>51.07</c:v>
                </c:pt>
                <c:pt idx="9">
                  <c:v>55.99</c:v>
                </c:pt>
                <c:pt idx="10">
                  <c:v>58.66</c:v>
                </c:pt>
              </c:numCache>
            </c:numRef>
          </c:xVal>
          <c:yVal>
            <c:numRef>
              <c:f>Sheet1!$D$2:$D$12</c:f>
              <c:numCache>
                <c:formatCode>General</c:formatCode>
                <c:ptCount val="11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11.43</c:v>
                </c:pt>
                <c:pt idx="6">
                  <c:v>12.88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Scale</c:v>
                </c:pt>
              </c:strCache>
            </c:strRef>
          </c:tx>
          <c:spPr>
            <a:solidFill>
              <a:srgbClr val="2D5F7C"/>
            </a:solidFill>
            <a:ln>
              <a:noFill/>
            </a:ln>
            <a:effectLst/>
          </c:spPr>
          <c:marker>
            <c:symbol val="circle"/>
            <c:size val="11"/>
            <c:spPr>
              <a:solidFill>
                <a:srgbClr val="2D5F7C"/>
              </a:solidFill>
              <a:ln w="12700" cap="flat">
                <a:solidFill>
                  <a:srgbClr val="2D5F7C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24.09</c:v>
                </c:pt>
                <c:pt idx="1">
                  <c:v>22.34</c:v>
                </c:pt>
                <c:pt idx="2">
                  <c:v>22.13</c:v>
                </c:pt>
                <c:pt idx="3">
                  <c:v>25.62</c:v>
                </c:pt>
                <c:pt idx="4">
                  <c:v>25.29</c:v>
                </c:pt>
                <c:pt idx="5">
                  <c:v>34.24</c:v>
                </c:pt>
                <c:pt idx="6">
                  <c:v>40.79</c:v>
                </c:pt>
                <c:pt idx="7">
                  <c:v>47.79</c:v>
                </c:pt>
                <c:pt idx="8">
                  <c:v>51.07</c:v>
                </c:pt>
                <c:pt idx="9">
                  <c:v>55.99</c:v>
                </c:pt>
                <c:pt idx="10">
                  <c:v>58.66</c:v>
                </c:pt>
              </c:numCache>
            </c:numRef>
          </c:xVal>
          <c:yVal>
            <c:numRef>
              <c:f>Sheet1!$E$2:$E$12</c:f>
              <c:numCache>
                <c:formatCode>General</c:formatCode>
                <c:ptCount val="11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14.72</c:v>
                </c:pt>
                <c:pt idx="8">
                  <c:v>13.96</c:v>
                </c:pt>
                <c:pt idx="9">
                  <c:v>15.65</c:v>
                </c:pt>
                <c:pt idx="10">
                  <c:v>15.4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60"/>
          <c:min val="20"/>
        </c:scaling>
        <c:delete val="0"/>
        <c:axPos val="b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Revenue ($M)</a:t>
                </a:r>
              </a:p>
            </c:rich>
          </c:tx>
          <c:layout/>
          <c:overlay val="0"/>
        </c:title>
        <c:numFmt formatCode="$0&quot;M&quot;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18"/>
          <c:min val="0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EBITDA ($M)</a:t>
                </a:r>
              </a:p>
            </c:rich>
          </c:tx>
          <c:layout/>
          <c:overlay val="0"/>
        </c:title>
        <c:numFmt formatCode="$0&quot;M&quot;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solidFill>
          <a:srgbClr val="FFF5ED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8A7968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radarChart>
        <c:radarStyle val="fill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</c:v>
                </c:pt>
              </c:strCache>
            </c:strRef>
          </c:tx>
          <c:spPr>
            <a:solidFill>
              <a:srgbClr val="2D5F7C">
                <a:alpha val="25000"/>
              </a:srgbClr>
            </a:solidFill>
            <a:ln w="19050" cap="flat">
              <a:solidFill>
                <a:srgbClr val="2D5F7C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2D5F7C"/>
              </a:solidFill>
              <a:ln w="9525" cap="flat">
                <a:solidFill>
                  <a:srgbClr val="2D5F7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2027</c:v>
                  </c:pt>
                  <c:pt idx="2">
                    <c:v>2029</c:v>
                  </c:pt>
                  <c:pt idx="3">
                    <c:v>2031</c:v>
                  </c:pt>
                  <c:pt idx="4">
                    <c:v>2033</c:v>
                  </c:pt>
                  <c:pt idx="5">
                    <c:v>2035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9.17</c:v>
                </c:pt>
                <c:pt idx="1">
                  <c:v>8.27</c:v>
                </c:pt>
                <c:pt idx="2">
                  <c:v>9.98</c:v>
                </c:pt>
                <c:pt idx="3">
                  <c:v>12.93</c:v>
                </c:pt>
                <c:pt idx="4">
                  <c:v>17.6</c:v>
                </c:pt>
                <c:pt idx="5">
                  <c:v>18.11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Operations</c:v>
                </c:pt>
              </c:strCache>
            </c:strRef>
          </c:tx>
          <c:spPr>
            <a:solidFill>
              <a:srgbClr val="BFE5EF">
                <a:alpha val="25000"/>
              </a:srgbClr>
            </a:solidFill>
            <a:ln w="19050" cap="flat">
              <a:solidFill>
                <a:srgbClr val="BFE5EF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BFE5EF"/>
              </a:solidFill>
              <a:ln w="9525" cap="flat">
                <a:solidFill>
                  <a:srgbClr val="BFE5E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2027</c:v>
                  </c:pt>
                  <c:pt idx="2">
                    <c:v>2029</c:v>
                  </c:pt>
                  <c:pt idx="3">
                    <c:v>2031</c:v>
                  </c:pt>
                  <c:pt idx="4">
                    <c:v>2033</c:v>
                  </c:pt>
                  <c:pt idx="5">
                    <c:v>2035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8.97</c:v>
                </c:pt>
                <c:pt idx="1">
                  <c:v>7.28</c:v>
                </c:pt>
                <c:pt idx="2">
                  <c:v>5.12</c:v>
                </c:pt>
                <c:pt idx="3">
                  <c:v>13.29</c:v>
                </c:pt>
                <c:pt idx="4">
                  <c:v>18.26</c:v>
                </c:pt>
                <c:pt idx="5">
                  <c:v>20.61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Technology</c:v>
                </c:pt>
              </c:strCache>
            </c:strRef>
          </c:tx>
          <c:spPr>
            <a:solidFill>
              <a:srgbClr val="B84C65">
                <a:alpha val="25000"/>
              </a:srgbClr>
            </a:solidFill>
            <a:ln w="19050" cap="flat">
              <a:solidFill>
                <a:srgbClr val="B84C65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B84C65"/>
              </a:solidFill>
              <a:ln w="9525" cap="flat">
                <a:solidFill>
                  <a:srgbClr val="B84C6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2027</c:v>
                  </c:pt>
                  <c:pt idx="2">
                    <c:v>2029</c:v>
                  </c:pt>
                  <c:pt idx="3">
                    <c:v>2031</c:v>
                  </c:pt>
                  <c:pt idx="4">
                    <c:v>2033</c:v>
                  </c:pt>
                  <c:pt idx="5">
                    <c:v>2035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5.95</c:v>
                </c:pt>
                <c:pt idx="1">
                  <c:v>6.57</c:v>
                </c:pt>
                <c:pt idx="2">
                  <c:v>10.19</c:v>
                </c:pt>
                <c:pt idx="3">
                  <c:v>14.57</c:v>
                </c:pt>
                <c:pt idx="4">
                  <c:v>15.22</c:v>
                </c:pt>
                <c:pt idx="5">
                  <c:v>19.94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rad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"/>
          <c:min val="0"/>
        </c:scaling>
        <c:delete val="0"/>
        <c:axPos val="l"/>
        <c:majorGridlines>
          <c:spPr>
            <a:ln w="5080" cap="flat">
              <a:solidFill>
                <a:srgbClr val="C9B9A8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5ED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8A7968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chart" Target="/ppt/charts/chart1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A  ·  PURE NATIVE PPT COLUMN CHART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chart, nothing else.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Pure pptxgenjs addChart. Saperia palette and fonts passed in; everything else is PowerPoint defaults.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B  ·  NATIVE COLUMN CHART + OVERLAY CHROME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Native chart, shapes on top.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Native chart for the plot area. Axis title, hero callout, and value labels live as overlay shapes/text.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612648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2029 → 2030: </a:t>
            </a:r>
            <a:pPr indent="0" marL="0">
              <a:buNone/>
            </a:pPr>
            <a:r>
              <a:rPr lang="en-US" sz="1300" b="1" i="1" dirty="0">
                <a:solidFill>
                  <a:srgbClr val="353745"/>
                </a:solidFill>
                <a:highlight>
                  <a:srgbClr val="C1FF72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+35%</a:t>
            </a:r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one year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6080760"/>
            <a:ext cx="11091672" cy="0"/>
          </a:xfrm>
          <a:prstGeom prst="line">
            <a:avLst/>
          </a:prstGeom>
          <a:noFill/>
          <a:ln w="6350">
            <a:solidFill>
              <a:srgbClr val="C9B9A8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C  ·  PURE NATIVE SHAPES — NO CHART OBJECT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bar is a rect.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chart object. Rectangles at computed positions, axis ticks as text runs. More code; full editorial control.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188720" y="2103120"/>
            <a:ext cx="10222992" cy="3566160"/>
          </a:xfrm>
          <a:prstGeom prst="rect">
            <a:avLst/>
          </a:prstGeom>
          <a:ln w="6350">
            <a:solidFill>
              <a:srgbClr val="C9B9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70521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2399884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329247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258610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2028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187973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2029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117336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2030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046699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2031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976062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2032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8905425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2033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9834788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2034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764151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2035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188720" y="5907024"/>
            <a:ext cx="10222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" y="558698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$0M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40080" y="503834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$10M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40080" y="448970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$20M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40080" y="394106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$30M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40080" y="339242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$40M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0080" y="284378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$50M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40080" y="229514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$60M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 rot="-5400000">
            <a:off x="182880" y="38862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($M)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188720" y="512064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88720" y="457200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" y="402336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88720" y="347472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88720" y="292608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88720" y="237744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356221" y="4347606"/>
            <a:ext cx="594360" cy="1321674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33" name="Shape 31"/>
          <p:cNvSpPr/>
          <p:nvPr/>
        </p:nvSpPr>
        <p:spPr>
          <a:xfrm>
            <a:off x="2285584" y="4443618"/>
            <a:ext cx="594360" cy="1225662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34" name="Shape 32"/>
          <p:cNvSpPr/>
          <p:nvPr/>
        </p:nvSpPr>
        <p:spPr>
          <a:xfrm>
            <a:off x="3214947" y="4455140"/>
            <a:ext cx="594360" cy="1214140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35" name="Shape 33"/>
          <p:cNvSpPr/>
          <p:nvPr/>
        </p:nvSpPr>
        <p:spPr>
          <a:xfrm>
            <a:off x="4144310" y="4263664"/>
            <a:ext cx="594360" cy="1405616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36" name="Shape 34"/>
          <p:cNvSpPr/>
          <p:nvPr/>
        </p:nvSpPr>
        <p:spPr>
          <a:xfrm>
            <a:off x="5073673" y="4281769"/>
            <a:ext cx="594360" cy="1387511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37" name="Shape 35"/>
          <p:cNvSpPr/>
          <p:nvPr/>
        </p:nvSpPr>
        <p:spPr>
          <a:xfrm>
            <a:off x="6003036" y="3790737"/>
            <a:ext cx="594360" cy="1878543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38" name="Shape 36"/>
          <p:cNvSpPr/>
          <p:nvPr/>
        </p:nvSpPr>
        <p:spPr>
          <a:xfrm>
            <a:off x="6932399" y="3431377"/>
            <a:ext cx="594360" cy="2237903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39" name="Shape 37"/>
          <p:cNvSpPr/>
          <p:nvPr/>
        </p:nvSpPr>
        <p:spPr>
          <a:xfrm>
            <a:off x="7861762" y="3047329"/>
            <a:ext cx="594360" cy="2621951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40" name="Shape 38"/>
          <p:cNvSpPr/>
          <p:nvPr/>
        </p:nvSpPr>
        <p:spPr>
          <a:xfrm>
            <a:off x="8791125" y="2867376"/>
            <a:ext cx="594360" cy="2801904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41" name="Shape 39"/>
          <p:cNvSpPr/>
          <p:nvPr/>
        </p:nvSpPr>
        <p:spPr>
          <a:xfrm>
            <a:off x="9720488" y="2597445"/>
            <a:ext cx="594360" cy="3071835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42" name="Shape 40"/>
          <p:cNvSpPr/>
          <p:nvPr/>
        </p:nvSpPr>
        <p:spPr>
          <a:xfrm>
            <a:off x="10649851" y="2450958"/>
            <a:ext cx="594360" cy="3218322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43" name="Text 41"/>
          <p:cNvSpPr/>
          <p:nvPr/>
        </p:nvSpPr>
        <p:spPr>
          <a:xfrm>
            <a:off x="5843016" y="3406689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53745"/>
                </a:solidFill>
                <a:highlight>
                  <a:srgbClr val="C1FF72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2030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A  ·  NATIVE STACKED-COLUMN HACK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 waterfall. The closest native can get.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pptxgenjs has no waterfall type. Best-effort: stacked column with an invisible base series. No connectors. One color for every delta — positives indistinguishable from negatives.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B  ·  NATIVE STACKED-COLUMN HACK + OVERLAY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Labels rescued, colors cannot be.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native hack. Overlay adds delta labels and step connectors. Bars themselves are still one color — pptxgenjs does not expose per-bar color in native charts.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2386270" y="3877970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7" name="Shape 4"/>
          <p:cNvSpPr/>
          <p:nvPr/>
        </p:nvSpPr>
        <p:spPr>
          <a:xfrm>
            <a:off x="3846698" y="4382719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8" name="Shape 5"/>
          <p:cNvSpPr/>
          <p:nvPr/>
        </p:nvSpPr>
        <p:spPr>
          <a:xfrm>
            <a:off x="5307125" y="4484218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9" name="Shape 6"/>
          <p:cNvSpPr/>
          <p:nvPr/>
        </p:nvSpPr>
        <p:spPr>
          <a:xfrm>
            <a:off x="6767553" y="3971239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8227980" y="4607662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11" name="Shape 8"/>
          <p:cNvSpPr/>
          <p:nvPr/>
        </p:nvSpPr>
        <p:spPr>
          <a:xfrm>
            <a:off x="9688408" y="2533802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12" name="Text 9"/>
          <p:cNvSpPr/>
          <p:nvPr/>
        </p:nvSpPr>
        <p:spPr>
          <a:xfrm>
            <a:off x="2922161" y="355793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84C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−$1.8M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382589" y="4062679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84C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−$0.4M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843016" y="3651199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D5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+$1.9M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7303443" y="3651199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84C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−$2.3M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8763871" y="221376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D5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+$7.6M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C  ·  PURE NATIVE SHAPES — NO CHART OBJECT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real waterfall.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bar is a rect. Connectors are lines. Positive steps in STEEL, negative in BERRY, anchors in INK. Delta labels above each float; anchors labeled with totals.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188720" y="2103120"/>
            <a:ext cx="10222992" cy="3566160"/>
          </a:xfrm>
          <a:prstGeom prst="rect">
            <a:avLst/>
          </a:prstGeom>
          <a:ln w="6350">
            <a:solidFill>
              <a:srgbClr val="C9B9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736054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196481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656909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117336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2028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577763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2029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9038191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2030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498618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2030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188720" y="5907024"/>
            <a:ext cx="10222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0080" y="558698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$0M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40080" y="503834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$2M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40080" y="448970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$4M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0080" y="394106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$6M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40080" y="339242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$8M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40080" y="284378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$10M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40080" y="229514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$12M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 rot="-5400000">
            <a:off x="182880" y="38862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 ($M)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188720" y="512064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88720" y="457200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88720" y="402336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88720" y="347472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88720" y="292608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88720" y="237744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86270" y="3877970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3846698" y="4382719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5307125" y="4484218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767553" y="3971239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8227980" y="4607662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9688408" y="2533802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1621754" y="3877970"/>
            <a:ext cx="594360" cy="1791310"/>
          </a:xfrm>
          <a:prstGeom prst="rect">
            <a:avLst/>
          </a:prstGeom>
          <a:solidFill>
            <a:srgbClr val="353745">
              <a:alpha val="85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1370294" y="353049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$6.5M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082181" y="3877970"/>
            <a:ext cx="594360" cy="504749"/>
          </a:xfrm>
          <a:prstGeom prst="rect">
            <a:avLst/>
          </a:prstGeom>
          <a:solidFill>
            <a:srgbClr val="B84C65"/>
          </a:solidFill>
          <a:ln/>
        </p:spPr>
      </p:sp>
      <p:sp>
        <p:nvSpPr>
          <p:cNvPr id="37" name="Text 35"/>
          <p:cNvSpPr/>
          <p:nvPr/>
        </p:nvSpPr>
        <p:spPr>
          <a:xfrm>
            <a:off x="2830721" y="353049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4C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−$1.8M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42609" y="4382719"/>
            <a:ext cx="594360" cy="101498"/>
          </a:xfrm>
          <a:prstGeom prst="rect">
            <a:avLst/>
          </a:prstGeom>
          <a:solidFill>
            <a:srgbClr val="B84C65"/>
          </a:solidFill>
          <a:ln/>
        </p:spPr>
      </p:sp>
      <p:sp>
        <p:nvSpPr>
          <p:cNvPr id="39" name="Text 37"/>
          <p:cNvSpPr/>
          <p:nvPr/>
        </p:nvSpPr>
        <p:spPr>
          <a:xfrm>
            <a:off x="4291149" y="4035247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4C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−$0.4M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003036" y="3971239"/>
            <a:ext cx="594360" cy="512978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41" name="Text 39"/>
          <p:cNvSpPr/>
          <p:nvPr/>
        </p:nvSpPr>
        <p:spPr>
          <a:xfrm>
            <a:off x="5751576" y="3623767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5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+$1.9M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7463463" y="3971239"/>
            <a:ext cx="594360" cy="636422"/>
          </a:xfrm>
          <a:prstGeom prst="rect">
            <a:avLst/>
          </a:prstGeom>
          <a:solidFill>
            <a:srgbClr val="B84C65"/>
          </a:solidFill>
          <a:ln/>
        </p:spPr>
      </p:sp>
      <p:sp>
        <p:nvSpPr>
          <p:cNvPr id="43" name="Text 41"/>
          <p:cNvSpPr/>
          <p:nvPr/>
        </p:nvSpPr>
        <p:spPr>
          <a:xfrm>
            <a:off x="7212003" y="3623767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4C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−$2.3M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8923891" y="2533802"/>
            <a:ext cx="594360" cy="2073859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45" name="Text 43"/>
          <p:cNvSpPr/>
          <p:nvPr/>
        </p:nvSpPr>
        <p:spPr>
          <a:xfrm>
            <a:off x="8672431" y="218633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5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+$7.6M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10384318" y="2533802"/>
            <a:ext cx="594360" cy="3135478"/>
          </a:xfrm>
          <a:prstGeom prst="rect">
            <a:avLst/>
          </a:prstGeom>
          <a:solidFill>
            <a:srgbClr val="353745">
              <a:alpha val="85000"/>
            </a:srgbClr>
          </a:solidFill>
          <a:ln/>
        </p:spPr>
      </p:sp>
      <p:sp>
        <p:nvSpPr>
          <p:cNvPr id="47" name="Text 45"/>
          <p:cNvSpPr/>
          <p:nvPr/>
        </p:nvSpPr>
        <p:spPr>
          <a:xfrm>
            <a:off x="10132858" y="218633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$11.4M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48640" y="617220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years of compression, then </a:t>
            </a:r>
            <a:pPr indent="0" marL="0">
              <a:buNone/>
            </a:pPr>
            <a:r>
              <a:rPr lang="en-US" sz="1200" b="1" i="1" dirty="0">
                <a:solidFill>
                  <a:srgbClr val="353745"/>
                </a:solidFill>
                <a:highlight>
                  <a:srgbClr val="C1FF72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+$7.6M in one year</a:t>
            </a:r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 EBITDA snap-back.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CHART  ·  NATIVE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EBITDA % compressed, then snapped back.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Native pptxgenjs line chart. Saperia palette, axes, gridlines. Callout highlights the trough. No overlay — native handles this type cleanly.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617220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2029 trough: </a:t>
            </a:r>
            <a:pPr indent="0" marL="0">
              <a:buNone/>
            </a:pPr>
            <a:r>
              <a:rPr lang="en-US" sz="1200" b="1" i="1" dirty="0">
                <a:solidFill>
                  <a:srgbClr val="353745"/>
                </a:solidFill>
                <a:highlight>
                  <a:srgbClr val="C1FF72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15.3%</a:t>
            </a:r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a 12-point compression from 2025. Back to 33% by 2030.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DONUT CHART  ·  NATIVE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practices, split close to thirds by 2035.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Native pptxgenjs doughnut. Text callouts on the right replace native labels (the common native weakness).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594360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3984325" y="3408955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31%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253102" y="4978653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35%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2273370" y="3492865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34%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766560" y="210312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2035 TOTAL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766560" y="2377440"/>
            <a:ext cx="1371600" cy="0"/>
          </a:xfrm>
          <a:prstGeom prst="line">
            <a:avLst/>
          </a:prstGeom>
          <a:noFill/>
          <a:ln w="19050">
            <a:solidFill>
              <a:srgbClr val="35374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766560" y="246888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$58.7M</a:t>
            </a:r>
            <a:endParaRPr lang="en-US" sz="4400" dirty="0"/>
          </a:p>
        </p:txBody>
      </p:sp>
      <p:sp>
        <p:nvSpPr>
          <p:cNvPr id="12" name="Shape 9"/>
          <p:cNvSpPr/>
          <p:nvPr/>
        </p:nvSpPr>
        <p:spPr>
          <a:xfrm>
            <a:off x="6766560" y="3639312"/>
            <a:ext cx="128016" cy="128016"/>
          </a:xfrm>
          <a:prstGeom prst="rect">
            <a:avLst/>
          </a:prstGeom>
          <a:solidFill>
            <a:srgbClr val="BFE5EF"/>
          </a:solidFill>
          <a:ln/>
        </p:spPr>
      </p:sp>
      <p:sp>
        <p:nvSpPr>
          <p:cNvPr id="13" name="Text 10"/>
          <p:cNvSpPr/>
          <p:nvPr/>
        </p:nvSpPr>
        <p:spPr>
          <a:xfrm>
            <a:off x="7040880" y="35661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040880" y="382219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$20.6M  ·  35%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040880" y="4069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Leader by 2035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766560" y="4553712"/>
            <a:ext cx="128016" cy="128016"/>
          </a:xfrm>
          <a:prstGeom prst="rect">
            <a:avLst/>
          </a:prstGeom>
          <a:solidFill>
            <a:srgbClr val="B84C65"/>
          </a:solidFill>
          <a:ln/>
        </p:spPr>
      </p:sp>
      <p:sp>
        <p:nvSpPr>
          <p:cNvPr id="17" name="Text 14"/>
          <p:cNvSpPr/>
          <p:nvPr/>
        </p:nvSpPr>
        <p:spPr>
          <a:xfrm>
            <a:off x="7040880" y="44805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040880" y="473659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$19.9M  ·  34%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7040880" y="4983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Fastest grower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766560" y="5468112"/>
            <a:ext cx="128016" cy="128016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21" name="Text 18"/>
          <p:cNvSpPr/>
          <p:nvPr/>
        </p:nvSpPr>
        <p:spPr>
          <a:xfrm>
            <a:off x="7040880" y="53949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040880" y="565099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$18.1M  ·  31%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040880" y="5897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Cyclical anchor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 PLOT  ·  NATIVE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Utilization predicts EBITDA margin.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Native pptxgenjs scatter chart (non-bubble). 11 years of (util, EBITDA %) points. Native handles scatter when sizing uniformity is fine.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617220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Positive slope: every 10 utilization points ≈ +7 points of EBITDA. Pricing alone never closed the gap.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CHART  ·  NATIVE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practices, three different trajectories.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time-points on six axes (every other year, 2025 to 2035). Revenue in $M — one shared scale, no normalization. Native handles multi-series radar when axes share units.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594360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6766560" y="210312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SHAPES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766560" y="2377440"/>
            <a:ext cx="1371600" cy="0"/>
          </a:xfrm>
          <a:prstGeom prst="line">
            <a:avLst/>
          </a:prstGeom>
          <a:noFill/>
          <a:ln w="19050">
            <a:solidFill>
              <a:srgbClr val="353745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766560" y="3044952"/>
            <a:ext cx="128016" cy="128016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9" name="Text 6"/>
          <p:cNvSpPr/>
          <p:nvPr/>
        </p:nvSpPr>
        <p:spPr>
          <a:xfrm>
            <a:off x="7040880" y="29718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040880" y="3227832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Tightest shape. Shallow dip in 2027, steady climb after. Least cyclical.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766560" y="4096512"/>
            <a:ext cx="128016" cy="128016"/>
          </a:xfrm>
          <a:prstGeom prst="rect">
            <a:avLst/>
          </a:prstGeom>
          <a:solidFill>
            <a:srgbClr val="BFE5EF"/>
          </a:solidFill>
          <a:ln/>
        </p:spPr>
      </p:sp>
      <p:sp>
        <p:nvSpPr>
          <p:cNvPr id="12" name="Text 9"/>
          <p:cNvSpPr/>
          <p:nvPr/>
        </p:nvSpPr>
        <p:spPr>
          <a:xfrm>
            <a:off x="7040880" y="40233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040880" y="4279392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Deepest dent in 2029, then the biggest snap-back — ends largest in 2035.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766560" y="5148072"/>
            <a:ext cx="128016" cy="128016"/>
          </a:xfrm>
          <a:prstGeom prst="rect">
            <a:avLst/>
          </a:prstGeom>
          <a:solidFill>
            <a:srgbClr val="B84C65"/>
          </a:solidFill>
          <a:ln/>
        </p:spPr>
      </p:sp>
      <p:sp>
        <p:nvSpPr>
          <p:cNvPr id="15" name="Text 12"/>
          <p:cNvSpPr/>
          <p:nvPr/>
        </p:nvSpPr>
        <p:spPr>
          <a:xfrm>
            <a:off x="7040880" y="50749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040880" y="5330952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Grew through every year, downturn included. The most counter-cyclical practice.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CHART  ·  STRESS-TEST (DUAL-AXIS COMBO)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Revenue bars, EBITDA % line, secondary axis.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Multi-type chart: native pptxgenjs pres.ChartType has no 'combo' — you pass an array of typed blocks. Each block has its own options. Tests secondary axis, per-series styling, legend mixing.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617220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Combo charts are where native shines — secondary axis, mixed bar + line, per-series styling all work in one addChart call.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DONUT CHART  ·  STRESS-TEST (COMPARISON)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Practice mix, ten years apart.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donuts, same color mapping, different years. Tests whether two instances of native addChart can be visually locked together. Center callouts added as overlays — native donuts have no center text option.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914400" y="2194560"/>
          <a:ext cx="41148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914400" y="57150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2025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914400" y="37673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$24.1M</a:t>
            </a:r>
            <a:endParaRPr lang="en-US" sz="1800" dirty="0"/>
          </a:p>
        </p:txBody>
      </p:sp>
      <p:graphicFrame>
        <p:nvGraphicFramePr>
          <p:cNvPr id="8" name="Chart 1" descr=""/>
          <p:cNvGraphicFramePr/>
          <p:nvPr/>
        </p:nvGraphicFramePr>
        <p:xfrm>
          <a:off x="7159752" y="2194560"/>
          <a:ext cx="41148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/>
          <p:nvPr/>
        </p:nvSpPr>
        <p:spPr>
          <a:xfrm>
            <a:off x="7159752" y="57150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2035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7159752" y="37673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$58.7M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5728716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3600" dirty="0"/>
          </a:p>
        </p:txBody>
      </p:sp>
      <p:sp>
        <p:nvSpPr>
          <p:cNvPr id="12" name="Text 8"/>
          <p:cNvSpPr/>
          <p:nvPr/>
        </p:nvSpPr>
        <p:spPr>
          <a:xfrm>
            <a:off x="548640" y="617220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Strategy went from 38% of revenue to 31%; Operations grew to the #1 share; Technology more than tripled in dollars.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 PLOT  ·  STRESS-TEST (PHASED MULTI-SERIES)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Revenue vs EBITDA $, colored by phase.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series (setup, compression, recovery, scale) sharing one x-axis. Tests pptxgenjs scatter's null-padding pattern for multi-series with non-overlapping x values.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617220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Compression years sit in the bottom-left cluster. Scale years walk up the diagonal. Phase coloring surfaces structure the simple scatter hides.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CHART  ·  STRESS-TEST (FILLED OVERLAY)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three practices, filled regions.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radarStyle = 'filled' with transparency so all three practices read as overlapping shapes. Tests multi-series overlay legibility and whether native radar respects alpha.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594360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6766560" y="210312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FILL REVEALS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766560" y="2377440"/>
            <a:ext cx="1371600" cy="0"/>
          </a:xfrm>
          <a:prstGeom prst="line">
            <a:avLst/>
          </a:prstGeom>
          <a:noFill/>
          <a:ln w="19050">
            <a:solidFill>
              <a:srgbClr val="3537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766560" y="265176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Filled overlay makes the area under each practice's shape comparable at a glance. Where line-only emphasizes trajectory, filled emphasizes cumulative footprint.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766560" y="393192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Native ceiling shows here: three filled regions on six axes fight for legibility. At four-plus series, filled radar stops scaling.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766560" y="5303520"/>
            <a:ext cx="4846320" cy="0"/>
          </a:xfrm>
          <a:prstGeom prst="line">
            <a:avLst/>
          </a:prstGeom>
          <a:noFill/>
          <a:ln w="6350">
            <a:solidFill>
              <a:srgbClr val="C9B9A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766560" y="53949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limit: no per-axis scale, no conditional fill.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FUNNEL CHART  ·  ESCAPE-HATCH (SHAPES)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five-stage pipeline funnel.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PPT has a native funnel type but pptxgenjs cannot emit it. Built with shape trapezoids via claude-pptx-plot. Stage labels and values embedded; conversion rates on the right.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 flipV="1">
            <a:off x="1828800" y="2011680"/>
            <a:ext cx="5486400" cy="749808"/>
          </a:xfrm>
          <a:prstGeom prst="trapezoid">
            <a:avLst/>
          </a:prstGeom>
          <a:solidFill>
            <a:srgbClr val="2D5F7C">
              <a:alpha val="82000"/>
            </a:srgbClr>
          </a:solidFill>
          <a:ln w="6350">
            <a:solidFill>
              <a:srgbClr val="2D5F7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0" y="22494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leads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500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 flipV="1">
            <a:off x="2842591" y="2807208"/>
            <a:ext cx="3458817" cy="749808"/>
          </a:xfrm>
          <a:prstGeom prst="trapezoid">
            <a:avLst/>
          </a:prstGeom>
          <a:solidFill>
            <a:srgbClr val="2D5F7C">
              <a:alpha val="74000"/>
            </a:srgbClr>
          </a:solidFill>
          <a:ln w="6350">
            <a:solidFill>
              <a:srgbClr val="2D5F7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42591" y="3044952"/>
            <a:ext cx="345881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300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 flipV="1">
            <a:off x="3602935" y="3602736"/>
            <a:ext cx="1938130" cy="749808"/>
          </a:xfrm>
          <a:prstGeom prst="trapezoid">
            <a:avLst/>
          </a:prstGeom>
          <a:solidFill>
            <a:srgbClr val="2D5F7C">
              <a:alpha val="66000"/>
            </a:srgbClr>
          </a:solidFill>
          <a:ln w="6350">
            <a:solidFill>
              <a:srgbClr val="2D5F7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02935" y="3840480"/>
            <a:ext cx="19381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/ demo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150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 flipV="1">
            <a:off x="3932417" y="4398264"/>
            <a:ext cx="1279166" cy="749808"/>
          </a:xfrm>
          <a:prstGeom prst="trapezoid">
            <a:avLst/>
          </a:prstGeom>
          <a:solidFill>
            <a:srgbClr val="2D5F7C">
              <a:alpha val="58000"/>
            </a:srgbClr>
          </a:solidFill>
          <a:ln w="6350">
            <a:solidFill>
              <a:srgbClr val="2D5F7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32417" y="4636008"/>
            <a:ext cx="12791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 sent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85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 flipV="1">
            <a:off x="4160520" y="5193792"/>
            <a:ext cx="822960" cy="749808"/>
          </a:xfrm>
          <a:prstGeom prst="trapezoid">
            <a:avLst/>
          </a:prstGeom>
          <a:solidFill>
            <a:srgbClr val="2D5F7C">
              <a:alpha val="50000"/>
            </a:srgbClr>
          </a:solidFill>
          <a:ln w="6350">
            <a:solidFill>
              <a:srgbClr val="2D5F7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60520" y="543153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Closed-won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40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29600" y="210312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CONVERSION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229600" y="2377440"/>
            <a:ext cx="1371600" cy="0"/>
          </a:xfrm>
          <a:prstGeom prst="line">
            <a:avLst/>
          </a:prstGeom>
          <a:noFill/>
          <a:ln w="19050">
            <a:solidFill>
              <a:srgbClr val="35374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0" y="260604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leads → Qualified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229600" y="280720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60%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229600" y="326440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 → Scoped / demo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229600" y="346557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50%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8229600" y="39227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/ demo → Proposal sent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229600" y="412394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57%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229600" y="45811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 sent → Closed-won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229600" y="478231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47%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8229600" y="5285232"/>
            <a:ext cx="3200400" cy="0"/>
          </a:xfrm>
          <a:prstGeom prst="line">
            <a:avLst/>
          </a:prstGeom>
          <a:noFill/>
          <a:ln w="6350">
            <a:solidFill>
              <a:srgbClr val="C9B9A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0" y="537667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LEAD-TO-WIN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229600" y="560527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353745"/>
                </a:solidFill>
                <a:highlight>
                  <a:srgbClr val="C1FF72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8.0%</a:t>
            </a:r>
            <a:endParaRPr lang="en-US" sz="3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FUNNEL CHART  ·  STRESS-TEST (TWO-ERA COMPARISON)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2025 pipeline vs 2035 pipeline.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funnels, same stages, ten years apart. Shape-based placement lets them share an x-axis logic and per-stage color coding — native would hit a wall here even if it existed.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 flipV="1">
            <a:off x="914400" y="2194560"/>
            <a:ext cx="4114800" cy="676656"/>
          </a:xfrm>
          <a:prstGeom prst="trapezoid">
            <a:avLst/>
          </a:prstGeom>
          <a:solidFill>
            <a:srgbClr val="B84C65">
              <a:alpha val="82000"/>
            </a:srgbClr>
          </a:solidFill>
          <a:ln w="6350">
            <a:solidFill>
              <a:srgbClr val="B84C6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39572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450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 flipV="1">
            <a:off x="1926832" y="2916936"/>
            <a:ext cx="2089936" cy="676656"/>
          </a:xfrm>
          <a:prstGeom prst="trapezoid">
            <a:avLst/>
          </a:prstGeom>
          <a:solidFill>
            <a:srgbClr val="B84C65">
              <a:alpha val="74000"/>
            </a:srgbClr>
          </a:solidFill>
          <a:ln w="6350">
            <a:solidFill>
              <a:srgbClr val="B84C6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926832" y="3118104"/>
            <a:ext cx="2089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220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 flipV="1">
            <a:off x="2477067" y="3639312"/>
            <a:ext cx="989466" cy="676656"/>
          </a:xfrm>
          <a:prstGeom prst="trapezoid">
            <a:avLst/>
          </a:prstGeom>
          <a:solidFill>
            <a:srgbClr val="B84C65">
              <a:alpha val="66000"/>
            </a:srgbClr>
          </a:solidFill>
          <a:ln w="6350">
            <a:solidFill>
              <a:srgbClr val="B84C6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77067" y="3840480"/>
            <a:ext cx="9894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95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 flipV="1">
            <a:off x="2675152" y="4361688"/>
            <a:ext cx="593297" cy="676656"/>
          </a:xfrm>
          <a:prstGeom prst="trapezoid">
            <a:avLst/>
          </a:prstGeom>
          <a:solidFill>
            <a:srgbClr val="B84C65">
              <a:alpha val="58000"/>
            </a:srgbClr>
          </a:solidFill>
          <a:ln w="6350">
            <a:solidFill>
              <a:srgbClr val="B84C6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75152" y="4562856"/>
            <a:ext cx="59329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50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 flipV="1">
            <a:off x="2807208" y="5084064"/>
            <a:ext cx="329184" cy="676656"/>
          </a:xfrm>
          <a:prstGeom prst="trapezoid">
            <a:avLst/>
          </a:prstGeom>
          <a:solidFill>
            <a:srgbClr val="B84C65">
              <a:alpha val="50000"/>
            </a:srgbClr>
          </a:solidFill>
          <a:ln w="6350">
            <a:solidFill>
              <a:srgbClr val="B84C6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07208" y="528523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20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58064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2025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914400" y="612648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4.4% lead-to-win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 flipV="1">
            <a:off x="7132320" y="2194560"/>
            <a:ext cx="4114800" cy="676656"/>
          </a:xfrm>
          <a:prstGeom prst="trapezoid">
            <a:avLst/>
          </a:prstGeom>
          <a:solidFill>
            <a:srgbClr val="2D5F7C">
              <a:alpha val="82000"/>
            </a:srgbClr>
          </a:solidFill>
          <a:ln w="6350">
            <a:solidFill>
              <a:srgbClr val="2D5F7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0" y="239572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650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 flipV="1">
            <a:off x="7889443" y="2916936"/>
            <a:ext cx="2600554" cy="676656"/>
          </a:xfrm>
          <a:prstGeom prst="trapezoid">
            <a:avLst/>
          </a:prstGeom>
          <a:solidFill>
            <a:srgbClr val="2D5F7C">
              <a:alpha val="74000"/>
            </a:srgbClr>
          </a:solidFill>
          <a:ln w="6350">
            <a:solidFill>
              <a:srgbClr val="2D5F7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89443" y="3118104"/>
            <a:ext cx="26005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420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 flipV="1">
            <a:off x="8514893" y="3639312"/>
            <a:ext cx="1349654" cy="676656"/>
          </a:xfrm>
          <a:prstGeom prst="trapezoid">
            <a:avLst/>
          </a:prstGeom>
          <a:solidFill>
            <a:srgbClr val="2D5F7C">
              <a:alpha val="66000"/>
            </a:srgbClr>
          </a:solidFill>
          <a:ln w="6350">
            <a:solidFill>
              <a:srgbClr val="2D5F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14893" y="3840480"/>
            <a:ext cx="1349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230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 flipV="1">
            <a:off x="8811158" y="4361688"/>
            <a:ext cx="757123" cy="676656"/>
          </a:xfrm>
          <a:prstGeom prst="trapezoid">
            <a:avLst/>
          </a:prstGeom>
          <a:solidFill>
            <a:srgbClr val="2D5F7C">
              <a:alpha val="58000"/>
            </a:srgbClr>
          </a:solidFill>
          <a:ln w="6350">
            <a:solidFill>
              <a:srgbClr val="2D5F7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811158" y="4562856"/>
            <a:ext cx="7571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140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 flipV="1">
            <a:off x="9025128" y="5084064"/>
            <a:ext cx="329184" cy="676656"/>
          </a:xfrm>
          <a:prstGeom prst="trapezoid">
            <a:avLst/>
          </a:prstGeom>
          <a:solidFill>
            <a:srgbClr val="2D5F7C">
              <a:alpha val="50000"/>
            </a:srgbClr>
          </a:solidFill>
          <a:ln w="6350">
            <a:solidFill>
              <a:srgbClr val="2D5F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025128" y="528523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75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132320" y="58064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2035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7132320" y="612648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11.5% lead-to-win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303520" y="37490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4400" dirty="0"/>
          </a:p>
        </p:txBody>
      </p:sp>
      <p:sp>
        <p:nvSpPr>
          <p:cNvPr id="30" name="Text 28"/>
          <p:cNvSpPr/>
          <p:nvPr/>
        </p:nvSpPr>
        <p:spPr>
          <a:xfrm>
            <a:off x="4846320" y="44348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2.6× efficiency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TREEMAP  ·  ESCAPE-HATCH (SHAPES)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2035 revenue by practice.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Another PPT-native type pptxgenjs cannot emit. Slice-and-dice layout in claude-pptx-plot — rectangles sized by value, colored by practice, labeled in situ.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3800394" cy="4114800"/>
          </a:xfrm>
          <a:prstGeom prst="rect">
            <a:avLst/>
          </a:prstGeom>
          <a:solidFill>
            <a:srgbClr val="BFE5EF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2066544"/>
            <a:ext cx="3690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94944" y="2340864"/>
            <a:ext cx="3690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Leader by 2035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94944" y="5797296"/>
            <a:ext cx="3690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$20.6M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95338" y="2011680"/>
            <a:ext cx="3675065" cy="4114800"/>
          </a:xfrm>
          <a:prstGeom prst="rect">
            <a:avLst/>
          </a:prstGeom>
          <a:solidFill>
            <a:srgbClr val="B84C65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0202" y="2066544"/>
            <a:ext cx="35653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50202" y="2340864"/>
            <a:ext cx="35653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Fastest grower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50202" y="5797296"/>
            <a:ext cx="35653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$19.9M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225266" y="2011680"/>
            <a:ext cx="3387614" cy="4114800"/>
          </a:xfrm>
          <a:prstGeom prst="rect">
            <a:avLst/>
          </a:prstGeom>
          <a:solidFill>
            <a:srgbClr val="2D5F7C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80130" y="2066544"/>
            <a:ext cx="3277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280130" y="2340864"/>
            <a:ext cx="3277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Cyclical anchor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80130" y="5797296"/>
            <a:ext cx="3277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$18.1M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626364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three nearly-equal segments, treemap reads like a horizontal composition bar. Its advantage shows at higher cardinality.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TREEMAP  ·  STRESS-TEST (18 CELLS)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practice-year as a cell.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practices × six years = 18 cells, sized by $M revenue, colored by practice. Slice-and-dice gets noisy at this density — shows where squarified algorithms would pay off.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991121" cy="4023360"/>
          </a:xfrm>
          <a:prstGeom prst="rect">
            <a:avLst/>
          </a:prstGeom>
          <a:solidFill>
            <a:srgbClr val="BFE5EF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2066544"/>
            <a:ext cx="88139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 2035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94944" y="5705856"/>
            <a:ext cx="88139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$20.6M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658633" y="2011680"/>
            <a:ext cx="958010" cy="4023360"/>
          </a:xfrm>
          <a:prstGeom prst="rect">
            <a:avLst/>
          </a:prstGeom>
          <a:solidFill>
            <a:srgbClr val="B84C65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713497" y="2066544"/>
            <a:ext cx="8482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2035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713497" y="5705856"/>
            <a:ext cx="8482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$19.9M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644075" y="2011680"/>
            <a:ext cx="874984" cy="4023360"/>
          </a:xfrm>
          <a:prstGeom prst="rect">
            <a:avLst/>
          </a:prstGeom>
          <a:solidFill>
            <a:srgbClr val="BFE5EF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98939" y="2066544"/>
            <a:ext cx="765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 2033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698939" y="5705856"/>
            <a:ext cx="765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$18.3M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546491" y="2011680"/>
            <a:ext cx="867571" cy="4023360"/>
          </a:xfrm>
          <a:prstGeom prst="rect">
            <a:avLst/>
          </a:prstGeom>
          <a:solidFill>
            <a:srgbClr val="2D5F7C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01355" y="2066544"/>
            <a:ext cx="7578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 2035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01355" y="5705856"/>
            <a:ext cx="7578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$18.1M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441493" y="2011680"/>
            <a:ext cx="842366" cy="4023360"/>
          </a:xfrm>
          <a:prstGeom prst="rect">
            <a:avLst/>
          </a:prstGeom>
          <a:solidFill>
            <a:srgbClr val="2D5F7C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96357" y="2066544"/>
            <a:ext cx="7326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 2033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496357" y="5705856"/>
            <a:ext cx="7326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$17.6M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311291" y="2011680"/>
            <a:ext cx="724746" cy="4023360"/>
          </a:xfrm>
          <a:prstGeom prst="rect">
            <a:avLst/>
          </a:prstGeom>
          <a:solidFill>
            <a:srgbClr val="B84C65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63469" y="2011680"/>
            <a:ext cx="692622" cy="4023360"/>
          </a:xfrm>
          <a:prstGeom prst="rect">
            <a:avLst/>
          </a:prstGeom>
          <a:solidFill>
            <a:srgbClr val="B84C65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83524" y="2011680"/>
            <a:ext cx="629364" cy="4023360"/>
          </a:xfrm>
          <a:prstGeom prst="rect">
            <a:avLst/>
          </a:prstGeom>
          <a:solidFill>
            <a:srgbClr val="BFE5EF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40320" y="2011680"/>
            <a:ext cx="611573" cy="4023360"/>
          </a:xfrm>
          <a:prstGeom prst="rect">
            <a:avLst/>
          </a:prstGeom>
          <a:solidFill>
            <a:srgbClr val="2D5F7C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79325" y="2011680"/>
            <a:ext cx="3533555" cy="545967"/>
          </a:xfrm>
          <a:prstGeom prst="rect">
            <a:avLst/>
          </a:prstGeom>
          <a:solidFill>
            <a:srgbClr val="B84C65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79325" y="2585079"/>
            <a:ext cx="547758" cy="3449961"/>
          </a:xfrm>
          <a:prstGeom prst="rect">
            <a:avLst/>
          </a:prstGeom>
          <a:solidFill>
            <a:srgbClr val="2D5F7C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54515" y="2585079"/>
            <a:ext cx="2958365" cy="588896"/>
          </a:xfrm>
          <a:prstGeom prst="rect">
            <a:avLst/>
          </a:prstGeom>
          <a:solidFill>
            <a:srgbClr val="2D5F7C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654515" y="3201408"/>
            <a:ext cx="601992" cy="2833632"/>
          </a:xfrm>
          <a:prstGeom prst="rect">
            <a:avLst/>
          </a:prstGeom>
          <a:solidFill>
            <a:srgbClr val="BFE5EF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283939" y="3201408"/>
            <a:ext cx="2328941" cy="678628"/>
          </a:xfrm>
          <a:prstGeom prst="rect">
            <a:avLst/>
          </a:prstGeom>
          <a:solidFill>
            <a:srgbClr val="2D5F7C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283939" y="3907468"/>
            <a:ext cx="652933" cy="2127572"/>
          </a:xfrm>
          <a:prstGeom prst="rect">
            <a:avLst/>
          </a:prstGeom>
          <a:solidFill>
            <a:srgbClr val="BFE5EF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964304" y="3907468"/>
            <a:ext cx="1648576" cy="764980"/>
          </a:xfrm>
          <a:prstGeom prst="rect">
            <a:avLst/>
          </a:prstGeom>
          <a:solidFill>
            <a:srgbClr val="B84C65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019168" y="3962332"/>
            <a:ext cx="1538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2027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0019168" y="4343264"/>
            <a:ext cx="1538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$6.6M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9964304" y="4699880"/>
            <a:ext cx="858659" cy="1335160"/>
          </a:xfrm>
          <a:prstGeom prst="rect">
            <a:avLst/>
          </a:prstGeom>
          <a:solidFill>
            <a:srgbClr val="B84C65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19168" y="4754744"/>
            <a:ext cx="7489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2025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0019168" y="5705856"/>
            <a:ext cx="7489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$6.0M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10850395" y="4699880"/>
            <a:ext cx="762485" cy="1335160"/>
          </a:xfrm>
          <a:prstGeom prst="rect">
            <a:avLst/>
          </a:prstGeom>
          <a:solidFill>
            <a:srgbClr val="BFE5EF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905259" y="4754744"/>
            <a:ext cx="65275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 2029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0905259" y="5705856"/>
            <a:ext cx="65275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$5.1M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48640" y="621792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 cells, sliced-and-diced. Each color is a practice; size is $M revenue in that year. Good for scanning dominance; bad for precise comparison.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SANKEY  ·  ESCAPE-HATCH (SHAPES, STRAIGHT RIBBONS)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Revenue flow: where each dollar goes.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pptxgenjs addShape has no curve path, so ribbons are approximated by stacked thin rects (stair-stepped polygons). For true curves, matplotlib → PNG → addImage is the fallback.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14400" y="2103120"/>
            <a:ext cx="640080" cy="3840480"/>
          </a:xfrm>
          <a:prstGeom prst="rect">
            <a:avLst/>
          </a:prstGeom>
          <a:solidFill>
            <a:srgbClr val="353745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103120"/>
            <a:ext cx="8229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$58.7M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0607040" y="2103120"/>
            <a:ext cx="640080" cy="1908455"/>
          </a:xfrm>
          <a:prstGeom prst="rect">
            <a:avLst/>
          </a:prstGeom>
          <a:solidFill>
            <a:srgbClr val="B84C65"/>
          </a:solidFill>
          <a:ln/>
        </p:spPr>
      </p:sp>
      <p:sp>
        <p:nvSpPr>
          <p:cNvPr id="8" name="Text 6"/>
          <p:cNvSpPr/>
          <p:nvPr/>
        </p:nvSpPr>
        <p:spPr>
          <a:xfrm>
            <a:off x="10332720" y="2103120"/>
            <a:ext cx="1188720" cy="1908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services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$29.1M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0607040" y="4011575"/>
            <a:ext cx="640080" cy="923784"/>
          </a:xfrm>
          <a:prstGeom prst="rect">
            <a:avLst/>
          </a:prstGeom>
          <a:solidFill>
            <a:srgbClr val="8A7968"/>
          </a:solidFill>
          <a:ln/>
        </p:spPr>
      </p:sp>
      <p:sp>
        <p:nvSpPr>
          <p:cNvPr id="10" name="Text 8"/>
          <p:cNvSpPr/>
          <p:nvPr/>
        </p:nvSpPr>
        <p:spPr>
          <a:xfrm>
            <a:off x="10332720" y="4011575"/>
            <a:ext cx="1188720" cy="923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Opex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$14.1M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0607040" y="4935359"/>
            <a:ext cx="640080" cy="1008241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12" name="Text 10"/>
          <p:cNvSpPr/>
          <p:nvPr/>
        </p:nvSpPr>
        <p:spPr>
          <a:xfrm>
            <a:off x="10332720" y="4935359"/>
            <a:ext cx="1188720" cy="10082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$15.4M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554480" y="2103120"/>
            <a:ext cx="235458" cy="1908455"/>
          </a:xfrm>
          <a:prstGeom prst="rect">
            <a:avLst/>
          </a:prstGeom>
          <a:solidFill>
            <a:srgbClr val="B84C65">
              <a:alpha val="4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780794" y="2103120"/>
            <a:ext cx="235458" cy="1908455"/>
          </a:xfrm>
          <a:prstGeom prst="rect">
            <a:avLst/>
          </a:prstGeom>
          <a:solidFill>
            <a:srgbClr val="B84C65">
              <a:alpha val="4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2007108" y="2103120"/>
            <a:ext cx="235458" cy="1908455"/>
          </a:xfrm>
          <a:prstGeom prst="rect">
            <a:avLst/>
          </a:prstGeom>
          <a:solidFill>
            <a:srgbClr val="B84C65">
              <a:alpha val="4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2233422" y="2103120"/>
            <a:ext cx="235458" cy="1908455"/>
          </a:xfrm>
          <a:prstGeom prst="rect">
            <a:avLst/>
          </a:prstGeom>
          <a:solidFill>
            <a:srgbClr val="B84C65">
              <a:alpha val="4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2459736" y="2103120"/>
            <a:ext cx="235458" cy="1908455"/>
          </a:xfrm>
          <a:prstGeom prst="rect">
            <a:avLst/>
          </a:prstGeom>
          <a:solidFill>
            <a:srgbClr val="B84C65">
              <a:alpha val="4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2686050" y="2103120"/>
            <a:ext cx="235458" cy="1908455"/>
          </a:xfrm>
          <a:prstGeom prst="rect">
            <a:avLst/>
          </a:prstGeom>
          <a:solidFill>
            <a:srgbClr val="B84C65">
              <a:alpha val="4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2912364" y="2103120"/>
            <a:ext cx="235458" cy="1908455"/>
          </a:xfrm>
          <a:prstGeom prst="rect">
            <a:avLst/>
          </a:prstGeom>
          <a:solidFill>
            <a:srgbClr val="B84C65">
              <a:alpha val="4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3138678" y="2103120"/>
            <a:ext cx="235458" cy="1908455"/>
          </a:xfrm>
          <a:prstGeom prst="rect">
            <a:avLst/>
          </a:prstGeom>
          <a:solidFill>
            <a:srgbClr val="B84C65">
              <a:alpha val="4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3364992" y="2103120"/>
            <a:ext cx="235458" cy="1908455"/>
          </a:xfrm>
          <a:prstGeom prst="rect">
            <a:avLst/>
          </a:prstGeom>
          <a:solidFill>
            <a:srgbClr val="B84C65">
              <a:alpha val="4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591306" y="2103120"/>
            <a:ext cx="235458" cy="1908455"/>
          </a:xfrm>
          <a:prstGeom prst="rect">
            <a:avLst/>
          </a:prstGeom>
          <a:solidFill>
            <a:srgbClr val="B84C65">
              <a:alpha val="4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3817620" y="2103120"/>
            <a:ext cx="235458" cy="1908455"/>
          </a:xfrm>
          <a:prstGeom prst="rect">
            <a:avLst/>
          </a:prstGeom>
          <a:solidFill>
            <a:srgbClr val="B84C65">
              <a:alpha val="4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4043934" y="2103120"/>
            <a:ext cx="235458" cy="1908455"/>
          </a:xfrm>
          <a:prstGeom prst="rect">
            <a:avLst/>
          </a:prstGeom>
          <a:solidFill>
            <a:srgbClr val="B84C65">
              <a:alpha val="4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4270248" y="2103120"/>
            <a:ext cx="235458" cy="1908455"/>
          </a:xfrm>
          <a:prstGeom prst="rect">
            <a:avLst/>
          </a:prstGeom>
          <a:solidFill>
            <a:srgbClr val="B84C65">
              <a:alpha val="45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4496562" y="2103120"/>
            <a:ext cx="235458" cy="1908455"/>
          </a:xfrm>
          <a:prstGeom prst="rect">
            <a:avLst/>
          </a:prstGeom>
          <a:solidFill>
            <a:srgbClr val="B84C65">
              <a:alpha val="45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4722876" y="2103120"/>
            <a:ext cx="235458" cy="1908455"/>
          </a:xfrm>
          <a:prstGeom prst="rect">
            <a:avLst/>
          </a:prstGeom>
          <a:solidFill>
            <a:srgbClr val="B84C65">
              <a:alpha val="45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4949190" y="2103120"/>
            <a:ext cx="235458" cy="1908455"/>
          </a:xfrm>
          <a:prstGeom prst="rect">
            <a:avLst/>
          </a:prstGeom>
          <a:solidFill>
            <a:srgbClr val="B84C65">
              <a:alpha val="4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5175504" y="2103120"/>
            <a:ext cx="235458" cy="1908455"/>
          </a:xfrm>
          <a:prstGeom prst="rect">
            <a:avLst/>
          </a:prstGeom>
          <a:solidFill>
            <a:srgbClr val="B84C65">
              <a:alpha val="4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5401818" y="2103120"/>
            <a:ext cx="235458" cy="1908455"/>
          </a:xfrm>
          <a:prstGeom prst="rect">
            <a:avLst/>
          </a:prstGeom>
          <a:solidFill>
            <a:srgbClr val="B84C65">
              <a:alpha val="4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5628132" y="2103120"/>
            <a:ext cx="235458" cy="1908455"/>
          </a:xfrm>
          <a:prstGeom prst="rect">
            <a:avLst/>
          </a:prstGeom>
          <a:solidFill>
            <a:srgbClr val="B84C65">
              <a:alpha val="4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5854446" y="2103120"/>
            <a:ext cx="235458" cy="1908455"/>
          </a:xfrm>
          <a:prstGeom prst="rect">
            <a:avLst/>
          </a:prstGeom>
          <a:solidFill>
            <a:srgbClr val="B84C65">
              <a:alpha val="45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6080760" y="2103120"/>
            <a:ext cx="235458" cy="1908455"/>
          </a:xfrm>
          <a:prstGeom prst="rect">
            <a:avLst/>
          </a:prstGeom>
          <a:solidFill>
            <a:srgbClr val="B84C65">
              <a:alpha val="4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6307074" y="2103120"/>
            <a:ext cx="235458" cy="1908455"/>
          </a:xfrm>
          <a:prstGeom prst="rect">
            <a:avLst/>
          </a:prstGeom>
          <a:solidFill>
            <a:srgbClr val="B84C65">
              <a:alpha val="4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6533388" y="2103120"/>
            <a:ext cx="235458" cy="1908455"/>
          </a:xfrm>
          <a:prstGeom prst="rect">
            <a:avLst/>
          </a:prstGeom>
          <a:solidFill>
            <a:srgbClr val="B84C65">
              <a:alpha val="45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6759702" y="2103120"/>
            <a:ext cx="235458" cy="1908455"/>
          </a:xfrm>
          <a:prstGeom prst="rect">
            <a:avLst/>
          </a:prstGeom>
          <a:solidFill>
            <a:srgbClr val="B84C65">
              <a:alpha val="45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6986016" y="2103120"/>
            <a:ext cx="235458" cy="1908455"/>
          </a:xfrm>
          <a:prstGeom prst="rect">
            <a:avLst/>
          </a:prstGeom>
          <a:solidFill>
            <a:srgbClr val="B84C65">
              <a:alpha val="4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7212330" y="2103120"/>
            <a:ext cx="235458" cy="1908455"/>
          </a:xfrm>
          <a:prstGeom prst="rect">
            <a:avLst/>
          </a:prstGeom>
          <a:solidFill>
            <a:srgbClr val="B84C65">
              <a:alpha val="45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7438644" y="2103120"/>
            <a:ext cx="235458" cy="1908455"/>
          </a:xfrm>
          <a:prstGeom prst="rect">
            <a:avLst/>
          </a:prstGeom>
          <a:solidFill>
            <a:srgbClr val="B84C65">
              <a:alpha val="45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7664958" y="2103120"/>
            <a:ext cx="235458" cy="1908455"/>
          </a:xfrm>
          <a:prstGeom prst="rect">
            <a:avLst/>
          </a:prstGeom>
          <a:solidFill>
            <a:srgbClr val="B84C65">
              <a:alpha val="4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7891272" y="2103120"/>
            <a:ext cx="235458" cy="1908455"/>
          </a:xfrm>
          <a:prstGeom prst="rect">
            <a:avLst/>
          </a:prstGeom>
          <a:solidFill>
            <a:srgbClr val="B84C65">
              <a:alpha val="45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8117586" y="2103120"/>
            <a:ext cx="235458" cy="1908455"/>
          </a:xfrm>
          <a:prstGeom prst="rect">
            <a:avLst/>
          </a:prstGeom>
          <a:solidFill>
            <a:srgbClr val="B84C65">
              <a:alpha val="45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8343900" y="2103120"/>
            <a:ext cx="235458" cy="1908455"/>
          </a:xfrm>
          <a:prstGeom prst="rect">
            <a:avLst/>
          </a:prstGeom>
          <a:solidFill>
            <a:srgbClr val="B84C65">
              <a:alpha val="45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8570214" y="2103120"/>
            <a:ext cx="235458" cy="1908455"/>
          </a:xfrm>
          <a:prstGeom prst="rect">
            <a:avLst/>
          </a:prstGeom>
          <a:solidFill>
            <a:srgbClr val="B84C65">
              <a:alpha val="45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8796528" y="2103120"/>
            <a:ext cx="235458" cy="1908455"/>
          </a:xfrm>
          <a:prstGeom prst="rect">
            <a:avLst/>
          </a:prstGeom>
          <a:solidFill>
            <a:srgbClr val="B84C65">
              <a:alpha val="45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9022842" y="2103120"/>
            <a:ext cx="235458" cy="1908455"/>
          </a:xfrm>
          <a:prstGeom prst="rect">
            <a:avLst/>
          </a:prstGeom>
          <a:solidFill>
            <a:srgbClr val="B84C65">
              <a:alpha val="45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9249156" y="2103120"/>
            <a:ext cx="235458" cy="1908455"/>
          </a:xfrm>
          <a:prstGeom prst="rect">
            <a:avLst/>
          </a:prstGeom>
          <a:solidFill>
            <a:srgbClr val="B84C65">
              <a:alpha val="45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9475470" y="2103120"/>
            <a:ext cx="235458" cy="1908455"/>
          </a:xfrm>
          <a:prstGeom prst="rect">
            <a:avLst/>
          </a:prstGeom>
          <a:solidFill>
            <a:srgbClr val="B84C65">
              <a:alpha val="45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9701784" y="2103120"/>
            <a:ext cx="235458" cy="1908455"/>
          </a:xfrm>
          <a:prstGeom prst="rect">
            <a:avLst/>
          </a:prstGeom>
          <a:solidFill>
            <a:srgbClr val="B84C65">
              <a:alpha val="45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9928098" y="2103120"/>
            <a:ext cx="235458" cy="1908455"/>
          </a:xfrm>
          <a:prstGeom prst="rect">
            <a:avLst/>
          </a:prstGeom>
          <a:solidFill>
            <a:srgbClr val="B84C65">
              <a:alpha val="45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10154412" y="2103120"/>
            <a:ext cx="235458" cy="1908455"/>
          </a:xfrm>
          <a:prstGeom prst="rect">
            <a:avLst/>
          </a:prstGeom>
          <a:solidFill>
            <a:srgbClr val="B84C65">
              <a:alpha val="45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10380726" y="2103120"/>
            <a:ext cx="235458" cy="1908455"/>
          </a:xfrm>
          <a:prstGeom prst="rect">
            <a:avLst/>
          </a:prstGeom>
          <a:solidFill>
            <a:srgbClr val="B84C65">
              <a:alpha val="45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1554480" y="4011575"/>
            <a:ext cx="235458" cy="923784"/>
          </a:xfrm>
          <a:prstGeom prst="rect">
            <a:avLst/>
          </a:prstGeom>
          <a:solidFill>
            <a:srgbClr val="8A7968">
              <a:alpha val="45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1780794" y="4011575"/>
            <a:ext cx="235458" cy="923784"/>
          </a:xfrm>
          <a:prstGeom prst="rect">
            <a:avLst/>
          </a:prstGeom>
          <a:solidFill>
            <a:srgbClr val="8A7968">
              <a:alpha val="45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2007108" y="4011575"/>
            <a:ext cx="235458" cy="923784"/>
          </a:xfrm>
          <a:prstGeom prst="rect">
            <a:avLst/>
          </a:prstGeom>
          <a:solidFill>
            <a:srgbClr val="8A7968">
              <a:alpha val="45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2233422" y="4011575"/>
            <a:ext cx="235458" cy="923784"/>
          </a:xfrm>
          <a:prstGeom prst="rect">
            <a:avLst/>
          </a:prstGeom>
          <a:solidFill>
            <a:srgbClr val="8A7968">
              <a:alpha val="45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2459736" y="4011575"/>
            <a:ext cx="235458" cy="923784"/>
          </a:xfrm>
          <a:prstGeom prst="rect">
            <a:avLst/>
          </a:prstGeom>
          <a:solidFill>
            <a:srgbClr val="8A7968">
              <a:alpha val="45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2686050" y="4011575"/>
            <a:ext cx="235458" cy="923784"/>
          </a:xfrm>
          <a:prstGeom prst="rect">
            <a:avLst/>
          </a:prstGeom>
          <a:solidFill>
            <a:srgbClr val="8A7968">
              <a:alpha val="45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2912364" y="4011575"/>
            <a:ext cx="235458" cy="923784"/>
          </a:xfrm>
          <a:prstGeom prst="rect">
            <a:avLst/>
          </a:prstGeom>
          <a:solidFill>
            <a:srgbClr val="8A7968">
              <a:alpha val="45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3138678" y="4011575"/>
            <a:ext cx="235458" cy="923784"/>
          </a:xfrm>
          <a:prstGeom prst="rect">
            <a:avLst/>
          </a:prstGeom>
          <a:solidFill>
            <a:srgbClr val="8A7968">
              <a:alpha val="45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3364992" y="4011575"/>
            <a:ext cx="235458" cy="923784"/>
          </a:xfrm>
          <a:prstGeom prst="rect">
            <a:avLst/>
          </a:prstGeom>
          <a:solidFill>
            <a:srgbClr val="8A7968">
              <a:alpha val="45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3591306" y="4011575"/>
            <a:ext cx="235458" cy="923784"/>
          </a:xfrm>
          <a:prstGeom prst="rect">
            <a:avLst/>
          </a:prstGeom>
          <a:solidFill>
            <a:srgbClr val="8A7968">
              <a:alpha val="45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3817620" y="4011575"/>
            <a:ext cx="235458" cy="923784"/>
          </a:xfrm>
          <a:prstGeom prst="rect">
            <a:avLst/>
          </a:prstGeom>
          <a:solidFill>
            <a:srgbClr val="8A7968">
              <a:alpha val="45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4043934" y="4011575"/>
            <a:ext cx="235458" cy="923784"/>
          </a:xfrm>
          <a:prstGeom prst="rect">
            <a:avLst/>
          </a:prstGeom>
          <a:solidFill>
            <a:srgbClr val="8A7968">
              <a:alpha val="45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4270248" y="4011575"/>
            <a:ext cx="235458" cy="923784"/>
          </a:xfrm>
          <a:prstGeom prst="rect">
            <a:avLst/>
          </a:prstGeom>
          <a:solidFill>
            <a:srgbClr val="8A7968">
              <a:alpha val="45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4496562" y="4011575"/>
            <a:ext cx="235458" cy="923784"/>
          </a:xfrm>
          <a:prstGeom prst="rect">
            <a:avLst/>
          </a:prstGeom>
          <a:solidFill>
            <a:srgbClr val="8A7968">
              <a:alpha val="45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4722876" y="4011575"/>
            <a:ext cx="235458" cy="923784"/>
          </a:xfrm>
          <a:prstGeom prst="rect">
            <a:avLst/>
          </a:prstGeom>
          <a:solidFill>
            <a:srgbClr val="8A7968">
              <a:alpha val="45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4949190" y="4011575"/>
            <a:ext cx="235458" cy="923784"/>
          </a:xfrm>
          <a:prstGeom prst="rect">
            <a:avLst/>
          </a:prstGeom>
          <a:solidFill>
            <a:srgbClr val="8A7968">
              <a:alpha val="45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5175504" y="4011575"/>
            <a:ext cx="235458" cy="923784"/>
          </a:xfrm>
          <a:prstGeom prst="rect">
            <a:avLst/>
          </a:prstGeom>
          <a:solidFill>
            <a:srgbClr val="8A7968">
              <a:alpha val="45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5401818" y="4011575"/>
            <a:ext cx="235458" cy="923784"/>
          </a:xfrm>
          <a:prstGeom prst="rect">
            <a:avLst/>
          </a:prstGeom>
          <a:solidFill>
            <a:srgbClr val="8A7968">
              <a:alpha val="45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5628132" y="4011575"/>
            <a:ext cx="235458" cy="923784"/>
          </a:xfrm>
          <a:prstGeom prst="rect">
            <a:avLst/>
          </a:prstGeom>
          <a:solidFill>
            <a:srgbClr val="8A7968">
              <a:alpha val="45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5854446" y="4011575"/>
            <a:ext cx="235458" cy="923784"/>
          </a:xfrm>
          <a:prstGeom prst="rect">
            <a:avLst/>
          </a:prstGeom>
          <a:solidFill>
            <a:srgbClr val="8A7968">
              <a:alpha val="45000"/>
            </a:srgbClr>
          </a:solidFill>
          <a:ln/>
        </p:spPr>
      </p:sp>
      <p:sp>
        <p:nvSpPr>
          <p:cNvPr id="73" name="Shape 71"/>
          <p:cNvSpPr/>
          <p:nvPr/>
        </p:nvSpPr>
        <p:spPr>
          <a:xfrm>
            <a:off x="6080760" y="4011575"/>
            <a:ext cx="235458" cy="923784"/>
          </a:xfrm>
          <a:prstGeom prst="rect">
            <a:avLst/>
          </a:prstGeom>
          <a:solidFill>
            <a:srgbClr val="8A7968">
              <a:alpha val="45000"/>
            </a:srgbClr>
          </a:solidFill>
          <a:ln/>
        </p:spPr>
      </p:sp>
      <p:sp>
        <p:nvSpPr>
          <p:cNvPr id="74" name="Shape 72"/>
          <p:cNvSpPr/>
          <p:nvPr/>
        </p:nvSpPr>
        <p:spPr>
          <a:xfrm>
            <a:off x="6307074" y="4011575"/>
            <a:ext cx="235458" cy="923784"/>
          </a:xfrm>
          <a:prstGeom prst="rect">
            <a:avLst/>
          </a:prstGeom>
          <a:solidFill>
            <a:srgbClr val="8A7968">
              <a:alpha val="45000"/>
            </a:srgbClr>
          </a:solidFill>
          <a:ln/>
        </p:spPr>
      </p:sp>
      <p:sp>
        <p:nvSpPr>
          <p:cNvPr id="75" name="Shape 73"/>
          <p:cNvSpPr/>
          <p:nvPr/>
        </p:nvSpPr>
        <p:spPr>
          <a:xfrm>
            <a:off x="6533388" y="4011575"/>
            <a:ext cx="235458" cy="923784"/>
          </a:xfrm>
          <a:prstGeom prst="rect">
            <a:avLst/>
          </a:prstGeom>
          <a:solidFill>
            <a:srgbClr val="8A7968">
              <a:alpha val="45000"/>
            </a:srgbClr>
          </a:solidFill>
          <a:ln/>
        </p:spPr>
      </p:sp>
      <p:sp>
        <p:nvSpPr>
          <p:cNvPr id="76" name="Shape 74"/>
          <p:cNvSpPr/>
          <p:nvPr/>
        </p:nvSpPr>
        <p:spPr>
          <a:xfrm>
            <a:off x="6759702" y="4011575"/>
            <a:ext cx="235458" cy="923784"/>
          </a:xfrm>
          <a:prstGeom prst="rect">
            <a:avLst/>
          </a:prstGeom>
          <a:solidFill>
            <a:srgbClr val="8A7968">
              <a:alpha val="45000"/>
            </a:srgbClr>
          </a:solidFill>
          <a:ln/>
        </p:spPr>
      </p:sp>
      <p:sp>
        <p:nvSpPr>
          <p:cNvPr id="77" name="Shape 75"/>
          <p:cNvSpPr/>
          <p:nvPr/>
        </p:nvSpPr>
        <p:spPr>
          <a:xfrm>
            <a:off x="6986016" y="4011575"/>
            <a:ext cx="235458" cy="923784"/>
          </a:xfrm>
          <a:prstGeom prst="rect">
            <a:avLst/>
          </a:prstGeom>
          <a:solidFill>
            <a:srgbClr val="8A7968">
              <a:alpha val="45000"/>
            </a:srgbClr>
          </a:solidFill>
          <a:ln/>
        </p:spPr>
      </p:sp>
      <p:sp>
        <p:nvSpPr>
          <p:cNvPr id="78" name="Shape 76"/>
          <p:cNvSpPr/>
          <p:nvPr/>
        </p:nvSpPr>
        <p:spPr>
          <a:xfrm>
            <a:off x="7212330" y="4011575"/>
            <a:ext cx="235458" cy="923784"/>
          </a:xfrm>
          <a:prstGeom prst="rect">
            <a:avLst/>
          </a:prstGeom>
          <a:solidFill>
            <a:srgbClr val="8A7968">
              <a:alpha val="45000"/>
            </a:srgbClr>
          </a:solidFill>
          <a:ln/>
        </p:spPr>
      </p:sp>
      <p:sp>
        <p:nvSpPr>
          <p:cNvPr id="79" name="Shape 77"/>
          <p:cNvSpPr/>
          <p:nvPr/>
        </p:nvSpPr>
        <p:spPr>
          <a:xfrm>
            <a:off x="7438644" y="4011575"/>
            <a:ext cx="235458" cy="923784"/>
          </a:xfrm>
          <a:prstGeom prst="rect">
            <a:avLst/>
          </a:prstGeom>
          <a:solidFill>
            <a:srgbClr val="8A7968">
              <a:alpha val="45000"/>
            </a:srgbClr>
          </a:solidFill>
          <a:ln/>
        </p:spPr>
      </p:sp>
      <p:sp>
        <p:nvSpPr>
          <p:cNvPr id="80" name="Shape 78"/>
          <p:cNvSpPr/>
          <p:nvPr/>
        </p:nvSpPr>
        <p:spPr>
          <a:xfrm>
            <a:off x="7664958" y="4011575"/>
            <a:ext cx="235458" cy="923784"/>
          </a:xfrm>
          <a:prstGeom prst="rect">
            <a:avLst/>
          </a:prstGeom>
          <a:solidFill>
            <a:srgbClr val="8A7968">
              <a:alpha val="45000"/>
            </a:srgbClr>
          </a:solidFill>
          <a:ln/>
        </p:spPr>
      </p:sp>
      <p:sp>
        <p:nvSpPr>
          <p:cNvPr id="81" name="Shape 79"/>
          <p:cNvSpPr/>
          <p:nvPr/>
        </p:nvSpPr>
        <p:spPr>
          <a:xfrm>
            <a:off x="7891272" y="4011575"/>
            <a:ext cx="235458" cy="923784"/>
          </a:xfrm>
          <a:prstGeom prst="rect">
            <a:avLst/>
          </a:prstGeom>
          <a:solidFill>
            <a:srgbClr val="8A7968">
              <a:alpha val="45000"/>
            </a:srgbClr>
          </a:solidFill>
          <a:ln/>
        </p:spPr>
      </p:sp>
      <p:sp>
        <p:nvSpPr>
          <p:cNvPr id="82" name="Shape 80"/>
          <p:cNvSpPr/>
          <p:nvPr/>
        </p:nvSpPr>
        <p:spPr>
          <a:xfrm>
            <a:off x="8117586" y="4011575"/>
            <a:ext cx="235458" cy="923784"/>
          </a:xfrm>
          <a:prstGeom prst="rect">
            <a:avLst/>
          </a:prstGeom>
          <a:solidFill>
            <a:srgbClr val="8A7968">
              <a:alpha val="45000"/>
            </a:srgbClr>
          </a:solidFill>
          <a:ln/>
        </p:spPr>
      </p:sp>
      <p:sp>
        <p:nvSpPr>
          <p:cNvPr id="83" name="Shape 81"/>
          <p:cNvSpPr/>
          <p:nvPr/>
        </p:nvSpPr>
        <p:spPr>
          <a:xfrm>
            <a:off x="8343900" y="4011575"/>
            <a:ext cx="235458" cy="923784"/>
          </a:xfrm>
          <a:prstGeom prst="rect">
            <a:avLst/>
          </a:prstGeom>
          <a:solidFill>
            <a:srgbClr val="8A7968">
              <a:alpha val="45000"/>
            </a:srgbClr>
          </a:solidFill>
          <a:ln/>
        </p:spPr>
      </p:sp>
      <p:sp>
        <p:nvSpPr>
          <p:cNvPr id="84" name="Shape 82"/>
          <p:cNvSpPr/>
          <p:nvPr/>
        </p:nvSpPr>
        <p:spPr>
          <a:xfrm>
            <a:off x="8570214" y="4011575"/>
            <a:ext cx="235458" cy="923784"/>
          </a:xfrm>
          <a:prstGeom prst="rect">
            <a:avLst/>
          </a:prstGeom>
          <a:solidFill>
            <a:srgbClr val="8A7968">
              <a:alpha val="45000"/>
            </a:srgbClr>
          </a:solidFill>
          <a:ln/>
        </p:spPr>
      </p:sp>
      <p:sp>
        <p:nvSpPr>
          <p:cNvPr id="85" name="Shape 83"/>
          <p:cNvSpPr/>
          <p:nvPr/>
        </p:nvSpPr>
        <p:spPr>
          <a:xfrm>
            <a:off x="8796528" y="4011575"/>
            <a:ext cx="235458" cy="923784"/>
          </a:xfrm>
          <a:prstGeom prst="rect">
            <a:avLst/>
          </a:prstGeom>
          <a:solidFill>
            <a:srgbClr val="8A7968">
              <a:alpha val="45000"/>
            </a:srgbClr>
          </a:solidFill>
          <a:ln/>
        </p:spPr>
      </p:sp>
      <p:sp>
        <p:nvSpPr>
          <p:cNvPr id="86" name="Shape 84"/>
          <p:cNvSpPr/>
          <p:nvPr/>
        </p:nvSpPr>
        <p:spPr>
          <a:xfrm>
            <a:off x="9022842" y="4011575"/>
            <a:ext cx="235458" cy="923784"/>
          </a:xfrm>
          <a:prstGeom prst="rect">
            <a:avLst/>
          </a:prstGeom>
          <a:solidFill>
            <a:srgbClr val="8A7968">
              <a:alpha val="45000"/>
            </a:srgbClr>
          </a:solidFill>
          <a:ln/>
        </p:spPr>
      </p:sp>
      <p:sp>
        <p:nvSpPr>
          <p:cNvPr id="87" name="Shape 85"/>
          <p:cNvSpPr/>
          <p:nvPr/>
        </p:nvSpPr>
        <p:spPr>
          <a:xfrm>
            <a:off x="9249156" y="4011575"/>
            <a:ext cx="235458" cy="923784"/>
          </a:xfrm>
          <a:prstGeom prst="rect">
            <a:avLst/>
          </a:prstGeom>
          <a:solidFill>
            <a:srgbClr val="8A7968">
              <a:alpha val="45000"/>
            </a:srgbClr>
          </a:solidFill>
          <a:ln/>
        </p:spPr>
      </p:sp>
      <p:sp>
        <p:nvSpPr>
          <p:cNvPr id="88" name="Shape 86"/>
          <p:cNvSpPr/>
          <p:nvPr/>
        </p:nvSpPr>
        <p:spPr>
          <a:xfrm>
            <a:off x="9475470" y="4011575"/>
            <a:ext cx="235458" cy="923784"/>
          </a:xfrm>
          <a:prstGeom prst="rect">
            <a:avLst/>
          </a:prstGeom>
          <a:solidFill>
            <a:srgbClr val="8A7968">
              <a:alpha val="45000"/>
            </a:srgbClr>
          </a:solidFill>
          <a:ln/>
        </p:spPr>
      </p:sp>
      <p:sp>
        <p:nvSpPr>
          <p:cNvPr id="89" name="Shape 87"/>
          <p:cNvSpPr/>
          <p:nvPr/>
        </p:nvSpPr>
        <p:spPr>
          <a:xfrm>
            <a:off x="9701784" y="4011575"/>
            <a:ext cx="235458" cy="923784"/>
          </a:xfrm>
          <a:prstGeom prst="rect">
            <a:avLst/>
          </a:prstGeom>
          <a:solidFill>
            <a:srgbClr val="8A7968">
              <a:alpha val="45000"/>
            </a:srgbClr>
          </a:solidFill>
          <a:ln/>
        </p:spPr>
      </p:sp>
      <p:sp>
        <p:nvSpPr>
          <p:cNvPr id="90" name="Shape 88"/>
          <p:cNvSpPr/>
          <p:nvPr/>
        </p:nvSpPr>
        <p:spPr>
          <a:xfrm>
            <a:off x="9928098" y="4011575"/>
            <a:ext cx="235458" cy="923784"/>
          </a:xfrm>
          <a:prstGeom prst="rect">
            <a:avLst/>
          </a:prstGeom>
          <a:solidFill>
            <a:srgbClr val="8A7968">
              <a:alpha val="45000"/>
            </a:srgbClr>
          </a:solidFill>
          <a:ln/>
        </p:spPr>
      </p:sp>
      <p:sp>
        <p:nvSpPr>
          <p:cNvPr id="91" name="Shape 89"/>
          <p:cNvSpPr/>
          <p:nvPr/>
        </p:nvSpPr>
        <p:spPr>
          <a:xfrm>
            <a:off x="10154412" y="4011575"/>
            <a:ext cx="235458" cy="923784"/>
          </a:xfrm>
          <a:prstGeom prst="rect">
            <a:avLst/>
          </a:prstGeom>
          <a:solidFill>
            <a:srgbClr val="8A7968">
              <a:alpha val="45000"/>
            </a:srgbClr>
          </a:solidFill>
          <a:ln/>
        </p:spPr>
      </p:sp>
      <p:sp>
        <p:nvSpPr>
          <p:cNvPr id="92" name="Shape 90"/>
          <p:cNvSpPr/>
          <p:nvPr/>
        </p:nvSpPr>
        <p:spPr>
          <a:xfrm>
            <a:off x="10380726" y="4011575"/>
            <a:ext cx="235458" cy="923784"/>
          </a:xfrm>
          <a:prstGeom prst="rect">
            <a:avLst/>
          </a:prstGeom>
          <a:solidFill>
            <a:srgbClr val="8A7968">
              <a:alpha val="45000"/>
            </a:srgbClr>
          </a:solidFill>
          <a:ln/>
        </p:spPr>
      </p:sp>
      <p:sp>
        <p:nvSpPr>
          <p:cNvPr id="93" name="Shape 91"/>
          <p:cNvSpPr/>
          <p:nvPr/>
        </p:nvSpPr>
        <p:spPr>
          <a:xfrm>
            <a:off x="1554480" y="4935359"/>
            <a:ext cx="235458" cy="1008241"/>
          </a:xfrm>
          <a:prstGeom prst="rect">
            <a:avLst/>
          </a:prstGeom>
          <a:solidFill>
            <a:srgbClr val="2D5F7C">
              <a:alpha val="45000"/>
            </a:srgbClr>
          </a:solidFill>
          <a:ln/>
        </p:spPr>
      </p:sp>
      <p:sp>
        <p:nvSpPr>
          <p:cNvPr id="94" name="Shape 92"/>
          <p:cNvSpPr/>
          <p:nvPr/>
        </p:nvSpPr>
        <p:spPr>
          <a:xfrm>
            <a:off x="1780794" y="4935359"/>
            <a:ext cx="235458" cy="1008241"/>
          </a:xfrm>
          <a:prstGeom prst="rect">
            <a:avLst/>
          </a:prstGeom>
          <a:solidFill>
            <a:srgbClr val="2D5F7C">
              <a:alpha val="45000"/>
            </a:srgbClr>
          </a:solidFill>
          <a:ln/>
        </p:spPr>
      </p:sp>
      <p:sp>
        <p:nvSpPr>
          <p:cNvPr id="95" name="Shape 93"/>
          <p:cNvSpPr/>
          <p:nvPr/>
        </p:nvSpPr>
        <p:spPr>
          <a:xfrm>
            <a:off x="2007108" y="4935359"/>
            <a:ext cx="235458" cy="1008241"/>
          </a:xfrm>
          <a:prstGeom prst="rect">
            <a:avLst/>
          </a:prstGeom>
          <a:solidFill>
            <a:srgbClr val="2D5F7C">
              <a:alpha val="45000"/>
            </a:srgbClr>
          </a:solidFill>
          <a:ln/>
        </p:spPr>
      </p:sp>
      <p:sp>
        <p:nvSpPr>
          <p:cNvPr id="96" name="Shape 94"/>
          <p:cNvSpPr/>
          <p:nvPr/>
        </p:nvSpPr>
        <p:spPr>
          <a:xfrm>
            <a:off x="2233422" y="4935359"/>
            <a:ext cx="235458" cy="1008241"/>
          </a:xfrm>
          <a:prstGeom prst="rect">
            <a:avLst/>
          </a:prstGeom>
          <a:solidFill>
            <a:srgbClr val="2D5F7C">
              <a:alpha val="45000"/>
            </a:srgbClr>
          </a:solidFill>
          <a:ln/>
        </p:spPr>
      </p:sp>
      <p:sp>
        <p:nvSpPr>
          <p:cNvPr id="97" name="Shape 95"/>
          <p:cNvSpPr/>
          <p:nvPr/>
        </p:nvSpPr>
        <p:spPr>
          <a:xfrm>
            <a:off x="2459736" y="4935359"/>
            <a:ext cx="235458" cy="1008241"/>
          </a:xfrm>
          <a:prstGeom prst="rect">
            <a:avLst/>
          </a:prstGeom>
          <a:solidFill>
            <a:srgbClr val="2D5F7C">
              <a:alpha val="45000"/>
            </a:srgbClr>
          </a:solidFill>
          <a:ln/>
        </p:spPr>
      </p:sp>
      <p:sp>
        <p:nvSpPr>
          <p:cNvPr id="98" name="Shape 96"/>
          <p:cNvSpPr/>
          <p:nvPr/>
        </p:nvSpPr>
        <p:spPr>
          <a:xfrm>
            <a:off x="2686050" y="4935359"/>
            <a:ext cx="235458" cy="1008241"/>
          </a:xfrm>
          <a:prstGeom prst="rect">
            <a:avLst/>
          </a:prstGeom>
          <a:solidFill>
            <a:srgbClr val="2D5F7C">
              <a:alpha val="45000"/>
            </a:srgbClr>
          </a:solidFill>
          <a:ln/>
        </p:spPr>
      </p:sp>
      <p:sp>
        <p:nvSpPr>
          <p:cNvPr id="99" name="Shape 97"/>
          <p:cNvSpPr/>
          <p:nvPr/>
        </p:nvSpPr>
        <p:spPr>
          <a:xfrm>
            <a:off x="2912364" y="4935359"/>
            <a:ext cx="235458" cy="1008241"/>
          </a:xfrm>
          <a:prstGeom prst="rect">
            <a:avLst/>
          </a:prstGeom>
          <a:solidFill>
            <a:srgbClr val="2D5F7C">
              <a:alpha val="45000"/>
            </a:srgbClr>
          </a:solidFill>
          <a:ln/>
        </p:spPr>
      </p:sp>
      <p:sp>
        <p:nvSpPr>
          <p:cNvPr id="100" name="Shape 98"/>
          <p:cNvSpPr/>
          <p:nvPr/>
        </p:nvSpPr>
        <p:spPr>
          <a:xfrm>
            <a:off x="3138678" y="4935359"/>
            <a:ext cx="235458" cy="1008241"/>
          </a:xfrm>
          <a:prstGeom prst="rect">
            <a:avLst/>
          </a:prstGeom>
          <a:solidFill>
            <a:srgbClr val="2D5F7C">
              <a:alpha val="45000"/>
            </a:srgbClr>
          </a:solidFill>
          <a:ln/>
        </p:spPr>
      </p:sp>
      <p:sp>
        <p:nvSpPr>
          <p:cNvPr id="101" name="Shape 99"/>
          <p:cNvSpPr/>
          <p:nvPr/>
        </p:nvSpPr>
        <p:spPr>
          <a:xfrm>
            <a:off x="3364992" y="4935359"/>
            <a:ext cx="235458" cy="1008241"/>
          </a:xfrm>
          <a:prstGeom prst="rect">
            <a:avLst/>
          </a:prstGeom>
          <a:solidFill>
            <a:srgbClr val="2D5F7C">
              <a:alpha val="45000"/>
            </a:srgbClr>
          </a:solidFill>
          <a:ln/>
        </p:spPr>
      </p:sp>
      <p:sp>
        <p:nvSpPr>
          <p:cNvPr id="102" name="Shape 100"/>
          <p:cNvSpPr/>
          <p:nvPr/>
        </p:nvSpPr>
        <p:spPr>
          <a:xfrm>
            <a:off x="3591306" y="4935359"/>
            <a:ext cx="235458" cy="1008241"/>
          </a:xfrm>
          <a:prstGeom prst="rect">
            <a:avLst/>
          </a:prstGeom>
          <a:solidFill>
            <a:srgbClr val="2D5F7C">
              <a:alpha val="45000"/>
            </a:srgbClr>
          </a:solidFill>
          <a:ln/>
        </p:spPr>
      </p:sp>
      <p:sp>
        <p:nvSpPr>
          <p:cNvPr id="103" name="Shape 101"/>
          <p:cNvSpPr/>
          <p:nvPr/>
        </p:nvSpPr>
        <p:spPr>
          <a:xfrm>
            <a:off x="3817620" y="4935359"/>
            <a:ext cx="235458" cy="1008241"/>
          </a:xfrm>
          <a:prstGeom prst="rect">
            <a:avLst/>
          </a:prstGeom>
          <a:solidFill>
            <a:srgbClr val="2D5F7C">
              <a:alpha val="45000"/>
            </a:srgbClr>
          </a:solidFill>
          <a:ln/>
        </p:spPr>
      </p:sp>
      <p:sp>
        <p:nvSpPr>
          <p:cNvPr id="104" name="Shape 102"/>
          <p:cNvSpPr/>
          <p:nvPr/>
        </p:nvSpPr>
        <p:spPr>
          <a:xfrm>
            <a:off x="4043934" y="4935359"/>
            <a:ext cx="235458" cy="1008241"/>
          </a:xfrm>
          <a:prstGeom prst="rect">
            <a:avLst/>
          </a:prstGeom>
          <a:solidFill>
            <a:srgbClr val="2D5F7C">
              <a:alpha val="45000"/>
            </a:srgbClr>
          </a:solidFill>
          <a:ln/>
        </p:spPr>
      </p:sp>
      <p:sp>
        <p:nvSpPr>
          <p:cNvPr id="105" name="Shape 103"/>
          <p:cNvSpPr/>
          <p:nvPr/>
        </p:nvSpPr>
        <p:spPr>
          <a:xfrm>
            <a:off x="4270248" y="4935359"/>
            <a:ext cx="235458" cy="1008241"/>
          </a:xfrm>
          <a:prstGeom prst="rect">
            <a:avLst/>
          </a:prstGeom>
          <a:solidFill>
            <a:srgbClr val="2D5F7C">
              <a:alpha val="45000"/>
            </a:srgbClr>
          </a:solidFill>
          <a:ln/>
        </p:spPr>
      </p:sp>
      <p:sp>
        <p:nvSpPr>
          <p:cNvPr id="106" name="Shape 104"/>
          <p:cNvSpPr/>
          <p:nvPr/>
        </p:nvSpPr>
        <p:spPr>
          <a:xfrm>
            <a:off x="4496562" y="4935359"/>
            <a:ext cx="235458" cy="1008241"/>
          </a:xfrm>
          <a:prstGeom prst="rect">
            <a:avLst/>
          </a:prstGeom>
          <a:solidFill>
            <a:srgbClr val="2D5F7C">
              <a:alpha val="45000"/>
            </a:srgbClr>
          </a:solidFill>
          <a:ln/>
        </p:spPr>
      </p:sp>
      <p:sp>
        <p:nvSpPr>
          <p:cNvPr id="107" name="Shape 105"/>
          <p:cNvSpPr/>
          <p:nvPr/>
        </p:nvSpPr>
        <p:spPr>
          <a:xfrm>
            <a:off x="4722876" y="4935359"/>
            <a:ext cx="235458" cy="1008241"/>
          </a:xfrm>
          <a:prstGeom prst="rect">
            <a:avLst/>
          </a:prstGeom>
          <a:solidFill>
            <a:srgbClr val="2D5F7C">
              <a:alpha val="45000"/>
            </a:srgbClr>
          </a:solidFill>
          <a:ln/>
        </p:spPr>
      </p:sp>
      <p:sp>
        <p:nvSpPr>
          <p:cNvPr id="108" name="Shape 106"/>
          <p:cNvSpPr/>
          <p:nvPr/>
        </p:nvSpPr>
        <p:spPr>
          <a:xfrm>
            <a:off x="4949190" y="4935359"/>
            <a:ext cx="235458" cy="1008241"/>
          </a:xfrm>
          <a:prstGeom prst="rect">
            <a:avLst/>
          </a:prstGeom>
          <a:solidFill>
            <a:srgbClr val="2D5F7C">
              <a:alpha val="45000"/>
            </a:srgbClr>
          </a:solidFill>
          <a:ln/>
        </p:spPr>
      </p:sp>
      <p:sp>
        <p:nvSpPr>
          <p:cNvPr id="109" name="Shape 107"/>
          <p:cNvSpPr/>
          <p:nvPr/>
        </p:nvSpPr>
        <p:spPr>
          <a:xfrm>
            <a:off x="5175504" y="4935359"/>
            <a:ext cx="235458" cy="1008241"/>
          </a:xfrm>
          <a:prstGeom prst="rect">
            <a:avLst/>
          </a:prstGeom>
          <a:solidFill>
            <a:srgbClr val="2D5F7C">
              <a:alpha val="45000"/>
            </a:srgbClr>
          </a:solidFill>
          <a:ln/>
        </p:spPr>
      </p:sp>
      <p:sp>
        <p:nvSpPr>
          <p:cNvPr id="110" name="Shape 108"/>
          <p:cNvSpPr/>
          <p:nvPr/>
        </p:nvSpPr>
        <p:spPr>
          <a:xfrm>
            <a:off x="5401818" y="4935359"/>
            <a:ext cx="235458" cy="1008241"/>
          </a:xfrm>
          <a:prstGeom prst="rect">
            <a:avLst/>
          </a:prstGeom>
          <a:solidFill>
            <a:srgbClr val="2D5F7C">
              <a:alpha val="45000"/>
            </a:srgbClr>
          </a:solidFill>
          <a:ln/>
        </p:spPr>
      </p:sp>
      <p:sp>
        <p:nvSpPr>
          <p:cNvPr id="111" name="Shape 109"/>
          <p:cNvSpPr/>
          <p:nvPr/>
        </p:nvSpPr>
        <p:spPr>
          <a:xfrm>
            <a:off x="5628132" y="4935359"/>
            <a:ext cx="235458" cy="1008241"/>
          </a:xfrm>
          <a:prstGeom prst="rect">
            <a:avLst/>
          </a:prstGeom>
          <a:solidFill>
            <a:srgbClr val="2D5F7C">
              <a:alpha val="45000"/>
            </a:srgbClr>
          </a:solidFill>
          <a:ln/>
        </p:spPr>
      </p:sp>
      <p:sp>
        <p:nvSpPr>
          <p:cNvPr id="112" name="Shape 110"/>
          <p:cNvSpPr/>
          <p:nvPr/>
        </p:nvSpPr>
        <p:spPr>
          <a:xfrm>
            <a:off x="5854446" y="4935359"/>
            <a:ext cx="235458" cy="1008241"/>
          </a:xfrm>
          <a:prstGeom prst="rect">
            <a:avLst/>
          </a:prstGeom>
          <a:solidFill>
            <a:srgbClr val="2D5F7C">
              <a:alpha val="45000"/>
            </a:srgbClr>
          </a:solidFill>
          <a:ln/>
        </p:spPr>
      </p:sp>
      <p:sp>
        <p:nvSpPr>
          <p:cNvPr id="113" name="Shape 111"/>
          <p:cNvSpPr/>
          <p:nvPr/>
        </p:nvSpPr>
        <p:spPr>
          <a:xfrm>
            <a:off x="6080760" y="4935359"/>
            <a:ext cx="235458" cy="1008241"/>
          </a:xfrm>
          <a:prstGeom prst="rect">
            <a:avLst/>
          </a:prstGeom>
          <a:solidFill>
            <a:srgbClr val="2D5F7C">
              <a:alpha val="45000"/>
            </a:srgbClr>
          </a:solidFill>
          <a:ln/>
        </p:spPr>
      </p:sp>
      <p:sp>
        <p:nvSpPr>
          <p:cNvPr id="114" name="Shape 112"/>
          <p:cNvSpPr/>
          <p:nvPr/>
        </p:nvSpPr>
        <p:spPr>
          <a:xfrm>
            <a:off x="6307074" y="4935359"/>
            <a:ext cx="235458" cy="1008241"/>
          </a:xfrm>
          <a:prstGeom prst="rect">
            <a:avLst/>
          </a:prstGeom>
          <a:solidFill>
            <a:srgbClr val="2D5F7C">
              <a:alpha val="45000"/>
            </a:srgbClr>
          </a:solidFill>
          <a:ln/>
        </p:spPr>
      </p:sp>
      <p:sp>
        <p:nvSpPr>
          <p:cNvPr id="115" name="Shape 113"/>
          <p:cNvSpPr/>
          <p:nvPr/>
        </p:nvSpPr>
        <p:spPr>
          <a:xfrm>
            <a:off x="6533388" y="4935359"/>
            <a:ext cx="235458" cy="1008241"/>
          </a:xfrm>
          <a:prstGeom prst="rect">
            <a:avLst/>
          </a:prstGeom>
          <a:solidFill>
            <a:srgbClr val="2D5F7C">
              <a:alpha val="45000"/>
            </a:srgbClr>
          </a:solidFill>
          <a:ln/>
        </p:spPr>
      </p:sp>
      <p:sp>
        <p:nvSpPr>
          <p:cNvPr id="116" name="Shape 114"/>
          <p:cNvSpPr/>
          <p:nvPr/>
        </p:nvSpPr>
        <p:spPr>
          <a:xfrm>
            <a:off x="6759702" y="4935359"/>
            <a:ext cx="235458" cy="1008241"/>
          </a:xfrm>
          <a:prstGeom prst="rect">
            <a:avLst/>
          </a:prstGeom>
          <a:solidFill>
            <a:srgbClr val="2D5F7C">
              <a:alpha val="45000"/>
            </a:srgbClr>
          </a:solidFill>
          <a:ln/>
        </p:spPr>
      </p:sp>
      <p:sp>
        <p:nvSpPr>
          <p:cNvPr id="117" name="Shape 115"/>
          <p:cNvSpPr/>
          <p:nvPr/>
        </p:nvSpPr>
        <p:spPr>
          <a:xfrm>
            <a:off x="6986016" y="4935359"/>
            <a:ext cx="235458" cy="1008241"/>
          </a:xfrm>
          <a:prstGeom prst="rect">
            <a:avLst/>
          </a:prstGeom>
          <a:solidFill>
            <a:srgbClr val="2D5F7C">
              <a:alpha val="45000"/>
            </a:srgbClr>
          </a:solidFill>
          <a:ln/>
        </p:spPr>
      </p:sp>
      <p:sp>
        <p:nvSpPr>
          <p:cNvPr id="118" name="Shape 116"/>
          <p:cNvSpPr/>
          <p:nvPr/>
        </p:nvSpPr>
        <p:spPr>
          <a:xfrm>
            <a:off x="7212330" y="4935359"/>
            <a:ext cx="235458" cy="1008241"/>
          </a:xfrm>
          <a:prstGeom prst="rect">
            <a:avLst/>
          </a:prstGeom>
          <a:solidFill>
            <a:srgbClr val="2D5F7C">
              <a:alpha val="45000"/>
            </a:srgbClr>
          </a:solidFill>
          <a:ln/>
        </p:spPr>
      </p:sp>
      <p:sp>
        <p:nvSpPr>
          <p:cNvPr id="119" name="Shape 117"/>
          <p:cNvSpPr/>
          <p:nvPr/>
        </p:nvSpPr>
        <p:spPr>
          <a:xfrm>
            <a:off x="7438644" y="4935359"/>
            <a:ext cx="235458" cy="1008241"/>
          </a:xfrm>
          <a:prstGeom prst="rect">
            <a:avLst/>
          </a:prstGeom>
          <a:solidFill>
            <a:srgbClr val="2D5F7C">
              <a:alpha val="45000"/>
            </a:srgbClr>
          </a:solidFill>
          <a:ln/>
        </p:spPr>
      </p:sp>
      <p:sp>
        <p:nvSpPr>
          <p:cNvPr id="120" name="Shape 118"/>
          <p:cNvSpPr/>
          <p:nvPr/>
        </p:nvSpPr>
        <p:spPr>
          <a:xfrm>
            <a:off x="7664958" y="4935359"/>
            <a:ext cx="235458" cy="1008241"/>
          </a:xfrm>
          <a:prstGeom prst="rect">
            <a:avLst/>
          </a:prstGeom>
          <a:solidFill>
            <a:srgbClr val="2D5F7C">
              <a:alpha val="45000"/>
            </a:srgbClr>
          </a:solidFill>
          <a:ln/>
        </p:spPr>
      </p:sp>
      <p:sp>
        <p:nvSpPr>
          <p:cNvPr id="121" name="Shape 119"/>
          <p:cNvSpPr/>
          <p:nvPr/>
        </p:nvSpPr>
        <p:spPr>
          <a:xfrm>
            <a:off x="7891272" y="4935359"/>
            <a:ext cx="235458" cy="1008241"/>
          </a:xfrm>
          <a:prstGeom prst="rect">
            <a:avLst/>
          </a:prstGeom>
          <a:solidFill>
            <a:srgbClr val="2D5F7C">
              <a:alpha val="45000"/>
            </a:srgbClr>
          </a:solidFill>
          <a:ln/>
        </p:spPr>
      </p:sp>
      <p:sp>
        <p:nvSpPr>
          <p:cNvPr id="122" name="Shape 120"/>
          <p:cNvSpPr/>
          <p:nvPr/>
        </p:nvSpPr>
        <p:spPr>
          <a:xfrm>
            <a:off x="8117586" y="4935359"/>
            <a:ext cx="235458" cy="1008241"/>
          </a:xfrm>
          <a:prstGeom prst="rect">
            <a:avLst/>
          </a:prstGeom>
          <a:solidFill>
            <a:srgbClr val="2D5F7C">
              <a:alpha val="45000"/>
            </a:srgbClr>
          </a:solidFill>
          <a:ln/>
        </p:spPr>
      </p:sp>
      <p:sp>
        <p:nvSpPr>
          <p:cNvPr id="123" name="Shape 121"/>
          <p:cNvSpPr/>
          <p:nvPr/>
        </p:nvSpPr>
        <p:spPr>
          <a:xfrm>
            <a:off x="8343900" y="4935359"/>
            <a:ext cx="235458" cy="1008241"/>
          </a:xfrm>
          <a:prstGeom prst="rect">
            <a:avLst/>
          </a:prstGeom>
          <a:solidFill>
            <a:srgbClr val="2D5F7C">
              <a:alpha val="45000"/>
            </a:srgbClr>
          </a:solidFill>
          <a:ln/>
        </p:spPr>
      </p:sp>
      <p:sp>
        <p:nvSpPr>
          <p:cNvPr id="124" name="Shape 122"/>
          <p:cNvSpPr/>
          <p:nvPr/>
        </p:nvSpPr>
        <p:spPr>
          <a:xfrm>
            <a:off x="8570214" y="4935359"/>
            <a:ext cx="235458" cy="1008241"/>
          </a:xfrm>
          <a:prstGeom prst="rect">
            <a:avLst/>
          </a:prstGeom>
          <a:solidFill>
            <a:srgbClr val="2D5F7C">
              <a:alpha val="45000"/>
            </a:srgbClr>
          </a:solidFill>
          <a:ln/>
        </p:spPr>
      </p:sp>
      <p:sp>
        <p:nvSpPr>
          <p:cNvPr id="125" name="Shape 123"/>
          <p:cNvSpPr/>
          <p:nvPr/>
        </p:nvSpPr>
        <p:spPr>
          <a:xfrm>
            <a:off x="8796528" y="4935359"/>
            <a:ext cx="235458" cy="1008241"/>
          </a:xfrm>
          <a:prstGeom prst="rect">
            <a:avLst/>
          </a:prstGeom>
          <a:solidFill>
            <a:srgbClr val="2D5F7C">
              <a:alpha val="45000"/>
            </a:srgbClr>
          </a:solidFill>
          <a:ln/>
        </p:spPr>
      </p:sp>
      <p:sp>
        <p:nvSpPr>
          <p:cNvPr id="126" name="Shape 124"/>
          <p:cNvSpPr/>
          <p:nvPr/>
        </p:nvSpPr>
        <p:spPr>
          <a:xfrm>
            <a:off x="9022842" y="4935359"/>
            <a:ext cx="235458" cy="1008241"/>
          </a:xfrm>
          <a:prstGeom prst="rect">
            <a:avLst/>
          </a:prstGeom>
          <a:solidFill>
            <a:srgbClr val="2D5F7C">
              <a:alpha val="45000"/>
            </a:srgbClr>
          </a:solidFill>
          <a:ln/>
        </p:spPr>
      </p:sp>
      <p:sp>
        <p:nvSpPr>
          <p:cNvPr id="127" name="Shape 125"/>
          <p:cNvSpPr/>
          <p:nvPr/>
        </p:nvSpPr>
        <p:spPr>
          <a:xfrm>
            <a:off x="9249156" y="4935359"/>
            <a:ext cx="235458" cy="1008241"/>
          </a:xfrm>
          <a:prstGeom prst="rect">
            <a:avLst/>
          </a:prstGeom>
          <a:solidFill>
            <a:srgbClr val="2D5F7C">
              <a:alpha val="45000"/>
            </a:srgbClr>
          </a:solidFill>
          <a:ln/>
        </p:spPr>
      </p:sp>
      <p:sp>
        <p:nvSpPr>
          <p:cNvPr id="128" name="Shape 126"/>
          <p:cNvSpPr/>
          <p:nvPr/>
        </p:nvSpPr>
        <p:spPr>
          <a:xfrm>
            <a:off x="9475470" y="4935359"/>
            <a:ext cx="235458" cy="1008241"/>
          </a:xfrm>
          <a:prstGeom prst="rect">
            <a:avLst/>
          </a:prstGeom>
          <a:solidFill>
            <a:srgbClr val="2D5F7C">
              <a:alpha val="45000"/>
            </a:srgbClr>
          </a:solidFill>
          <a:ln/>
        </p:spPr>
      </p:sp>
      <p:sp>
        <p:nvSpPr>
          <p:cNvPr id="129" name="Shape 127"/>
          <p:cNvSpPr/>
          <p:nvPr/>
        </p:nvSpPr>
        <p:spPr>
          <a:xfrm>
            <a:off x="9701784" y="4935359"/>
            <a:ext cx="235458" cy="1008241"/>
          </a:xfrm>
          <a:prstGeom prst="rect">
            <a:avLst/>
          </a:prstGeom>
          <a:solidFill>
            <a:srgbClr val="2D5F7C">
              <a:alpha val="45000"/>
            </a:srgbClr>
          </a:solidFill>
          <a:ln/>
        </p:spPr>
      </p:sp>
      <p:sp>
        <p:nvSpPr>
          <p:cNvPr id="130" name="Shape 128"/>
          <p:cNvSpPr/>
          <p:nvPr/>
        </p:nvSpPr>
        <p:spPr>
          <a:xfrm>
            <a:off x="9928098" y="4935359"/>
            <a:ext cx="235458" cy="1008241"/>
          </a:xfrm>
          <a:prstGeom prst="rect">
            <a:avLst/>
          </a:prstGeom>
          <a:solidFill>
            <a:srgbClr val="2D5F7C">
              <a:alpha val="45000"/>
            </a:srgbClr>
          </a:solidFill>
          <a:ln/>
        </p:spPr>
      </p:sp>
      <p:sp>
        <p:nvSpPr>
          <p:cNvPr id="131" name="Shape 129"/>
          <p:cNvSpPr/>
          <p:nvPr/>
        </p:nvSpPr>
        <p:spPr>
          <a:xfrm>
            <a:off x="10154412" y="4935359"/>
            <a:ext cx="235458" cy="1008241"/>
          </a:xfrm>
          <a:prstGeom prst="rect">
            <a:avLst/>
          </a:prstGeom>
          <a:solidFill>
            <a:srgbClr val="2D5F7C">
              <a:alpha val="45000"/>
            </a:srgbClr>
          </a:solidFill>
          <a:ln/>
        </p:spPr>
      </p:sp>
      <p:sp>
        <p:nvSpPr>
          <p:cNvPr id="132" name="Shape 130"/>
          <p:cNvSpPr/>
          <p:nvPr/>
        </p:nvSpPr>
        <p:spPr>
          <a:xfrm>
            <a:off x="10380726" y="4935359"/>
            <a:ext cx="235458" cy="1008241"/>
          </a:xfrm>
          <a:prstGeom prst="rect">
            <a:avLst/>
          </a:prstGeom>
          <a:solidFill>
            <a:srgbClr val="2D5F7C">
              <a:alpha val="45000"/>
            </a:srgbClr>
          </a:solidFill>
          <a:ln/>
        </p:spPr>
      </p:sp>
      <p:sp>
        <p:nvSpPr>
          <p:cNvPr id="133" name="Text 131"/>
          <p:cNvSpPr/>
          <p:nvPr/>
        </p:nvSpPr>
        <p:spPr>
          <a:xfrm>
            <a:off x="548640" y="617220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every $100 of 2035 revenue: $50 covers cost of services, $24 covers opex, $26 lands as EBITDA.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HEATMAP  ·  ESCAPE-HATCH (SHAPES)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Practice × year revenue, intensity-coded.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× 11 grid of cells. Fill color interpolated linearly between light and STEEL based on $M revenue. Values printed in each cell. Native PPT has no heatmap type.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645920" y="2103120"/>
            <a:ext cx="900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546188" y="2103120"/>
            <a:ext cx="900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46457" y="2103120"/>
            <a:ext cx="900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346725" y="2103120"/>
            <a:ext cx="900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246993" y="2103120"/>
            <a:ext cx="900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2029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147262" y="2103120"/>
            <a:ext cx="900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047530" y="2103120"/>
            <a:ext cx="900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947799" y="2103120"/>
            <a:ext cx="900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848067" y="2103120"/>
            <a:ext cx="900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9748335" y="2103120"/>
            <a:ext cx="900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2034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648604" y="2103120"/>
            <a:ext cx="900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2035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40080" y="2359152"/>
            <a:ext cx="914400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645920" y="2359152"/>
            <a:ext cx="900268" cy="1072896"/>
          </a:xfrm>
          <a:prstGeom prst="rect">
            <a:avLst/>
          </a:prstGeom>
          <a:solidFill>
            <a:srgbClr val="C5C9C8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645920" y="2359152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$9.2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546188" y="2359152"/>
            <a:ext cx="900268" cy="1072896"/>
          </a:xfrm>
          <a:prstGeom prst="rect">
            <a:avLst/>
          </a:prstGeom>
          <a:solidFill>
            <a:srgbClr val="C5C9C8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46188" y="2359152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$9.2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446457" y="2359152"/>
            <a:ext cx="900268" cy="1072896"/>
          </a:xfrm>
          <a:prstGeom prst="rect">
            <a:avLst/>
          </a:prstGeom>
          <a:solidFill>
            <a:srgbClr val="D0D1CF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46457" y="2359152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$8.3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346725" y="2359152"/>
            <a:ext cx="900268" cy="1072896"/>
          </a:xfrm>
          <a:prstGeom prst="rect">
            <a:avLst/>
          </a:prstGeom>
          <a:solidFill>
            <a:srgbClr val="B3BDC0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346725" y="2359152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$10.5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246993" y="2359152"/>
            <a:ext cx="900268" cy="1072896"/>
          </a:xfrm>
          <a:prstGeom prst="rect">
            <a:avLst/>
          </a:prstGeom>
          <a:solidFill>
            <a:srgbClr val="BAC1C3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246993" y="2359152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$10.0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147262" y="2359152"/>
            <a:ext cx="900268" cy="1072896"/>
          </a:xfrm>
          <a:prstGeom prst="rect">
            <a:avLst/>
          </a:prstGeom>
          <a:solidFill>
            <a:srgbClr val="879EAA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47262" y="2359152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$13.8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047530" y="2359152"/>
            <a:ext cx="900268" cy="1072896"/>
          </a:xfrm>
          <a:prstGeom prst="rect">
            <a:avLst/>
          </a:prstGeom>
          <a:solidFill>
            <a:srgbClr val="93A7B0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47530" y="2359152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$12.9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7947799" y="2359152"/>
            <a:ext cx="900268" cy="1072896"/>
          </a:xfrm>
          <a:prstGeom prst="rect">
            <a:avLst/>
          </a:prstGeom>
          <a:solidFill>
            <a:srgbClr val="7793A2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947799" y="2359152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$15.0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8848067" y="2359152"/>
            <a:ext cx="900268" cy="1072896"/>
          </a:xfrm>
          <a:prstGeom prst="rect">
            <a:avLst/>
          </a:prstGeom>
          <a:solidFill>
            <a:srgbClr val="557B90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848067" y="2359152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$17.6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9748335" y="2359152"/>
            <a:ext cx="900268" cy="1072896"/>
          </a:xfrm>
          <a:prstGeom prst="rect">
            <a:avLst/>
          </a:prstGeom>
          <a:solidFill>
            <a:srgbClr val="49738A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748335" y="2359152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$18.5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10648604" y="2359152"/>
            <a:ext cx="900268" cy="1072896"/>
          </a:xfrm>
          <a:prstGeom prst="rect">
            <a:avLst/>
          </a:prstGeom>
          <a:solidFill>
            <a:srgbClr val="4E768D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648604" y="2359152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$18.1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0080" y="3432048"/>
            <a:ext cx="914400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645920" y="3432048"/>
            <a:ext cx="900268" cy="1072896"/>
          </a:xfrm>
          <a:prstGeom prst="rect">
            <a:avLst/>
          </a:prstGeom>
          <a:solidFill>
            <a:srgbClr val="C7CBCA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645920" y="3432048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$9.0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546188" y="3432048"/>
            <a:ext cx="900268" cy="1072896"/>
          </a:xfrm>
          <a:prstGeom prst="rect">
            <a:avLst/>
          </a:prstGeom>
          <a:solidFill>
            <a:srgbClr val="DBD9D4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546188" y="3432048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$7.5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446457" y="3432048"/>
            <a:ext cx="900268" cy="1072896"/>
          </a:xfrm>
          <a:prstGeom prst="rect">
            <a:avLst/>
          </a:prstGeom>
          <a:solidFill>
            <a:srgbClr val="DEDBD5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446457" y="3432048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$7.3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346725" y="3432048"/>
            <a:ext cx="900268" cy="1072896"/>
          </a:xfrm>
          <a:prstGeom prst="rect">
            <a:avLst/>
          </a:prstGeom>
          <a:solidFill>
            <a:srgbClr val="D0D1CF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346725" y="3432048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$8.3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46993" y="3432048"/>
            <a:ext cx="900268" cy="1072896"/>
          </a:xfrm>
          <a:prstGeom prst="rect">
            <a:avLst/>
          </a:prstGeom>
          <a:solidFill>
            <a:srgbClr val="FBEFE4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46993" y="3432048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$5.1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147262" y="3432048"/>
            <a:ext cx="900268" cy="1072896"/>
          </a:xfrm>
          <a:prstGeom prst="rect">
            <a:avLst/>
          </a:prstGeom>
          <a:solidFill>
            <a:srgbClr val="BDC3C4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147262" y="3432048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$9.8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047530" y="3432048"/>
            <a:ext cx="900268" cy="1072896"/>
          </a:xfrm>
          <a:prstGeom prst="rect">
            <a:avLst/>
          </a:prstGeom>
          <a:solidFill>
            <a:srgbClr val="8EA3AD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047530" y="3432048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$13.3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947799" y="3432048"/>
            <a:ext cx="900268" cy="1072896"/>
          </a:xfrm>
          <a:prstGeom prst="rect">
            <a:avLst/>
          </a:prstGeom>
          <a:solidFill>
            <a:srgbClr val="608295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947799" y="3432048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$16.8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8848067" y="3432048"/>
            <a:ext cx="900268" cy="1072896"/>
          </a:xfrm>
          <a:prstGeom prst="rect">
            <a:avLst/>
          </a:prstGeom>
          <a:solidFill>
            <a:srgbClr val="4C748B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848067" y="3432048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$18.3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9748335" y="3432048"/>
            <a:ext cx="900268" cy="1072896"/>
          </a:xfrm>
          <a:prstGeom prst="rect">
            <a:avLst/>
          </a:prstGeom>
          <a:solidFill>
            <a:srgbClr val="4A738B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748335" y="3432048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$18.4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10648604" y="3432048"/>
            <a:ext cx="900268" cy="1072896"/>
          </a:xfrm>
          <a:prstGeom prst="rect">
            <a:avLst/>
          </a:prstGeom>
          <a:solidFill>
            <a:srgbClr val="2D5F7C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648604" y="3432048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$20.6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640080" y="4504944"/>
            <a:ext cx="914400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1645920" y="4504944"/>
            <a:ext cx="900268" cy="1072896"/>
          </a:xfrm>
          <a:prstGeom prst="rect">
            <a:avLst/>
          </a:prstGeom>
          <a:solidFill>
            <a:srgbClr val="EFE7DE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645920" y="4504944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$6.0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2546188" y="4504944"/>
            <a:ext cx="900268" cy="1072896"/>
          </a:xfrm>
          <a:prstGeom prst="rect">
            <a:avLst/>
          </a:prstGeom>
          <a:solidFill>
            <a:srgbClr val="F3E9E0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2546188" y="4504944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$5.7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3446457" y="4504944"/>
            <a:ext cx="900268" cy="1072896"/>
          </a:xfrm>
          <a:prstGeom prst="rect">
            <a:avLst/>
          </a:prstGeom>
          <a:solidFill>
            <a:srgbClr val="E7E1DA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446457" y="4504944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$6.6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4346725" y="4504944"/>
            <a:ext cx="900268" cy="1072896"/>
          </a:xfrm>
          <a:prstGeom prst="rect">
            <a:avLst/>
          </a:prstGeom>
          <a:solidFill>
            <a:srgbClr val="E4DFD9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346725" y="4504944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$6.8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5246993" y="4504944"/>
            <a:ext cx="900268" cy="1072896"/>
          </a:xfrm>
          <a:prstGeom prst="rect">
            <a:avLst/>
          </a:prstGeom>
          <a:solidFill>
            <a:srgbClr val="B7C0C2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246993" y="4504944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$10.2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6147262" y="4504944"/>
            <a:ext cx="900268" cy="1072896"/>
          </a:xfrm>
          <a:prstGeom prst="rect">
            <a:avLst/>
          </a:prstGeom>
          <a:solidFill>
            <a:srgbClr val="B2BCBF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47262" y="4504944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$10.6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7047530" y="4504944"/>
            <a:ext cx="900268" cy="1072896"/>
          </a:xfrm>
          <a:prstGeom prst="rect">
            <a:avLst/>
          </a:prstGeom>
          <a:solidFill>
            <a:srgbClr val="7D97A4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047530" y="4504944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$14.6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7947799" y="4504944"/>
            <a:ext cx="900268" cy="1072896"/>
          </a:xfrm>
          <a:prstGeom prst="rect">
            <a:avLst/>
          </a:prstGeom>
          <a:solidFill>
            <a:srgbClr val="6A8A9B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7947799" y="4504944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$16.0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8848067" y="4504944"/>
            <a:ext cx="900268" cy="1072896"/>
          </a:xfrm>
          <a:prstGeom prst="rect">
            <a:avLst/>
          </a:prstGeom>
          <a:solidFill>
            <a:srgbClr val="7591A0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8848067" y="4504944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$15.2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9748335" y="4504944"/>
            <a:ext cx="900268" cy="1072896"/>
          </a:xfrm>
          <a:prstGeom prst="rect">
            <a:avLst/>
          </a:prstGeom>
          <a:solidFill>
            <a:srgbClr val="426E87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9748335" y="4504944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$19.0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10648604" y="4504944"/>
            <a:ext cx="900268" cy="1072896"/>
          </a:xfrm>
          <a:prstGeom prst="rect">
            <a:avLst/>
          </a:prstGeom>
          <a:solidFill>
            <a:srgbClr val="366681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10648604" y="4504944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$19.9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914400" y="5760720"/>
            <a:ext cx="96012" cy="182880"/>
          </a:xfrm>
          <a:prstGeom prst="rect">
            <a:avLst/>
          </a:prstGeom>
          <a:solidFill>
            <a:srgbClr val="FBEFE4"/>
          </a:solidFill>
          <a:ln/>
        </p:spPr>
      </p:sp>
      <p:sp>
        <p:nvSpPr>
          <p:cNvPr id="86" name="Shape 84"/>
          <p:cNvSpPr/>
          <p:nvPr/>
        </p:nvSpPr>
        <p:spPr>
          <a:xfrm>
            <a:off x="1005840" y="5760720"/>
            <a:ext cx="96012" cy="182880"/>
          </a:xfrm>
          <a:prstGeom prst="rect">
            <a:avLst/>
          </a:prstGeom>
          <a:solidFill>
            <a:srgbClr val="F6EBE1"/>
          </a:solidFill>
          <a:ln/>
        </p:spPr>
      </p:sp>
      <p:sp>
        <p:nvSpPr>
          <p:cNvPr id="87" name="Shape 85"/>
          <p:cNvSpPr/>
          <p:nvPr/>
        </p:nvSpPr>
        <p:spPr>
          <a:xfrm>
            <a:off x="1097280" y="5760720"/>
            <a:ext cx="96012" cy="182880"/>
          </a:xfrm>
          <a:prstGeom prst="rect">
            <a:avLst/>
          </a:prstGeom>
          <a:solidFill>
            <a:srgbClr val="F0E8DF"/>
          </a:solidFill>
          <a:ln/>
        </p:spPr>
      </p:sp>
      <p:sp>
        <p:nvSpPr>
          <p:cNvPr id="88" name="Shape 86"/>
          <p:cNvSpPr/>
          <p:nvPr/>
        </p:nvSpPr>
        <p:spPr>
          <a:xfrm>
            <a:off x="1188720" y="5760720"/>
            <a:ext cx="96012" cy="182880"/>
          </a:xfrm>
          <a:prstGeom prst="rect">
            <a:avLst/>
          </a:prstGeom>
          <a:solidFill>
            <a:srgbClr val="EBE4DC"/>
          </a:solidFill>
          <a:ln/>
        </p:spPr>
      </p:sp>
      <p:sp>
        <p:nvSpPr>
          <p:cNvPr id="89" name="Shape 87"/>
          <p:cNvSpPr/>
          <p:nvPr/>
        </p:nvSpPr>
        <p:spPr>
          <a:xfrm>
            <a:off x="1280160" y="5760720"/>
            <a:ext cx="96012" cy="182880"/>
          </a:xfrm>
          <a:prstGeom prst="rect">
            <a:avLst/>
          </a:prstGeom>
          <a:solidFill>
            <a:srgbClr val="E6E0D9"/>
          </a:solidFill>
          <a:ln/>
        </p:spPr>
      </p:sp>
      <p:sp>
        <p:nvSpPr>
          <p:cNvPr id="90" name="Shape 88"/>
          <p:cNvSpPr/>
          <p:nvPr/>
        </p:nvSpPr>
        <p:spPr>
          <a:xfrm>
            <a:off x="1371600" y="5760720"/>
            <a:ext cx="96012" cy="182880"/>
          </a:xfrm>
          <a:prstGeom prst="rect">
            <a:avLst/>
          </a:prstGeom>
          <a:solidFill>
            <a:srgbClr val="E1DDD7"/>
          </a:solidFill>
          <a:ln/>
        </p:spPr>
      </p:sp>
      <p:sp>
        <p:nvSpPr>
          <p:cNvPr id="91" name="Shape 89"/>
          <p:cNvSpPr/>
          <p:nvPr/>
        </p:nvSpPr>
        <p:spPr>
          <a:xfrm>
            <a:off x="1463040" y="5760720"/>
            <a:ext cx="96012" cy="182880"/>
          </a:xfrm>
          <a:prstGeom prst="rect">
            <a:avLst/>
          </a:prstGeom>
          <a:solidFill>
            <a:srgbClr val="DBD9D4"/>
          </a:solidFill>
          <a:ln/>
        </p:spPr>
      </p:sp>
      <p:sp>
        <p:nvSpPr>
          <p:cNvPr id="92" name="Shape 90"/>
          <p:cNvSpPr/>
          <p:nvPr/>
        </p:nvSpPr>
        <p:spPr>
          <a:xfrm>
            <a:off x="1554480" y="5760720"/>
            <a:ext cx="96012" cy="182880"/>
          </a:xfrm>
          <a:prstGeom prst="rect">
            <a:avLst/>
          </a:prstGeom>
          <a:solidFill>
            <a:srgbClr val="D6D5D1"/>
          </a:solidFill>
          <a:ln/>
        </p:spPr>
      </p:sp>
      <p:sp>
        <p:nvSpPr>
          <p:cNvPr id="93" name="Shape 91"/>
          <p:cNvSpPr/>
          <p:nvPr/>
        </p:nvSpPr>
        <p:spPr>
          <a:xfrm>
            <a:off x="1645920" y="5760720"/>
            <a:ext cx="96012" cy="182880"/>
          </a:xfrm>
          <a:prstGeom prst="rect">
            <a:avLst/>
          </a:prstGeom>
          <a:solidFill>
            <a:srgbClr val="D1D1CF"/>
          </a:solidFill>
          <a:ln/>
        </p:spPr>
      </p:sp>
      <p:sp>
        <p:nvSpPr>
          <p:cNvPr id="94" name="Shape 92"/>
          <p:cNvSpPr/>
          <p:nvPr/>
        </p:nvSpPr>
        <p:spPr>
          <a:xfrm>
            <a:off x="1737360" y="5760720"/>
            <a:ext cx="96012" cy="182880"/>
          </a:xfrm>
          <a:prstGeom prst="rect">
            <a:avLst/>
          </a:prstGeom>
          <a:solidFill>
            <a:srgbClr val="CBCECC"/>
          </a:solidFill>
          <a:ln/>
        </p:spPr>
      </p:sp>
      <p:sp>
        <p:nvSpPr>
          <p:cNvPr id="95" name="Shape 93"/>
          <p:cNvSpPr/>
          <p:nvPr/>
        </p:nvSpPr>
        <p:spPr>
          <a:xfrm>
            <a:off x="1828800" y="5760720"/>
            <a:ext cx="96012" cy="182880"/>
          </a:xfrm>
          <a:prstGeom prst="rect">
            <a:avLst/>
          </a:prstGeom>
          <a:solidFill>
            <a:srgbClr val="C6CAC9"/>
          </a:solidFill>
          <a:ln/>
        </p:spPr>
      </p:sp>
      <p:sp>
        <p:nvSpPr>
          <p:cNvPr id="96" name="Shape 94"/>
          <p:cNvSpPr/>
          <p:nvPr/>
        </p:nvSpPr>
        <p:spPr>
          <a:xfrm>
            <a:off x="1920240" y="5760720"/>
            <a:ext cx="96012" cy="182880"/>
          </a:xfrm>
          <a:prstGeom prst="rect">
            <a:avLst/>
          </a:prstGeom>
          <a:solidFill>
            <a:srgbClr val="C1C6C7"/>
          </a:solidFill>
          <a:ln/>
        </p:spPr>
      </p:sp>
      <p:sp>
        <p:nvSpPr>
          <p:cNvPr id="97" name="Shape 95"/>
          <p:cNvSpPr/>
          <p:nvPr/>
        </p:nvSpPr>
        <p:spPr>
          <a:xfrm>
            <a:off x="2011680" y="5760720"/>
            <a:ext cx="96012" cy="182880"/>
          </a:xfrm>
          <a:prstGeom prst="rect">
            <a:avLst/>
          </a:prstGeom>
          <a:solidFill>
            <a:srgbClr val="BCC3C4"/>
          </a:solidFill>
          <a:ln/>
        </p:spPr>
      </p:sp>
      <p:sp>
        <p:nvSpPr>
          <p:cNvPr id="98" name="Shape 96"/>
          <p:cNvSpPr/>
          <p:nvPr/>
        </p:nvSpPr>
        <p:spPr>
          <a:xfrm>
            <a:off x="2103120" y="5760720"/>
            <a:ext cx="96012" cy="182880"/>
          </a:xfrm>
          <a:prstGeom prst="rect">
            <a:avLst/>
          </a:prstGeom>
          <a:solidFill>
            <a:srgbClr val="B6BFC1"/>
          </a:solidFill>
          <a:ln/>
        </p:spPr>
      </p:sp>
      <p:sp>
        <p:nvSpPr>
          <p:cNvPr id="99" name="Shape 97"/>
          <p:cNvSpPr/>
          <p:nvPr/>
        </p:nvSpPr>
        <p:spPr>
          <a:xfrm>
            <a:off x="2194560" y="5760720"/>
            <a:ext cx="96012" cy="182880"/>
          </a:xfrm>
          <a:prstGeom prst="rect">
            <a:avLst/>
          </a:prstGeom>
          <a:solidFill>
            <a:srgbClr val="B1BBBF"/>
          </a:solidFill>
          <a:ln/>
        </p:spPr>
      </p:sp>
      <p:sp>
        <p:nvSpPr>
          <p:cNvPr id="100" name="Shape 98"/>
          <p:cNvSpPr/>
          <p:nvPr/>
        </p:nvSpPr>
        <p:spPr>
          <a:xfrm>
            <a:off x="2286000" y="5760720"/>
            <a:ext cx="96012" cy="182880"/>
          </a:xfrm>
          <a:prstGeom prst="rect">
            <a:avLst/>
          </a:prstGeom>
          <a:solidFill>
            <a:srgbClr val="ACB8BC"/>
          </a:solidFill>
          <a:ln/>
        </p:spPr>
      </p:sp>
      <p:sp>
        <p:nvSpPr>
          <p:cNvPr id="101" name="Shape 99"/>
          <p:cNvSpPr/>
          <p:nvPr/>
        </p:nvSpPr>
        <p:spPr>
          <a:xfrm>
            <a:off x="2377440" y="5760720"/>
            <a:ext cx="96012" cy="182880"/>
          </a:xfrm>
          <a:prstGeom prst="rect">
            <a:avLst/>
          </a:prstGeom>
          <a:solidFill>
            <a:srgbClr val="A6B4B9"/>
          </a:solidFill>
          <a:ln/>
        </p:spPr>
      </p:sp>
      <p:sp>
        <p:nvSpPr>
          <p:cNvPr id="102" name="Shape 100"/>
          <p:cNvSpPr/>
          <p:nvPr/>
        </p:nvSpPr>
        <p:spPr>
          <a:xfrm>
            <a:off x="2468880" y="5760720"/>
            <a:ext cx="96012" cy="182880"/>
          </a:xfrm>
          <a:prstGeom prst="rect">
            <a:avLst/>
          </a:prstGeom>
          <a:solidFill>
            <a:srgbClr val="A1B0B7"/>
          </a:solidFill>
          <a:ln/>
        </p:spPr>
      </p:sp>
      <p:sp>
        <p:nvSpPr>
          <p:cNvPr id="103" name="Shape 101"/>
          <p:cNvSpPr/>
          <p:nvPr/>
        </p:nvSpPr>
        <p:spPr>
          <a:xfrm>
            <a:off x="2560320" y="5760720"/>
            <a:ext cx="96012" cy="182880"/>
          </a:xfrm>
          <a:prstGeom prst="rect">
            <a:avLst/>
          </a:prstGeom>
          <a:solidFill>
            <a:srgbClr val="9CADB4"/>
          </a:solidFill>
          <a:ln/>
        </p:spPr>
      </p:sp>
      <p:sp>
        <p:nvSpPr>
          <p:cNvPr id="104" name="Shape 102"/>
          <p:cNvSpPr/>
          <p:nvPr/>
        </p:nvSpPr>
        <p:spPr>
          <a:xfrm>
            <a:off x="2651760" y="5760720"/>
            <a:ext cx="96012" cy="182880"/>
          </a:xfrm>
          <a:prstGeom prst="rect">
            <a:avLst/>
          </a:prstGeom>
          <a:solidFill>
            <a:srgbClr val="97A9B1"/>
          </a:solidFill>
          <a:ln/>
        </p:spPr>
      </p:sp>
      <p:sp>
        <p:nvSpPr>
          <p:cNvPr id="105" name="Shape 103"/>
          <p:cNvSpPr/>
          <p:nvPr/>
        </p:nvSpPr>
        <p:spPr>
          <a:xfrm>
            <a:off x="2743200" y="5760720"/>
            <a:ext cx="96012" cy="182880"/>
          </a:xfrm>
          <a:prstGeom prst="rect">
            <a:avLst/>
          </a:prstGeom>
          <a:solidFill>
            <a:srgbClr val="91A5AF"/>
          </a:solidFill>
          <a:ln/>
        </p:spPr>
      </p:sp>
      <p:sp>
        <p:nvSpPr>
          <p:cNvPr id="106" name="Shape 104"/>
          <p:cNvSpPr/>
          <p:nvPr/>
        </p:nvSpPr>
        <p:spPr>
          <a:xfrm>
            <a:off x="2834640" y="5760720"/>
            <a:ext cx="96012" cy="182880"/>
          </a:xfrm>
          <a:prstGeom prst="rect">
            <a:avLst/>
          </a:prstGeom>
          <a:solidFill>
            <a:srgbClr val="8CA1A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2926080" y="5760720"/>
            <a:ext cx="96012" cy="182880"/>
          </a:xfrm>
          <a:prstGeom prst="rect">
            <a:avLst/>
          </a:prstGeom>
          <a:solidFill>
            <a:srgbClr val="879EA9"/>
          </a:solidFill>
          <a:ln/>
        </p:spPr>
      </p:sp>
      <p:sp>
        <p:nvSpPr>
          <p:cNvPr id="108" name="Shape 106"/>
          <p:cNvSpPr/>
          <p:nvPr/>
        </p:nvSpPr>
        <p:spPr>
          <a:xfrm>
            <a:off x="3017520" y="5760720"/>
            <a:ext cx="96012" cy="182880"/>
          </a:xfrm>
          <a:prstGeom prst="rect">
            <a:avLst/>
          </a:prstGeom>
          <a:solidFill>
            <a:srgbClr val="829AA7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108960" y="5760720"/>
            <a:ext cx="96012" cy="182880"/>
          </a:xfrm>
          <a:prstGeom prst="rect">
            <a:avLst/>
          </a:prstGeom>
          <a:solidFill>
            <a:srgbClr val="7C96A4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200400" y="5760720"/>
            <a:ext cx="96012" cy="182880"/>
          </a:xfrm>
          <a:prstGeom prst="rect">
            <a:avLst/>
          </a:prstGeom>
          <a:solidFill>
            <a:srgbClr val="7793A1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291840" y="5760720"/>
            <a:ext cx="96012" cy="182880"/>
          </a:xfrm>
          <a:prstGeom prst="rect">
            <a:avLst/>
          </a:prstGeom>
          <a:solidFill>
            <a:srgbClr val="728F9F"/>
          </a:solidFill>
          <a:ln/>
        </p:spPr>
      </p:sp>
      <p:sp>
        <p:nvSpPr>
          <p:cNvPr id="112" name="Shape 110"/>
          <p:cNvSpPr/>
          <p:nvPr/>
        </p:nvSpPr>
        <p:spPr>
          <a:xfrm>
            <a:off x="3383280" y="5760720"/>
            <a:ext cx="96012" cy="182880"/>
          </a:xfrm>
          <a:prstGeom prst="rect">
            <a:avLst/>
          </a:prstGeom>
          <a:solidFill>
            <a:srgbClr val="6C8B9C"/>
          </a:solidFill>
          <a:ln/>
        </p:spPr>
      </p:sp>
      <p:sp>
        <p:nvSpPr>
          <p:cNvPr id="113" name="Shape 111"/>
          <p:cNvSpPr/>
          <p:nvPr/>
        </p:nvSpPr>
        <p:spPr>
          <a:xfrm>
            <a:off x="3474720" y="5760720"/>
            <a:ext cx="96012" cy="182880"/>
          </a:xfrm>
          <a:prstGeom prst="rect">
            <a:avLst/>
          </a:prstGeom>
          <a:solidFill>
            <a:srgbClr val="678899"/>
          </a:solidFill>
          <a:ln/>
        </p:spPr>
      </p:sp>
      <p:sp>
        <p:nvSpPr>
          <p:cNvPr id="114" name="Shape 112"/>
          <p:cNvSpPr/>
          <p:nvPr/>
        </p:nvSpPr>
        <p:spPr>
          <a:xfrm>
            <a:off x="3566160" y="5760720"/>
            <a:ext cx="96012" cy="182880"/>
          </a:xfrm>
          <a:prstGeom prst="rect">
            <a:avLst/>
          </a:prstGeom>
          <a:solidFill>
            <a:srgbClr val="628497"/>
          </a:solidFill>
          <a:ln/>
        </p:spPr>
      </p:sp>
      <p:sp>
        <p:nvSpPr>
          <p:cNvPr id="115" name="Shape 113"/>
          <p:cNvSpPr/>
          <p:nvPr/>
        </p:nvSpPr>
        <p:spPr>
          <a:xfrm>
            <a:off x="3657600" y="5760720"/>
            <a:ext cx="96012" cy="182880"/>
          </a:xfrm>
          <a:prstGeom prst="rect">
            <a:avLst/>
          </a:prstGeom>
          <a:solidFill>
            <a:srgbClr val="5D8094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749040" y="5760720"/>
            <a:ext cx="96012" cy="182880"/>
          </a:xfrm>
          <a:prstGeom prst="rect">
            <a:avLst/>
          </a:prstGeom>
          <a:solidFill>
            <a:srgbClr val="577D91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840480" y="5760720"/>
            <a:ext cx="96012" cy="182880"/>
          </a:xfrm>
          <a:prstGeom prst="rect">
            <a:avLst/>
          </a:prstGeom>
          <a:solidFill>
            <a:srgbClr val="52798F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931920" y="5760720"/>
            <a:ext cx="96012" cy="182880"/>
          </a:xfrm>
          <a:prstGeom prst="rect">
            <a:avLst/>
          </a:prstGeom>
          <a:solidFill>
            <a:srgbClr val="4D758C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023360" y="5760720"/>
            <a:ext cx="96012" cy="182880"/>
          </a:xfrm>
          <a:prstGeom prst="rect">
            <a:avLst/>
          </a:prstGeom>
          <a:solidFill>
            <a:srgbClr val="477189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114800" y="5760720"/>
            <a:ext cx="96012" cy="182880"/>
          </a:xfrm>
          <a:prstGeom prst="rect">
            <a:avLst/>
          </a:prstGeom>
          <a:solidFill>
            <a:srgbClr val="426E87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206240" y="5760720"/>
            <a:ext cx="96012" cy="182880"/>
          </a:xfrm>
          <a:prstGeom prst="rect">
            <a:avLst/>
          </a:prstGeom>
          <a:solidFill>
            <a:srgbClr val="3D6A84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297680" y="5760720"/>
            <a:ext cx="96012" cy="182880"/>
          </a:xfrm>
          <a:prstGeom prst="rect">
            <a:avLst/>
          </a:prstGeom>
          <a:solidFill>
            <a:srgbClr val="38668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389120" y="5760720"/>
            <a:ext cx="96012" cy="182880"/>
          </a:xfrm>
          <a:prstGeom prst="rect">
            <a:avLst/>
          </a:prstGeom>
          <a:solidFill>
            <a:srgbClr val="32637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480560" y="5760720"/>
            <a:ext cx="96012" cy="182880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125" name="Text 123"/>
          <p:cNvSpPr/>
          <p:nvPr/>
        </p:nvSpPr>
        <p:spPr>
          <a:xfrm>
            <a:off x="914400" y="5980176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$M revenue</a:t>
            </a:r>
            <a:endParaRPr lang="en-US" sz="800" dirty="0"/>
          </a:p>
        </p:txBody>
      </p:sp>
      <p:sp>
        <p:nvSpPr>
          <p:cNvPr id="126" name="Text 124"/>
          <p:cNvSpPr/>
          <p:nvPr/>
        </p:nvSpPr>
        <p:spPr>
          <a:xfrm>
            <a:off x="3108960" y="5980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</a:t>
            </a:r>
            <a:endParaRPr lang="en-US" sz="800" dirty="0"/>
          </a:p>
        </p:txBody>
      </p:sp>
      <p:sp>
        <p:nvSpPr>
          <p:cNvPr id="127" name="Text 125"/>
          <p:cNvSpPr/>
          <p:nvPr/>
        </p:nvSpPr>
        <p:spPr>
          <a:xfrm>
            <a:off x="548640" y="626364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Scan across a row to see practice trajectory; scan down a column to see firm mix that year. The 2029 dent sits in the middle.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GAUGE / TACHOMETER  ·  ESCAPE-HATCH (SHAPES)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number, three zones, one needle.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Half-circle gauge with segment zones (red / amber / green) and a needle pointing to the current value. Built from pptxgenjs blockArc presets plus a rotated rectangle needle.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41198" y="2688336"/>
            <a:ext cx="3474720" cy="3474720"/>
          </a:xfrm>
          <a:prstGeom prst="blockArc">
            <a:avLst/>
          </a:prstGeom>
          <a:solidFill>
            <a:srgbClr val="B84C65"/>
          </a:solidFill>
          <a:ln/>
        </p:spPr>
      </p:sp>
      <p:sp>
        <p:nvSpPr>
          <p:cNvPr id="6" name="Shape 4"/>
          <p:cNvSpPr/>
          <p:nvPr/>
        </p:nvSpPr>
        <p:spPr>
          <a:xfrm rot="4860000">
            <a:off x="441198" y="2688336"/>
            <a:ext cx="3474720" cy="3474720"/>
          </a:xfrm>
          <a:prstGeom prst="blockArc">
            <a:avLst/>
          </a:prstGeom>
          <a:solidFill>
            <a:srgbClr val="C5A55A"/>
          </a:solidFill>
          <a:ln/>
        </p:spPr>
      </p:sp>
      <p:sp>
        <p:nvSpPr>
          <p:cNvPr id="7" name="Shape 5"/>
          <p:cNvSpPr/>
          <p:nvPr/>
        </p:nvSpPr>
        <p:spPr>
          <a:xfrm rot="8100000">
            <a:off x="441198" y="2688336"/>
            <a:ext cx="3474720" cy="3474720"/>
          </a:xfrm>
          <a:prstGeom prst="blockArc">
            <a:avLst/>
          </a:prstGeom>
          <a:solidFill>
            <a:srgbClr val="2D5F7C"/>
          </a:solidFill>
          <a:ln/>
        </p:spPr>
      </p:sp>
      <p:sp>
        <p:nvSpPr>
          <p:cNvPr id="8" name="Shape 6"/>
          <p:cNvSpPr/>
          <p:nvPr/>
        </p:nvSpPr>
        <p:spPr>
          <a:xfrm rot="-43200">
            <a:off x="2146554" y="2896819"/>
            <a:ext cx="64008" cy="1528877"/>
          </a:xfrm>
          <a:prstGeom prst="rect">
            <a:avLst/>
          </a:prstGeom>
          <a:solidFill>
            <a:srgbClr val="353745"/>
          </a:solidFill>
          <a:ln/>
        </p:spPr>
      </p:sp>
      <p:sp>
        <p:nvSpPr>
          <p:cNvPr id="9" name="Shape 7"/>
          <p:cNvSpPr/>
          <p:nvPr/>
        </p:nvSpPr>
        <p:spPr>
          <a:xfrm>
            <a:off x="2068830" y="4315968"/>
            <a:ext cx="219456" cy="219456"/>
          </a:xfrm>
          <a:prstGeom prst="ellipse">
            <a:avLst/>
          </a:prstGeom>
          <a:solidFill>
            <a:srgbClr val="353745"/>
          </a:solidFill>
          <a:ln/>
        </p:spPr>
      </p:sp>
      <p:sp>
        <p:nvSpPr>
          <p:cNvPr id="10" name="Text 8"/>
          <p:cNvSpPr/>
          <p:nvPr/>
        </p:nvSpPr>
        <p:spPr>
          <a:xfrm>
            <a:off x="1264158" y="4517136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67.6%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806958" y="50200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41198" y="53949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2035 actual · target 72%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57116" y="2688336"/>
            <a:ext cx="3474720" cy="3474720"/>
          </a:xfrm>
          <a:prstGeom prst="blockArc">
            <a:avLst/>
          </a:prstGeom>
          <a:solidFill>
            <a:srgbClr val="B84C65"/>
          </a:solidFill>
          <a:ln/>
        </p:spPr>
      </p:sp>
      <p:sp>
        <p:nvSpPr>
          <p:cNvPr id="14" name="Shape 12"/>
          <p:cNvSpPr/>
          <p:nvPr/>
        </p:nvSpPr>
        <p:spPr>
          <a:xfrm rot="3780000">
            <a:off x="4357116" y="2688336"/>
            <a:ext cx="3474720" cy="3474720"/>
          </a:xfrm>
          <a:prstGeom prst="blockArc">
            <a:avLst/>
          </a:prstGeom>
          <a:solidFill>
            <a:srgbClr val="C5A55A"/>
          </a:solidFill>
          <a:ln/>
        </p:spPr>
      </p:sp>
      <p:sp>
        <p:nvSpPr>
          <p:cNvPr id="15" name="Shape 13"/>
          <p:cNvSpPr/>
          <p:nvPr/>
        </p:nvSpPr>
        <p:spPr>
          <a:xfrm rot="7560000">
            <a:off x="4357116" y="2688336"/>
            <a:ext cx="3474720" cy="3474720"/>
          </a:xfrm>
          <a:prstGeom prst="blockArc">
            <a:avLst/>
          </a:prstGeom>
          <a:solidFill>
            <a:srgbClr val="2D5F7C"/>
          </a:solidFill>
          <a:ln/>
        </p:spPr>
      </p:sp>
      <p:sp>
        <p:nvSpPr>
          <p:cNvPr id="16" name="Shape 14"/>
          <p:cNvSpPr/>
          <p:nvPr/>
        </p:nvSpPr>
        <p:spPr>
          <a:xfrm rot="2916000">
            <a:off x="6062472" y="2896819"/>
            <a:ext cx="64008" cy="1528877"/>
          </a:xfrm>
          <a:prstGeom prst="rect">
            <a:avLst/>
          </a:prstGeom>
          <a:solidFill>
            <a:srgbClr val="353745"/>
          </a:solidFill>
          <a:ln/>
        </p:spPr>
      </p:sp>
      <p:sp>
        <p:nvSpPr>
          <p:cNvPr id="17" name="Shape 15"/>
          <p:cNvSpPr/>
          <p:nvPr/>
        </p:nvSpPr>
        <p:spPr>
          <a:xfrm>
            <a:off x="5984748" y="4315968"/>
            <a:ext cx="219456" cy="219456"/>
          </a:xfrm>
          <a:prstGeom prst="ellipse">
            <a:avLst/>
          </a:prstGeom>
          <a:solidFill>
            <a:srgbClr val="353745"/>
          </a:solidFill>
          <a:ln/>
        </p:spPr>
      </p:sp>
      <p:sp>
        <p:nvSpPr>
          <p:cNvPr id="18" name="Text 16"/>
          <p:cNvSpPr/>
          <p:nvPr/>
        </p:nvSpPr>
        <p:spPr>
          <a:xfrm>
            <a:off x="5180076" y="4517136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46.9%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4722876" y="50200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RATE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57116" y="53949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2035 actual · 10Y peak was 59.6%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273034" y="2688336"/>
            <a:ext cx="3474720" cy="3474720"/>
          </a:xfrm>
          <a:prstGeom prst="blockArc">
            <a:avLst/>
          </a:prstGeom>
          <a:solidFill>
            <a:srgbClr val="B84C65"/>
          </a:solidFill>
          <a:ln/>
        </p:spPr>
      </p:sp>
      <p:sp>
        <p:nvSpPr>
          <p:cNvPr id="22" name="Shape 20"/>
          <p:cNvSpPr/>
          <p:nvPr/>
        </p:nvSpPr>
        <p:spPr>
          <a:xfrm rot="4320000">
            <a:off x="8273034" y="2688336"/>
            <a:ext cx="3474720" cy="3474720"/>
          </a:xfrm>
          <a:prstGeom prst="blockArc">
            <a:avLst/>
          </a:prstGeom>
          <a:solidFill>
            <a:srgbClr val="C5A55A"/>
          </a:solidFill>
          <a:ln/>
        </p:spPr>
      </p:sp>
      <p:sp>
        <p:nvSpPr>
          <p:cNvPr id="23" name="Shape 21"/>
          <p:cNvSpPr/>
          <p:nvPr/>
        </p:nvSpPr>
        <p:spPr>
          <a:xfrm rot="8100000">
            <a:off x="8273034" y="2688336"/>
            <a:ext cx="3474720" cy="3474720"/>
          </a:xfrm>
          <a:prstGeom prst="blockArc">
            <a:avLst/>
          </a:prstGeom>
          <a:solidFill>
            <a:srgbClr val="2D5F7C"/>
          </a:solidFill>
          <a:ln/>
        </p:spPr>
      </p:sp>
      <p:sp>
        <p:nvSpPr>
          <p:cNvPr id="24" name="Shape 22"/>
          <p:cNvSpPr/>
          <p:nvPr/>
        </p:nvSpPr>
        <p:spPr>
          <a:xfrm rot="-1641600">
            <a:off x="9978390" y="2896819"/>
            <a:ext cx="64008" cy="1528877"/>
          </a:xfrm>
          <a:prstGeom prst="rect">
            <a:avLst/>
          </a:prstGeom>
          <a:solidFill>
            <a:srgbClr val="353745"/>
          </a:solidFill>
          <a:ln/>
        </p:spPr>
      </p:sp>
      <p:sp>
        <p:nvSpPr>
          <p:cNvPr id="25" name="Shape 23"/>
          <p:cNvSpPr/>
          <p:nvPr/>
        </p:nvSpPr>
        <p:spPr>
          <a:xfrm>
            <a:off x="9900666" y="4315968"/>
            <a:ext cx="219456" cy="219456"/>
          </a:xfrm>
          <a:prstGeom prst="ellipse">
            <a:avLst/>
          </a:prstGeom>
          <a:solidFill>
            <a:srgbClr val="353745"/>
          </a:solidFill>
          <a:ln/>
        </p:spPr>
      </p:sp>
      <p:sp>
        <p:nvSpPr>
          <p:cNvPr id="26" name="Text 24"/>
          <p:cNvSpPr/>
          <p:nvPr/>
        </p:nvSpPr>
        <p:spPr>
          <a:xfrm>
            <a:off x="9095994" y="4517136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26.3%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8638794" y="50200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 MARGIN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73034" y="53949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2035 actual · 10Y peak 33.4%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48640" y="60807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Gauges are dashboard grammar — strong at a glance, weak at precision. Use for single-number KPI cards, not for trend or composition stories.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Chart-type audit deck — Column + Waterfall</dc:title>
  <dc:subject>PptxGenJS Presentation</dc:subject>
  <dc:creator>Saperia Consulting</dc:creator>
  <cp:lastModifiedBy>Saperia Consulting</cp:lastModifiedBy>
  <cp:revision>1</cp:revision>
  <dcterms:created xsi:type="dcterms:W3CDTF">2026-04-20T22:24:16Z</dcterms:created>
  <dcterms:modified xsi:type="dcterms:W3CDTF">2026-04-20T22:24:16Z</dcterms:modified>
</cp:coreProperties>
</file>