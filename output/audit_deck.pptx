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5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4.69</c:v>
                </c:pt>
                <c:pt idx="2">
                  <c:v>4.32</c:v>
                </c:pt>
                <c:pt idx="3">
                  <c:v>4.32</c:v>
                </c:pt>
                <c:pt idx="4">
                  <c:v>3.87</c:v>
                </c:pt>
                <c:pt idx="5">
                  <c:v>3.87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Delta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6.53</c:v>
                </c:pt>
                <c:pt idx="1">
                  <c:v>1.8399999999999999</c:v>
                </c:pt>
                <c:pt idx="2">
                  <c:v>0.3700000000000001</c:v>
                </c:pt>
                <c:pt idx="3">
                  <c:v>1.87</c:v>
                </c:pt>
                <c:pt idx="4">
                  <c:v>2.3200000000000003</c:v>
                </c:pt>
                <c:pt idx="5">
                  <c:v>7.56</c:v>
                </c:pt>
                <c:pt idx="6">
                  <c:v>11.43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5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4.69</c:v>
                </c:pt>
                <c:pt idx="2">
                  <c:v>4.32</c:v>
                </c:pt>
                <c:pt idx="3">
                  <c:v>4.32</c:v>
                </c:pt>
                <c:pt idx="4">
                  <c:v>3.87</c:v>
                </c:pt>
                <c:pt idx="5">
                  <c:v>3.87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Delta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6.53</c:v>
                </c:pt>
                <c:pt idx="1">
                  <c:v>1.8399999999999999</c:v>
                </c:pt>
                <c:pt idx="2">
                  <c:v>0.3700000000000001</c:v>
                </c:pt>
                <c:pt idx="3">
                  <c:v>1.87</c:v>
                </c:pt>
                <c:pt idx="4">
                  <c:v>2.3200000000000003</c:v>
                </c:pt>
                <c:pt idx="5">
                  <c:v>7.56</c:v>
                </c:pt>
                <c:pt idx="6">
                  <c:v>11.43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2D5F7C"/>
            </a:solidFill>
            <a:ln w="317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1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18.11</c:v>
                </c:pt>
                <c:pt idx="1">
                  <c:v>20.61</c:v>
                </c:pt>
                <c:pt idx="2">
                  <c:v>19.94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2D5F7C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D5F7C"/>
              </a:solidFill>
              <a:ln w="12700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71.3</c:v>
                </c:pt>
                <c:pt idx="1">
                  <c:v>63.5</c:v>
                </c:pt>
                <c:pt idx="2">
                  <c:v>62.4</c:v>
                </c:pt>
                <c:pt idx="3">
                  <c:v>66</c:v>
                </c:pt>
                <c:pt idx="4">
                  <c:v>59.6</c:v>
                </c:pt>
                <c:pt idx="5">
                  <c:v>76.6</c:v>
                </c:pt>
                <c:pt idx="6">
                  <c:v>75.5</c:v>
                </c:pt>
                <c:pt idx="7">
                  <c:v>73.7</c:v>
                </c:pt>
                <c:pt idx="8">
                  <c:v>70.5</c:v>
                </c:pt>
                <c:pt idx="9">
                  <c:v>71</c:v>
                </c:pt>
                <c:pt idx="10">
                  <c:v>67.5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80"/>
          <c:min val="55"/>
        </c:scaling>
        <c:delete val="0"/>
        <c:axPos val="b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Utilization %</a:t>
                </a:r>
              </a:p>
            </c:rich>
          </c:tx>
          <c:layout/>
          <c:overlay val="0"/>
        </c:title>
        <c:numFmt formatCode="0&quot;%&quot;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5"/>
          <c:min val="1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</c:v>
                </c:pt>
              </c:strCache>
            </c:strRef>
          </c:tx>
          <c:spPr>
            <a:solidFill>
              <a:srgbClr val="2D5F7C"/>
            </a:solidFill>
            <a:ln w="317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9.17</c:v>
                </c:pt>
                <c:pt idx="1">
                  <c:v>8.27</c:v>
                </c:pt>
                <c:pt idx="2">
                  <c:v>9.98</c:v>
                </c:pt>
                <c:pt idx="3">
                  <c:v>12.93</c:v>
                </c:pt>
                <c:pt idx="4">
                  <c:v>17.6</c:v>
                </c:pt>
                <c:pt idx="5">
                  <c:v>18.11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Operations</c:v>
                </c:pt>
              </c:strCache>
            </c:strRef>
          </c:tx>
          <c:spPr>
            <a:solidFill>
              <a:srgbClr val="BFE5EF"/>
            </a:solidFill>
            <a:ln w="31750" cap="flat">
              <a:solidFill>
                <a:srgbClr val="BFE5EF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FE5EF"/>
              </a:solidFill>
              <a:ln w="9525" cap="flat">
                <a:solidFill>
                  <a:srgbClr val="BFE5E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8.97</c:v>
                </c:pt>
                <c:pt idx="1">
                  <c:v>7.28</c:v>
                </c:pt>
                <c:pt idx="2">
                  <c:v>5.12</c:v>
                </c:pt>
                <c:pt idx="3">
                  <c:v>13.29</c:v>
                </c:pt>
                <c:pt idx="4">
                  <c:v>18.26</c:v>
                </c:pt>
                <c:pt idx="5">
                  <c:v>20.61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Technology</c:v>
                </c:pt>
              </c:strCache>
            </c:strRef>
          </c:tx>
          <c:spPr>
            <a:solidFill>
              <a:srgbClr val="B84C65"/>
            </a:solidFill>
            <a:ln w="317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5.95</c:v>
                </c:pt>
                <c:pt idx="1">
                  <c:v>6.57</c:v>
                </c:pt>
                <c:pt idx="2">
                  <c:v>10.19</c:v>
                </c:pt>
                <c:pt idx="3">
                  <c:v>14.57</c:v>
                </c:pt>
                <c:pt idx="4">
                  <c:v>15.22</c:v>
                </c:pt>
                <c:pt idx="5">
                  <c:v>19.94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508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24.1</c:v>
                </c:pt>
                <c:pt idx="1">
                  <c:v>22.3</c:v>
                </c:pt>
                <c:pt idx="2">
                  <c:v>22.1</c:v>
                </c:pt>
                <c:pt idx="3">
                  <c:v>25.6</c:v>
                </c:pt>
                <c:pt idx="4">
                  <c:v>25.3</c:v>
                </c:pt>
                <c:pt idx="5">
                  <c:v>34.2</c:v>
                </c:pt>
                <c:pt idx="6">
                  <c:v>40.8</c:v>
                </c:pt>
                <c:pt idx="7">
                  <c:v>47.8</c:v>
                </c:pt>
                <c:pt idx="8">
                  <c:v>51.1</c:v>
                </c:pt>
                <c:pt idx="9">
                  <c:v>56</c:v>
                </c:pt>
                <c:pt idx="10">
                  <c:v>58.7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B84C65"/>
            </a:solidFill>
            <a:ln w="317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40"/>
          <c:min val="0"/>
        </c:scaling>
        <c:delete val="0"/>
        <c:axPos val="r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 2025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9.17</c:v>
                </c:pt>
                <c:pt idx="1">
                  <c:v>8.97</c:v>
                </c:pt>
                <c:pt idx="2">
                  <c:v>5.95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 2035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18.11</c:v>
                </c:pt>
                <c:pt idx="1">
                  <c:v>20.61</c:v>
                </c:pt>
                <c:pt idx="2">
                  <c:v>19.94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Setup</c:v>
                </c:pt>
              </c:strCache>
            </c:strRef>
          </c:tx>
          <c:spPr>
            <a:solidFill>
              <a:srgbClr val="8A7968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8A7968"/>
              </a:solidFill>
              <a:ln w="12700" cap="flat">
                <a:solidFill>
                  <a:srgbClr val="8A7968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6.53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Compression</c:v>
                </c:pt>
              </c:strCache>
            </c:strRef>
          </c:tx>
          <c:spPr>
            <a:solidFill>
              <a:srgbClr val="B84C65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B84C65"/>
              </a:solidFill>
              <a:ln w="12700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>4.69</c:v>
                </c:pt>
                <c:pt idx="2">
                  <c:v>4.32</c:v>
                </c:pt>
                <c:pt idx="3">
                  <c:v>6.19</c:v>
                </c:pt>
                <c:pt idx="4">
                  <c:v>3.87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Recovery</c:v>
                </c:pt>
              </c:strCache>
            </c:strRef>
          </c:tx>
          <c:spPr>
            <a:solidFill>
              <a:srgbClr val="4A5E6A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4A5E6A"/>
              </a:solidFill>
              <a:ln w="12700" cap="flat">
                <a:solidFill>
                  <a:srgbClr val="4A5E6A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Sheet1!$D$2:$D$12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11.43</c:v>
                </c:pt>
                <c:pt idx="6">
                  <c:v>12.88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Scale</c:v>
                </c:pt>
              </c:strCache>
            </c:strRef>
          </c:tx>
          <c:spPr>
            <a:solidFill>
              <a:srgbClr val="2D5F7C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2D5F7C"/>
              </a:solidFill>
              <a:ln w="12700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Sheet1!$E$2:$E$12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14.72</c:v>
                </c:pt>
                <c:pt idx="8">
                  <c:v>13.96</c:v>
                </c:pt>
                <c:pt idx="9">
                  <c:v>15.65</c:v>
                </c:pt>
                <c:pt idx="10">
                  <c:v>15.4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20"/>
        </c:scaling>
        <c:delete val="0"/>
        <c:axPos val="b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8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fill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</c:v>
                </c:pt>
              </c:strCache>
            </c:strRef>
          </c:tx>
          <c:spPr>
            <a:solidFill>
              <a:srgbClr val="2D5F7C">
                <a:alpha val="25000"/>
              </a:srgbClr>
            </a:solidFill>
            <a:ln w="190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9.17</c:v>
                </c:pt>
                <c:pt idx="1">
                  <c:v>8.27</c:v>
                </c:pt>
                <c:pt idx="2">
                  <c:v>9.98</c:v>
                </c:pt>
                <c:pt idx="3">
                  <c:v>12.93</c:v>
                </c:pt>
                <c:pt idx="4">
                  <c:v>17.6</c:v>
                </c:pt>
                <c:pt idx="5">
                  <c:v>18.11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Operations</c:v>
                </c:pt>
              </c:strCache>
            </c:strRef>
          </c:tx>
          <c:spPr>
            <a:solidFill>
              <a:srgbClr val="BFE5EF">
                <a:alpha val="25000"/>
              </a:srgbClr>
            </a:solidFill>
            <a:ln w="19050" cap="flat">
              <a:solidFill>
                <a:srgbClr val="BFE5EF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FE5EF"/>
              </a:solidFill>
              <a:ln w="9525" cap="flat">
                <a:solidFill>
                  <a:srgbClr val="BFE5E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8.97</c:v>
                </c:pt>
                <c:pt idx="1">
                  <c:v>7.28</c:v>
                </c:pt>
                <c:pt idx="2">
                  <c:v>5.12</c:v>
                </c:pt>
                <c:pt idx="3">
                  <c:v>13.29</c:v>
                </c:pt>
                <c:pt idx="4">
                  <c:v>18.26</c:v>
                </c:pt>
                <c:pt idx="5">
                  <c:v>20.61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Technology</c:v>
                </c:pt>
              </c:strCache>
            </c:strRef>
          </c:tx>
          <c:spPr>
            <a:solidFill>
              <a:srgbClr val="B84C65">
                <a:alpha val="25000"/>
              </a:srgbClr>
            </a:solidFill>
            <a:ln w="190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5.95</c:v>
                </c:pt>
                <c:pt idx="1">
                  <c:v>6.57</c:v>
                </c:pt>
                <c:pt idx="2">
                  <c:v>10.19</c:v>
                </c:pt>
                <c:pt idx="3">
                  <c:v>14.57</c:v>
                </c:pt>
                <c:pt idx="4">
                  <c:v>15.22</c:v>
                </c:pt>
                <c:pt idx="5">
                  <c:v>19.94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508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A  ·  PURE NATIVE PPT COLUMN CHART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chart, nothing else.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Pure pptxgenjs addChart. Saperia palette and fonts passed in; everything else is PowerPoint defaults.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B  ·  NATIVE COLUMN CHART + OVERLAY CHROME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chart, shapes on top.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chart for the plot area. Axis title, hero callout, and value labels live as overlay shapes/text.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264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2029 → 2030: </a:t>
            </a:r>
            <a:pPr indent="0" marL="0">
              <a:buNone/>
            </a:pPr>
            <a:r>
              <a:rPr lang="en-US" sz="13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+35%</a:t>
            </a:r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one year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6080760"/>
            <a:ext cx="11091672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C  ·  PURE NATIVE SHAPES — NO CHART OBJECT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bar is a rect.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chart object. Rectangles at computed positions, axis ticks as text runs. More code; full editorial control.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88720" y="2103120"/>
            <a:ext cx="10222992" cy="3566160"/>
          </a:xfrm>
          <a:prstGeom prst="rect">
            <a:avLst/>
          </a:prstGeom>
          <a:ln w="6350">
            <a:solidFill>
              <a:srgbClr val="C9B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7052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399884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329247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258610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187973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117336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046699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976062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2032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905425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2033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834788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6415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88720" y="5907024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55869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50383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0080" y="44897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0080" y="39410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40080" y="339242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$40M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8437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40080" y="22951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 rot="-5400000">
            <a:off x="182880" y="38862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($M)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188720" y="51206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457200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" y="402336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88720" y="347472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88720" y="292608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88720" y="23774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56221" y="4347606"/>
            <a:ext cx="594360" cy="1321674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3" name="Shape 31"/>
          <p:cNvSpPr/>
          <p:nvPr/>
        </p:nvSpPr>
        <p:spPr>
          <a:xfrm>
            <a:off x="2285584" y="4443618"/>
            <a:ext cx="594360" cy="1225662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4" name="Shape 32"/>
          <p:cNvSpPr/>
          <p:nvPr/>
        </p:nvSpPr>
        <p:spPr>
          <a:xfrm>
            <a:off x="3214947" y="4455140"/>
            <a:ext cx="594360" cy="1214140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5" name="Shape 33"/>
          <p:cNvSpPr/>
          <p:nvPr/>
        </p:nvSpPr>
        <p:spPr>
          <a:xfrm>
            <a:off x="4144310" y="4263664"/>
            <a:ext cx="594360" cy="14056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6" name="Shape 34"/>
          <p:cNvSpPr/>
          <p:nvPr/>
        </p:nvSpPr>
        <p:spPr>
          <a:xfrm>
            <a:off x="5073673" y="4281769"/>
            <a:ext cx="594360" cy="1387511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7" name="Shape 35"/>
          <p:cNvSpPr/>
          <p:nvPr/>
        </p:nvSpPr>
        <p:spPr>
          <a:xfrm>
            <a:off x="6003036" y="3790737"/>
            <a:ext cx="594360" cy="1878543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8" name="Shape 36"/>
          <p:cNvSpPr/>
          <p:nvPr/>
        </p:nvSpPr>
        <p:spPr>
          <a:xfrm>
            <a:off x="6932399" y="3431377"/>
            <a:ext cx="594360" cy="2237903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9" name="Shape 37"/>
          <p:cNvSpPr/>
          <p:nvPr/>
        </p:nvSpPr>
        <p:spPr>
          <a:xfrm>
            <a:off x="7861762" y="3047329"/>
            <a:ext cx="594360" cy="2621951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0" name="Shape 38"/>
          <p:cNvSpPr/>
          <p:nvPr/>
        </p:nvSpPr>
        <p:spPr>
          <a:xfrm>
            <a:off x="8791125" y="2867376"/>
            <a:ext cx="594360" cy="2801904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1" name="Shape 39"/>
          <p:cNvSpPr/>
          <p:nvPr/>
        </p:nvSpPr>
        <p:spPr>
          <a:xfrm>
            <a:off x="9720488" y="2597445"/>
            <a:ext cx="594360" cy="3071835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2" name="Shape 40"/>
          <p:cNvSpPr/>
          <p:nvPr/>
        </p:nvSpPr>
        <p:spPr>
          <a:xfrm>
            <a:off x="10649851" y="2450958"/>
            <a:ext cx="594360" cy="3218322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3" name="Text 41"/>
          <p:cNvSpPr/>
          <p:nvPr/>
        </p:nvSpPr>
        <p:spPr>
          <a:xfrm>
            <a:off x="5843016" y="3406689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53745"/>
                </a:solidFill>
                <a:highlight>
                  <a:srgbClr val="C1FF7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A  ·  NATIVE STACKED-COLUMN HACK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waterfall. The closest native can get.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pptxgenjs has no waterfall type. Best-effort: stacked column with an invisible base series. No connectors. One color for every delta — positives indistinguishable from negatives.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B  ·  NATIVE STACKED-COLUMN HACK + OVERLAY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Labels rescued, colors cannot be.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native hack. Overlay adds delta labels and step connectors. Bars themselves are still one color — pptxgenjs does not expose per-bar color in native charts.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2386270" y="3877970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3846698" y="438271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5307125" y="4484218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6767553" y="397123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8227980" y="460766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9688408" y="253380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2922161" y="355793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−$1.8M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382589" y="406267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−$0.4M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843016" y="365119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+$1.9M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303443" y="365119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−$2.3M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763871" y="221376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+$7.6M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C  ·  PURE NATIVE SHAPES — NO CHART OBJECT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real waterfall.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bar is a rect. Connectors are lines. Positive steps in STEEL, negative in BERRY, anchors in INK. Delta labels above each float; anchors labeled with totals.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88720" y="2103120"/>
            <a:ext cx="10222992" cy="3566160"/>
          </a:xfrm>
          <a:prstGeom prst="rect">
            <a:avLst/>
          </a:prstGeom>
          <a:ln w="6350">
            <a:solidFill>
              <a:srgbClr val="C9B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36054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19648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656909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117336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77763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03819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498618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88720" y="5907024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55869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$0M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50383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40080" y="44897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$4M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39410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40080" y="339242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28437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0080" y="22951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 rot="-5400000">
            <a:off x="182880" y="38862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($M)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188720" y="51206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88720" y="457200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88720" y="402336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" y="347472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292608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23774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86270" y="3877970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846698" y="438271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307125" y="4484218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767553" y="397123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8227980" y="460766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9688408" y="253380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1621754" y="3877970"/>
            <a:ext cx="594360" cy="1791310"/>
          </a:xfrm>
          <a:prstGeom prst="rect">
            <a:avLst/>
          </a:prstGeom>
          <a:solidFill>
            <a:srgbClr val="353745">
              <a:alpha val="8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1370294" y="353049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082181" y="3877970"/>
            <a:ext cx="594360" cy="504749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37" name="Text 35"/>
          <p:cNvSpPr/>
          <p:nvPr/>
        </p:nvSpPr>
        <p:spPr>
          <a:xfrm>
            <a:off x="2830721" y="353049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−$1.8M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42609" y="4382719"/>
            <a:ext cx="594360" cy="101498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39" name="Text 37"/>
          <p:cNvSpPr/>
          <p:nvPr/>
        </p:nvSpPr>
        <p:spPr>
          <a:xfrm>
            <a:off x="4291149" y="40352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−$0.4M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03036" y="3971239"/>
            <a:ext cx="594360" cy="512978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1" name="Text 39"/>
          <p:cNvSpPr/>
          <p:nvPr/>
        </p:nvSpPr>
        <p:spPr>
          <a:xfrm>
            <a:off x="5751576" y="362376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+$1.9M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463463" y="3971239"/>
            <a:ext cx="594360" cy="636422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43" name="Text 41"/>
          <p:cNvSpPr/>
          <p:nvPr/>
        </p:nvSpPr>
        <p:spPr>
          <a:xfrm>
            <a:off x="7212003" y="362376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−$2.3M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923891" y="2533802"/>
            <a:ext cx="594360" cy="2073859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5" name="Text 43"/>
          <p:cNvSpPr/>
          <p:nvPr/>
        </p:nvSpPr>
        <p:spPr>
          <a:xfrm>
            <a:off x="8672431" y="218633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+$7.6M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0384318" y="2533802"/>
            <a:ext cx="594360" cy="3135478"/>
          </a:xfrm>
          <a:prstGeom prst="rect">
            <a:avLst/>
          </a:prstGeom>
          <a:solidFill>
            <a:srgbClr val="353745">
              <a:alpha val="8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10132858" y="218633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$11.4M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years of compression, then </a:t>
            </a:r>
            <a:pPr indent="0" marL="0">
              <a:buNone/>
            </a:pPr>
            <a:r>
              <a:rPr lang="en-US" sz="12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+$7.6M in one year</a:t>
            </a:r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EBITDA snap-back.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EBITDA % compressed, then snapped back.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line chart. Saperia palette, axes, gridlines. Callout highlights the trough. No overlay — native handles this type cleanly.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2029 trough: </a:t>
            </a:r>
            <a:pPr indent="0" marL="0">
              <a:buNone/>
            </a:pPr>
            <a:r>
              <a:rPr lang="en-US" sz="12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15.3%</a:t>
            </a:r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 12-point compression from 2025. Back to 33% by 2030.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practices, split close to thirds by 2035.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doughnut. Text callouts on the right replace native labels (the common native weakness).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172881" y="31425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31%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3275471" y="506899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35%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2073072" y="324552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34%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 TOTAL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6560" y="24688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$58.7M</a:t>
            </a:r>
            <a:endParaRPr lang="en-US" sz="4400" dirty="0"/>
          </a:p>
        </p:txBody>
      </p:sp>
      <p:sp>
        <p:nvSpPr>
          <p:cNvPr id="12" name="Shape 9"/>
          <p:cNvSpPr/>
          <p:nvPr/>
        </p:nvSpPr>
        <p:spPr>
          <a:xfrm>
            <a:off x="6766560" y="3639312"/>
            <a:ext cx="128016" cy="128016"/>
          </a:xfrm>
          <a:prstGeom prst="rect">
            <a:avLst/>
          </a:prstGeom>
          <a:solidFill>
            <a:srgbClr val="BFE5EF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0" y="35661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040880" y="38221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$20.6M  ·  35%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04088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Leader by 2035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766560" y="4553712"/>
            <a:ext cx="128016" cy="128016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17" name="Text 14"/>
          <p:cNvSpPr/>
          <p:nvPr/>
        </p:nvSpPr>
        <p:spPr>
          <a:xfrm>
            <a:off x="7040880" y="44805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040880" y="47365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$19.9M  ·  34%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040880" y="4983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Fastest grower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766560" y="5468112"/>
            <a:ext cx="128016" cy="1280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21" name="Text 18"/>
          <p:cNvSpPr/>
          <p:nvPr/>
        </p:nvSpPr>
        <p:spPr>
          <a:xfrm>
            <a:off x="7040880" y="5394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040880" y="56509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$18.1M  ·  31%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040880" y="5897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Cyclical anchor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Utilization predicts EBITDA margin.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scatter chart (non-bubble). 11 years of (util, EBITDA %) points. Native handles scatter when sizing uniformity is fine.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Positive slope: every 10 utilization points ≈ +7 points of EBITDA. Pricing alone never closed the gap.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practices, three different trajectories.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time-points on six axes (every other year, 2025 to 2035). Revenue in $M — one shared scale, no normalization. Native handles multi-series radar when axes share units.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SHAPES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66560" y="3044952"/>
            <a:ext cx="128016" cy="1280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9" name="Text 6"/>
          <p:cNvSpPr/>
          <p:nvPr/>
        </p:nvSpPr>
        <p:spPr>
          <a:xfrm>
            <a:off x="7040880" y="2971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040880" y="322783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Tightest shape. Shallow dip in 2027, steady climb after. Least cyclical.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66560" y="4096512"/>
            <a:ext cx="128016" cy="128016"/>
          </a:xfrm>
          <a:prstGeom prst="rect">
            <a:avLst/>
          </a:prstGeom>
          <a:solidFill>
            <a:srgbClr val="BFE5EF"/>
          </a:solidFill>
          <a:ln/>
        </p:spPr>
      </p:sp>
      <p:sp>
        <p:nvSpPr>
          <p:cNvPr id="12" name="Text 9"/>
          <p:cNvSpPr/>
          <p:nvPr/>
        </p:nvSpPr>
        <p:spPr>
          <a:xfrm>
            <a:off x="7040880" y="4023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040880" y="427939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Deepest dent in 2029, then the biggest snap-back — ends largest in 2035.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766560" y="5148072"/>
            <a:ext cx="128016" cy="128016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15" name="Text 12"/>
          <p:cNvSpPr/>
          <p:nvPr/>
        </p:nvSpPr>
        <p:spPr>
          <a:xfrm>
            <a:off x="7040880" y="5074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040880" y="533095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Grew through every year, downturn included. The most counter-cyclical practice.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 ·  STRESS-TEST (DUAL-AXIS COMBO)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bars, EBITDA % line, secondary axis.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Multi-type chart: native pptxgenjs pres.ChartType has no 'combo' — you pass an array of typed blocks. Each block has its own options. Tests secondary axis, per-series styling, legend mixing.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Combo charts are where native shines — secondary axis, mixed bar + line, per-series styling all work in one addChart call.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  ·  STRESS-TEST (COMPARISON)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mix, ten years apart.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donuts, same color mapping, different years. Tests whether two instances of native addChart can be visually locked together. Center callouts added as overlays — native donuts have no center text option.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914400" y="2194560"/>
          <a:ext cx="41148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914400" y="5715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2025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914400" y="3767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$24.1M</a:t>
            </a:r>
            <a:endParaRPr lang="en-US" sz="18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7159752" y="2194560"/>
          <a:ext cx="41148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7159752" y="5715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2035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159752" y="3767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$58.7M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5728716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600" dirty="0"/>
          </a:p>
        </p:txBody>
      </p:sp>
      <p:sp>
        <p:nvSpPr>
          <p:cNvPr id="12" name="Text 8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 went from 38% of revenue to 31%; Operations grew to the #1 share; Technology more than tripled in dollars.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  ·  STRESS-TEST (PHASED MULTI-SERIES)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vs EBITDA $, colored by phase.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series (setup, compression, recovery, scale) sharing one x-axis. Tests pptxgenjs scatter's null-padding pattern for multi-series with non-overlapping x values.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Compression years sit in the bottom-left cluster. Scale years walk up the diagonal. Phase coloring surfaces structure the simple scatter hides.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CHART  ·  STRESS-TEST (FILLED OVERLAY)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three practices, filled regions.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radarStyle = 'filled' with transparency so all three practices read as overlapping shapes. Tests multi-series overlay legibility and whether native radar respects alpha.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FILL REVEALS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766560" y="26517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Filled overlay makes the area under each practice's shape comparable at a glance. Where line-only emphasizes trajectory, filled emphasizes cumulative footprint.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766560" y="39319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ceiling shows here: three filled regions on six axes fight for legibility. At four-plus series, filled radar stops scaling.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766560" y="5303520"/>
            <a:ext cx="4846320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6560" y="5394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limit: no per-axis scale, no conditional fill.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Chart-type audit deck — Column + Waterfall</dc:title>
  <dc:subject>PptxGenJS Presentation</dc:subject>
  <dc:creator>Saperia Consulting</dc:creator>
  <cp:lastModifiedBy>Saperia Consulting</cp:lastModifiedBy>
  <cp:revision>1</cp:revision>
  <dcterms:created xsi:type="dcterms:W3CDTF">2026-04-20T21:55:34Z</dcterms:created>
  <dcterms:modified xsi:type="dcterms:W3CDTF">2026-04-20T21:55:34Z</dcterms:modified>
</cp:coreProperties>
</file>