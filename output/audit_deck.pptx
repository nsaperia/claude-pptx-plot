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D5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Revenue ($M)</a:t>
                </a:r>
              </a:p>
            </c:rich>
          </c:tx>
          <c:layout/>
          <c:overlay val="0"/>
        </c:title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D5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5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4.69</c:v>
                </c:pt>
                <c:pt idx="2">
                  <c:v>4.32</c:v>
                </c:pt>
                <c:pt idx="3">
                  <c:v>4.32</c:v>
                </c:pt>
                <c:pt idx="4">
                  <c:v>3.87</c:v>
                </c:pt>
                <c:pt idx="5">
                  <c:v>3.87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D5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6.53</c:v>
                </c:pt>
                <c:pt idx="1">
                  <c:v>1.8399999999999999</c:v>
                </c:pt>
                <c:pt idx="2">
                  <c:v>0.3700000000000001</c:v>
                </c:pt>
                <c:pt idx="3">
                  <c:v>1.87</c:v>
                </c:pt>
                <c:pt idx="4">
                  <c:v>2.3200000000000003</c:v>
                </c:pt>
                <c:pt idx="5">
                  <c:v>7.56</c:v>
                </c:pt>
                <c:pt idx="6">
                  <c:v>11.43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($M)</a:t>
                </a:r>
              </a:p>
            </c:rich>
          </c:tx>
          <c:layout/>
          <c:overlay val="0"/>
        </c:title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5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4.69</c:v>
                </c:pt>
                <c:pt idx="2">
                  <c:v>4.32</c:v>
                </c:pt>
                <c:pt idx="3">
                  <c:v>4.32</c:v>
                </c:pt>
                <c:pt idx="4">
                  <c:v>3.87</c:v>
                </c:pt>
                <c:pt idx="5">
                  <c:v>3.87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D5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6.53</c:v>
                </c:pt>
                <c:pt idx="1">
                  <c:v>1.8399999999999999</c:v>
                </c:pt>
                <c:pt idx="2">
                  <c:v>0.3700000000000001</c:v>
                </c:pt>
                <c:pt idx="3">
                  <c:v>1.87</c:v>
                </c:pt>
                <c:pt idx="4">
                  <c:v>2.3200000000000003</c:v>
                </c:pt>
                <c:pt idx="5">
                  <c:v>7.56</c:v>
                </c:pt>
                <c:pt idx="6">
                  <c:v>11.43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($M)</a:t>
                </a:r>
              </a:p>
            </c:rich>
          </c:tx>
          <c:layout/>
          <c:overlay val="0"/>
        </c:title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%</c:v>
                </c:pt>
              </c:strCache>
            </c:strRef>
          </c:tx>
          <c:spPr>
            <a:solidFill>
              <a:srgbClr val="2D5F7C"/>
            </a:solidFill>
            <a:ln w="31750" cap="flat">
              <a:solidFill>
                <a:srgbClr val="2D5F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D5F7C"/>
              </a:solidFill>
              <a:ln w="9525" cap="flat">
                <a:solidFill>
                  <a:srgbClr val="2D5F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27.1</c:v>
                </c:pt>
                <c:pt idx="1">
                  <c:v>21</c:v>
                </c:pt>
                <c:pt idx="2">
                  <c:v>19.5</c:v>
                </c:pt>
                <c:pt idx="3">
                  <c:v>24.2</c:v>
                </c:pt>
                <c:pt idx="4">
                  <c:v>15.3</c:v>
                </c:pt>
                <c:pt idx="5">
                  <c:v>33.4</c:v>
                </c:pt>
                <c:pt idx="6">
                  <c:v>31.6</c:v>
                </c:pt>
                <c:pt idx="7">
                  <c:v>30.8</c:v>
                </c:pt>
                <c:pt idx="8">
                  <c:v>27.3</c:v>
                </c:pt>
                <c:pt idx="9">
                  <c:v>28</c:v>
                </c:pt>
                <c:pt idx="10">
                  <c:v>26.3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10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%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5F7C"/>
              </a:solidFill>
              <a:effectLst/>
            </c:spPr>
          </c:dPt>
          <c:dPt>
            <c:idx val="1"/>
            <c:bubble3D val="0"/>
            <c:spPr>
              <a:solidFill>
                <a:srgbClr val="BFE5EF"/>
              </a:solidFill>
              <a:effectLst/>
            </c:spPr>
          </c:dPt>
          <c:dPt>
            <c:idx val="2"/>
            <c:bubble3D val="0"/>
            <c:spPr>
              <a:solidFill>
                <a:srgbClr val="B84C6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Strategy</c:v>
                </c:pt>
                <c:pt idx="1">
                  <c:v>Operations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18.11</c:v>
                </c:pt>
                <c:pt idx="1">
                  <c:v>20.61</c:v>
                </c:pt>
                <c:pt idx="2">
                  <c:v>19.94</c:v>
                </c:pt>
              </c:numCache>
            </c:numRef>
          </c:val>
        </c:ser>
        <c:firstSliceAng val="0"/>
        <c:holeSize val="65"/>
      </c:doughnutChart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%</c:v>
                </c:pt>
              </c:strCache>
            </c:strRef>
          </c:tx>
          <c:spPr>
            <a:solidFill>
              <a:srgbClr val="2D5F7C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D5F7C"/>
              </a:solidFill>
              <a:ln w="12700" cap="flat">
                <a:solidFill>
                  <a:srgbClr val="2D5F7C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71.3</c:v>
                </c:pt>
                <c:pt idx="1">
                  <c:v>63.5</c:v>
                </c:pt>
                <c:pt idx="2">
                  <c:v>62.4</c:v>
                </c:pt>
                <c:pt idx="3">
                  <c:v>66</c:v>
                </c:pt>
                <c:pt idx="4">
                  <c:v>59.6</c:v>
                </c:pt>
                <c:pt idx="5">
                  <c:v>76.6</c:v>
                </c:pt>
                <c:pt idx="6">
                  <c:v>75.5</c:v>
                </c:pt>
                <c:pt idx="7">
                  <c:v>73.7</c:v>
                </c:pt>
                <c:pt idx="8">
                  <c:v>70.5</c:v>
                </c:pt>
                <c:pt idx="9">
                  <c:v>71</c:v>
                </c:pt>
                <c:pt idx="10">
                  <c:v>67.5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27.1</c:v>
                </c:pt>
                <c:pt idx="1">
                  <c:v>21</c:v>
                </c:pt>
                <c:pt idx="2">
                  <c:v>19.5</c:v>
                </c:pt>
                <c:pt idx="3">
                  <c:v>24.2</c:v>
                </c:pt>
                <c:pt idx="4">
                  <c:v>15.3</c:v>
                </c:pt>
                <c:pt idx="5">
                  <c:v>33.4</c:v>
                </c:pt>
                <c:pt idx="6">
                  <c:v>31.6</c:v>
                </c:pt>
                <c:pt idx="7">
                  <c:v>30.8</c:v>
                </c:pt>
                <c:pt idx="8">
                  <c:v>27.3</c:v>
                </c:pt>
                <c:pt idx="9">
                  <c:v>28</c:v>
                </c:pt>
                <c:pt idx="10">
                  <c:v>26.3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"/>
          <c:min val="55"/>
        </c:scaling>
        <c:delete val="0"/>
        <c:axPos val="b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Utilization %</a:t>
                </a:r>
              </a:p>
            </c:rich>
          </c:tx>
          <c:layout/>
          <c:overlay val="0"/>
        </c:title>
        <c:numFmt formatCode="0&quot;%&quot;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5"/>
          <c:min val="10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%</a:t>
                </a:r>
              </a:p>
            </c:rich>
          </c:tx>
          <c:layout/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5E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2D5F7C"/>
            </a:solidFill>
            <a:ln w="31750" cap="flat">
              <a:solidFill>
                <a:srgbClr val="2D5F7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D5F7C"/>
              </a:solidFill>
              <a:ln w="9525" cap="flat">
                <a:solidFill>
                  <a:srgbClr val="2D5F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9.17</c:v>
                </c:pt>
                <c:pt idx="1">
                  <c:v>8.27</c:v>
                </c:pt>
                <c:pt idx="2">
                  <c:v>9.98</c:v>
                </c:pt>
                <c:pt idx="3">
                  <c:v>12.93</c:v>
                </c:pt>
                <c:pt idx="4">
                  <c:v>17.6</c:v>
                </c:pt>
                <c:pt idx="5">
                  <c:v>18.11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BFE5EF"/>
            </a:solidFill>
            <a:ln w="31750" cap="flat">
              <a:solidFill>
                <a:srgbClr val="BFE5E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FE5EF"/>
              </a:solidFill>
              <a:ln w="9525" cap="flat">
                <a:solidFill>
                  <a:srgbClr val="BFE5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8.97</c:v>
                </c:pt>
                <c:pt idx="1">
                  <c:v>7.28</c:v>
                </c:pt>
                <c:pt idx="2">
                  <c:v>5.12</c:v>
                </c:pt>
                <c:pt idx="3">
                  <c:v>13.29</c:v>
                </c:pt>
                <c:pt idx="4">
                  <c:v>18.26</c:v>
                </c:pt>
                <c:pt idx="5">
                  <c:v>20.61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B84C65"/>
            </a:solidFill>
            <a:ln w="31750" cap="flat">
              <a:solidFill>
                <a:srgbClr val="B84C6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84C65"/>
              </a:solidFill>
              <a:ln w="9525" cap="flat">
                <a:solidFill>
                  <a:srgbClr val="B84C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5.95</c:v>
                </c:pt>
                <c:pt idx="1">
                  <c:v>6.57</c:v>
                </c:pt>
                <c:pt idx="2">
                  <c:v>10.19</c:v>
                </c:pt>
                <c:pt idx="3">
                  <c:v>14.57</c:v>
                </c:pt>
                <c:pt idx="4">
                  <c:v>15.22</c:v>
                </c:pt>
                <c:pt idx="5">
                  <c:v>19.94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5080" cap="flat">
              <a:solidFill>
                <a:srgbClr val="C9B9A8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9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D5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24.1</c:v>
                </c:pt>
                <c:pt idx="1">
                  <c:v>22.3</c:v>
                </c:pt>
                <c:pt idx="2">
                  <c:v>22.1</c:v>
                </c:pt>
                <c:pt idx="3">
                  <c:v>25.6</c:v>
                </c:pt>
                <c:pt idx="4">
                  <c:v>25.3</c:v>
                </c:pt>
                <c:pt idx="5">
                  <c:v>34.2</c:v>
                </c:pt>
                <c:pt idx="6">
                  <c:v>40.8</c:v>
                </c:pt>
                <c:pt idx="7">
                  <c:v>47.8</c:v>
                </c:pt>
                <c:pt idx="8">
                  <c:v>51.1</c:v>
                </c:pt>
                <c:pt idx="9">
                  <c:v>56</c:v>
                </c:pt>
                <c:pt idx="10">
                  <c:v>58.7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%</c:v>
                </c:pt>
              </c:strCache>
            </c:strRef>
          </c:tx>
          <c:spPr>
            <a:solidFill>
              <a:srgbClr val="B84C65"/>
            </a:solidFill>
            <a:ln w="31750" cap="flat">
              <a:solidFill>
                <a:srgbClr val="B84C6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4C65"/>
              </a:solidFill>
              <a:ln w="9525" cap="flat">
                <a:solidFill>
                  <a:srgbClr val="B84C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27.1</c:v>
                </c:pt>
                <c:pt idx="1">
                  <c:v>21</c:v>
                </c:pt>
                <c:pt idx="2">
                  <c:v>19.5</c:v>
                </c:pt>
                <c:pt idx="3">
                  <c:v>24.2</c:v>
                </c:pt>
                <c:pt idx="4">
                  <c:v>15.3</c:v>
                </c:pt>
                <c:pt idx="5">
                  <c:v>33.4</c:v>
                </c:pt>
                <c:pt idx="6">
                  <c:v>31.6</c:v>
                </c:pt>
                <c:pt idx="7">
                  <c:v>30.8</c:v>
                </c:pt>
                <c:pt idx="8">
                  <c:v>27.3</c:v>
                </c:pt>
                <c:pt idx="9">
                  <c:v>28</c:v>
                </c:pt>
                <c:pt idx="10">
                  <c:v>26.3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Revenue ($M)</a:t>
                </a:r>
              </a:p>
            </c:rich>
          </c:tx>
          <c:layout/>
          <c:overlay val="0"/>
        </c:title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4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%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5E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9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5F7C"/>
              </a:solidFill>
              <a:effectLst/>
            </c:spPr>
          </c:dPt>
          <c:dPt>
            <c:idx val="1"/>
            <c:bubble3D val="0"/>
            <c:spPr>
              <a:solidFill>
                <a:srgbClr val="BFE5EF"/>
              </a:solidFill>
              <a:effectLst/>
            </c:spPr>
          </c:dPt>
          <c:dPt>
            <c:idx val="2"/>
            <c:bubble3D val="0"/>
            <c:spPr>
              <a:solidFill>
                <a:srgbClr val="B84C6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Strategy</c:v>
                </c:pt>
                <c:pt idx="1">
                  <c:v>Operations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9.17</c:v>
                </c:pt>
                <c:pt idx="1">
                  <c:v>8.97</c:v>
                </c:pt>
                <c:pt idx="2">
                  <c:v>5.95</c:v>
                </c:pt>
              </c:numCache>
            </c:numRef>
          </c:val>
        </c:ser>
        <c:firstSliceAng val="0"/>
        <c:holeSize val="65"/>
      </c:doughnutChart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2035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5F7C"/>
              </a:solidFill>
              <a:effectLst/>
            </c:spPr>
          </c:dPt>
          <c:dPt>
            <c:idx val="1"/>
            <c:bubble3D val="0"/>
            <c:spPr>
              <a:solidFill>
                <a:srgbClr val="BFE5EF"/>
              </a:solidFill>
              <a:effectLst/>
            </c:spPr>
          </c:dPt>
          <c:dPt>
            <c:idx val="2"/>
            <c:bubble3D val="0"/>
            <c:spPr>
              <a:solidFill>
                <a:srgbClr val="B84C6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Strategy</c:v>
                </c:pt>
                <c:pt idx="1">
                  <c:v>Operations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18.11</c:v>
                </c:pt>
                <c:pt idx="1">
                  <c:v>20.61</c:v>
                </c:pt>
                <c:pt idx="2">
                  <c:v>19.94</c:v>
                </c:pt>
              </c:numCache>
            </c:numRef>
          </c:val>
        </c:ser>
        <c:firstSliceAng val="0"/>
        <c:holeSize val="65"/>
      </c:doughnutChart>
      <c:spPr>
        <a:solidFill>
          <a:srgbClr val="FFF5ED"/>
        </a:solidFill>
        <a:ln>
          <a:noFill/>
        </a:ln>
        <a:effectLst/>
      </c:spPr>
    </c:plotArea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Setup</c:v>
                </c:pt>
              </c:strCache>
            </c:strRef>
          </c:tx>
          <c:spPr>
            <a:solidFill>
              <a:srgbClr val="8A7968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8A7968"/>
              </a:solidFill>
              <a:ln w="12700" cap="flat">
                <a:solidFill>
                  <a:srgbClr val="8A7968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6.53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Compression</c:v>
                </c:pt>
              </c:strCache>
            </c:strRef>
          </c:tx>
          <c:spPr>
            <a:solidFill>
              <a:srgbClr val="B84C65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B84C65"/>
              </a:solidFill>
              <a:ln w="12700" cap="flat">
                <a:solidFill>
                  <a:srgbClr val="B84C65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/>
                </c:pt>
                <c:pt idx="1">
                  <c:v>4.69</c:v>
                </c:pt>
                <c:pt idx="2">
                  <c:v>4.32</c:v>
                </c:pt>
                <c:pt idx="3">
                  <c:v>6.19</c:v>
                </c:pt>
                <c:pt idx="4">
                  <c:v>3.87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Recovery</c:v>
                </c:pt>
              </c:strCache>
            </c:strRef>
          </c:tx>
          <c:spPr>
            <a:solidFill>
              <a:srgbClr val="4A5E6A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4A5E6A"/>
              </a:solidFill>
              <a:ln w="12700" cap="flat">
                <a:solidFill>
                  <a:srgbClr val="4A5E6A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xVal>
          <c:yVal>
            <c:numRef>
              <c:f>Sheet1!$D$2:$D$12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11.43</c:v>
                </c:pt>
                <c:pt idx="6">
                  <c:v>12.88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Scale</c:v>
                </c:pt>
              </c:strCache>
            </c:strRef>
          </c:tx>
          <c:spPr>
            <a:solidFill>
              <a:srgbClr val="2D5F7C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2D5F7C"/>
              </a:solidFill>
              <a:ln w="12700" cap="flat">
                <a:solidFill>
                  <a:srgbClr val="2D5F7C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24.09</c:v>
                </c:pt>
                <c:pt idx="1">
                  <c:v>22.34</c:v>
                </c:pt>
                <c:pt idx="2">
                  <c:v>22.13</c:v>
                </c:pt>
                <c:pt idx="3">
                  <c:v>25.62</c:v>
                </c:pt>
                <c:pt idx="4">
                  <c:v>25.29</c:v>
                </c:pt>
                <c:pt idx="5">
                  <c:v>34.24</c:v>
                </c:pt>
                <c:pt idx="6">
                  <c:v>40.79</c:v>
                </c:pt>
                <c:pt idx="7">
                  <c:v>47.79</c:v>
                </c:pt>
                <c:pt idx="8">
                  <c:v>51.07</c:v>
                </c:pt>
                <c:pt idx="9">
                  <c:v>55.99</c:v>
                </c:pt>
                <c:pt idx="10">
                  <c:v>58.66</c:v>
                </c:pt>
              </c:numCache>
            </c:numRef>
          </c:xVal>
          <c:yVal>
            <c:numRef>
              <c:f>Sheet1!$E$2:$E$12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14.72</c:v>
                </c:pt>
                <c:pt idx="8">
                  <c:v>13.96</c:v>
                </c:pt>
                <c:pt idx="9">
                  <c:v>15.65</c:v>
                </c:pt>
                <c:pt idx="10">
                  <c:v>15.4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0"/>
          <c:min val="20"/>
        </c:scaling>
        <c:delete val="0"/>
        <c:axPos val="b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Revenue ($M)</a:t>
                </a:r>
              </a:p>
            </c:rich>
          </c:tx>
          <c:layout/>
          <c:overlay val="0"/>
        </c:title>
        <c:numFmt formatCode="$0&quot;M&quot;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C9B9A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9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8A7968"/>
                    </a:solidFill>
                    <a:latin typeface="Calibri"/>
                  </a:rPr>
                  <a:t>EBITDA ($M)</a:t>
                </a:r>
              </a:p>
            </c:rich>
          </c:tx>
          <c:layout/>
          <c:overlay val="0"/>
        </c:title>
        <c:numFmt formatCode="$0&quot;M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5E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9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2D5F7C">
                <a:alpha val="25000"/>
              </a:srgbClr>
            </a:solidFill>
            <a:ln w="19050" cap="flat">
              <a:solidFill>
                <a:srgbClr val="2D5F7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D5F7C"/>
              </a:solidFill>
              <a:ln w="9525" cap="flat">
                <a:solidFill>
                  <a:srgbClr val="2D5F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9.17</c:v>
                </c:pt>
                <c:pt idx="1">
                  <c:v>8.27</c:v>
                </c:pt>
                <c:pt idx="2">
                  <c:v>9.98</c:v>
                </c:pt>
                <c:pt idx="3">
                  <c:v>12.93</c:v>
                </c:pt>
                <c:pt idx="4">
                  <c:v>17.6</c:v>
                </c:pt>
                <c:pt idx="5">
                  <c:v>18.11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BFE5EF">
                <a:alpha val="25000"/>
              </a:srgbClr>
            </a:solidFill>
            <a:ln w="19050" cap="flat">
              <a:solidFill>
                <a:srgbClr val="BFE5E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FE5EF"/>
              </a:solidFill>
              <a:ln w="9525" cap="flat">
                <a:solidFill>
                  <a:srgbClr val="BFE5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8.97</c:v>
                </c:pt>
                <c:pt idx="1">
                  <c:v>7.28</c:v>
                </c:pt>
                <c:pt idx="2">
                  <c:v>5.12</c:v>
                </c:pt>
                <c:pt idx="3">
                  <c:v>13.29</c:v>
                </c:pt>
                <c:pt idx="4">
                  <c:v>18.26</c:v>
                </c:pt>
                <c:pt idx="5">
                  <c:v>20.61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B84C65">
                <a:alpha val="25000"/>
              </a:srgbClr>
            </a:solidFill>
            <a:ln w="19050" cap="flat">
              <a:solidFill>
                <a:srgbClr val="B84C6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84C65"/>
              </a:solidFill>
              <a:ln w="9525" cap="flat">
                <a:solidFill>
                  <a:srgbClr val="B84C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2027</c:v>
                  </c:pt>
                  <c:pt idx="2">
                    <c:v>2029</c:v>
                  </c:pt>
                  <c:pt idx="3">
                    <c:v>2031</c:v>
                  </c:pt>
                  <c:pt idx="4">
                    <c:v>2033</c:v>
                  </c:pt>
                  <c:pt idx="5">
                    <c:v>2035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5.95</c:v>
                </c:pt>
                <c:pt idx="1">
                  <c:v>6.57</c:v>
                </c:pt>
                <c:pt idx="2">
                  <c:v>10.19</c:v>
                </c:pt>
                <c:pt idx="3">
                  <c:v>14.57</c:v>
                </c:pt>
                <c:pt idx="4">
                  <c:v>15.22</c:v>
                </c:pt>
                <c:pt idx="5">
                  <c:v>19.94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5080" cap="flat">
              <a:solidFill>
                <a:srgbClr val="C9B9A8"/>
              </a:solidFill>
              <a:prstDash val="solid"/>
              <a:round/>
            </a:ln>
          </c:spPr>
        </c:majorGridlines>
        <c:numFmt formatCode="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E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9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5E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 ·  PURE NATIVE PPT COLUMN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chart, nothing else.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pptxgenjs addChart. Saperia palette and fonts passed in; everything else is PowerPoint defaults.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 ·  NATIVE COLUMN CHART + OVERLAY CHROME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chart, shapes on top.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chart for the plot area. Axis title, hero callout, and value labels live as overlay shapes/text.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 → 2030: </a:t>
            </a:r>
            <a:pPr indent="0" marL="0">
              <a:buNone/>
            </a:pPr>
            <a:r>
              <a:rPr lang="en-US" sz="1300" b="1" i="1" dirty="0">
                <a:solidFill>
                  <a:srgbClr val="353745"/>
                </a:solidFill>
                <a:highlight>
                  <a:srgbClr val="C1FF72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one year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6080760"/>
            <a:ext cx="11091672" cy="0"/>
          </a:xfrm>
          <a:prstGeom prst="line">
            <a:avLst/>
          </a:prstGeom>
          <a:noFill/>
          <a:ln w="6350">
            <a:solidFill>
              <a:srgbClr val="C9B9A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  ·  PURE NATIVE SHAPES — NO CHART OBJECT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bar is a rect.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chart object. Rectangles at computed positions, axis ticks as text runs. More code; full editorial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10222992" cy="3566160"/>
          </a:xfrm>
          <a:prstGeom prst="rect">
            <a:avLst/>
          </a:prstGeom>
          <a:ln w="6350">
            <a:solidFill>
              <a:srgbClr val="C9B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0521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99884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29247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58610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87973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17336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46699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76062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05425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834788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64151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5907024"/>
            <a:ext cx="10222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55869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50383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489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941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3924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843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2295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 rot="-5400000">
            <a:off x="18288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512064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457200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402336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347472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92608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37744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56221" y="4347606"/>
            <a:ext cx="594360" cy="1321674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5584" y="4443618"/>
            <a:ext cx="594360" cy="1225662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14947" y="4455140"/>
            <a:ext cx="594360" cy="1214140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5" name="Shape 33"/>
          <p:cNvSpPr/>
          <p:nvPr/>
        </p:nvSpPr>
        <p:spPr>
          <a:xfrm>
            <a:off x="4144310" y="4263664"/>
            <a:ext cx="594360" cy="1405616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6" name="Shape 34"/>
          <p:cNvSpPr/>
          <p:nvPr/>
        </p:nvSpPr>
        <p:spPr>
          <a:xfrm>
            <a:off x="5073673" y="4281769"/>
            <a:ext cx="594360" cy="1387511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03036" y="3790737"/>
            <a:ext cx="594360" cy="1878543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8" name="Shape 36"/>
          <p:cNvSpPr/>
          <p:nvPr/>
        </p:nvSpPr>
        <p:spPr>
          <a:xfrm>
            <a:off x="6932399" y="3431377"/>
            <a:ext cx="594360" cy="2237903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1762" y="3047329"/>
            <a:ext cx="594360" cy="2621951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0" name="Shape 38"/>
          <p:cNvSpPr/>
          <p:nvPr/>
        </p:nvSpPr>
        <p:spPr>
          <a:xfrm>
            <a:off x="8791125" y="2867376"/>
            <a:ext cx="594360" cy="2801904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1" name="Shape 39"/>
          <p:cNvSpPr/>
          <p:nvPr/>
        </p:nvSpPr>
        <p:spPr>
          <a:xfrm>
            <a:off x="9720488" y="2597445"/>
            <a:ext cx="594360" cy="3071835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49851" y="2450958"/>
            <a:ext cx="594360" cy="3218322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3" name="Text 41"/>
          <p:cNvSpPr/>
          <p:nvPr/>
        </p:nvSpPr>
        <p:spPr>
          <a:xfrm>
            <a:off x="5843016" y="340668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3745"/>
                </a:solidFill>
                <a:highlight>
                  <a:srgbClr val="C1FF7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 ·  NATIVE STACKED-COLUMN HACK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waterfall. The closest native can get.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pptxgenjs has no waterfall type. Best-effort: stacked column with an invisible base series. No connectors. One color for every delta — positives indistinguishable from negatives.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 ·  NATIVE STACKED-COLUMN HACK + OVERLAY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rescued, colors cannot be.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native hack. Overlay adds delta labels and step connectors. Bars themselves are still one color — pptxgenjs does not expose per-bar color in native charts.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386270" y="3877970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846698" y="4382719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307125" y="4484218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767553" y="3971239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227980" y="4607662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9688408" y="2533802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2922161" y="355793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−$1.8M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82589" y="406267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−$0.4M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43016" y="365119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+$1.9M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03443" y="365119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−$2.3M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763871" y="221376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+$7.6M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  ·  PURE NATIVE SHAPES — NO CHART OBJECT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waterfall.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bar is a rect. Connectors are lines. Positive steps in STEEL, negative in BERRY, anchors in INK. Delta labels above each float; anchors labeled with totals.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10222992" cy="3566160"/>
          </a:xfrm>
          <a:prstGeom prst="rect">
            <a:avLst/>
          </a:prstGeom>
          <a:ln w="6350">
            <a:solidFill>
              <a:srgbClr val="C9B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6054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96481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56909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17336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77763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038191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498618" y="57058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5907024"/>
            <a:ext cx="10222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5869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50383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489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941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3924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843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2295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 rot="-5400000">
            <a:off x="18288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512064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57200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402336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47472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292608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2377440"/>
            <a:ext cx="10222992" cy="0"/>
          </a:xfrm>
          <a:prstGeom prst="line">
            <a:avLst/>
          </a:prstGeom>
          <a:noFill/>
          <a:ln w="5080">
            <a:solidFill>
              <a:srgbClr val="C9B9A8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86270" y="3877970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846698" y="4382719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307125" y="4484218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767553" y="3971239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227980" y="4607662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688408" y="2533802"/>
            <a:ext cx="525754" cy="0"/>
          </a:xfrm>
          <a:prstGeom prst="line">
            <a:avLst/>
          </a:prstGeom>
          <a:noFill/>
          <a:ln w="9525">
            <a:solidFill>
              <a:srgbClr val="8A7968">
                <a:alpha val="70000"/>
              </a:srgbClr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621754" y="3877970"/>
            <a:ext cx="594360" cy="1791310"/>
          </a:xfrm>
          <a:prstGeom prst="rect">
            <a:avLst/>
          </a:prstGeom>
          <a:solidFill>
            <a:srgbClr val="353745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70294" y="353049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82181" y="3877970"/>
            <a:ext cx="594360" cy="504749"/>
          </a:xfrm>
          <a:prstGeom prst="rect">
            <a:avLst/>
          </a:prstGeom>
          <a:solidFill>
            <a:srgbClr val="B84C65"/>
          </a:solidFill>
          <a:ln/>
        </p:spPr>
      </p:sp>
      <p:sp>
        <p:nvSpPr>
          <p:cNvPr id="37" name="Text 35"/>
          <p:cNvSpPr/>
          <p:nvPr/>
        </p:nvSpPr>
        <p:spPr>
          <a:xfrm>
            <a:off x="2830721" y="353049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−$1.8M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42609" y="4382719"/>
            <a:ext cx="594360" cy="101498"/>
          </a:xfrm>
          <a:prstGeom prst="rect">
            <a:avLst/>
          </a:prstGeom>
          <a:solidFill>
            <a:srgbClr val="B84C65"/>
          </a:solidFill>
          <a:ln/>
        </p:spPr>
      </p:sp>
      <p:sp>
        <p:nvSpPr>
          <p:cNvPr id="39" name="Text 37"/>
          <p:cNvSpPr/>
          <p:nvPr/>
        </p:nvSpPr>
        <p:spPr>
          <a:xfrm>
            <a:off x="4291149" y="403524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−$0.4M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03036" y="3971239"/>
            <a:ext cx="594360" cy="512978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1" name="Text 39"/>
          <p:cNvSpPr/>
          <p:nvPr/>
        </p:nvSpPr>
        <p:spPr>
          <a:xfrm>
            <a:off x="5751576" y="362376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+$1.9M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63463" y="3971239"/>
            <a:ext cx="594360" cy="636422"/>
          </a:xfrm>
          <a:prstGeom prst="rect">
            <a:avLst/>
          </a:prstGeom>
          <a:solidFill>
            <a:srgbClr val="B84C65"/>
          </a:solidFill>
          <a:ln/>
        </p:spPr>
      </p:sp>
      <p:sp>
        <p:nvSpPr>
          <p:cNvPr id="43" name="Text 41"/>
          <p:cNvSpPr/>
          <p:nvPr/>
        </p:nvSpPr>
        <p:spPr>
          <a:xfrm>
            <a:off x="7212003" y="362376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−$2.3M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23891" y="2533802"/>
            <a:ext cx="594360" cy="2073859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45" name="Text 43"/>
          <p:cNvSpPr/>
          <p:nvPr/>
        </p:nvSpPr>
        <p:spPr>
          <a:xfrm>
            <a:off x="8672431" y="218633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+$7.6M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84318" y="2533802"/>
            <a:ext cx="594360" cy="3135478"/>
          </a:xfrm>
          <a:prstGeom prst="rect">
            <a:avLst/>
          </a:prstGeom>
          <a:solidFill>
            <a:srgbClr val="353745">
              <a:alpha val="8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132858" y="218633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$11.4M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years of compression, then </a:t>
            </a:r>
            <a:pPr indent="0" marL="0">
              <a:buNone/>
            </a:pPr>
            <a:r>
              <a:rPr lang="en-US" sz="1200" b="1" i="1" dirty="0">
                <a:solidFill>
                  <a:srgbClr val="353745"/>
                </a:solidFill>
                <a:highlight>
                  <a:srgbClr val="C1FF72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+$7.6M in one year</a:t>
            </a:r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EBITDA snap-back.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 · 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 % compressed, then snapped back.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pptxgenjs line chart. Saperia palette, axes, gridlines. Callout highlights the trough. No overlay — native handles this type cleanly.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 trough: </a:t>
            </a:r>
            <a:pPr indent="0" marL="0">
              <a:buNone/>
            </a:pPr>
            <a:r>
              <a:rPr lang="en-US" sz="1200" b="1" i="1" dirty="0">
                <a:solidFill>
                  <a:srgbClr val="353745"/>
                </a:solidFill>
                <a:highlight>
                  <a:srgbClr val="C1FF72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15.3%</a:t>
            </a:r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 12-point compression from 2025. Back to 33% by 2030.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· 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practices, split close to thirds by 2035.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pptxgenjs doughnut. Text callouts on the right replace native labels (the common native weakness).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2103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TOTAL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2377440"/>
            <a:ext cx="1371600" cy="0"/>
          </a:xfrm>
          <a:prstGeom prst="line">
            <a:avLst/>
          </a:prstGeom>
          <a:noFill/>
          <a:ln w="19050">
            <a:solidFill>
              <a:srgbClr val="3537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2468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$58.7M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766560" y="3639312"/>
            <a:ext cx="128016" cy="128016"/>
          </a:xfrm>
          <a:prstGeom prst="rect">
            <a:avLst/>
          </a:prstGeom>
          <a:solidFill>
            <a:srgbClr val="BFE5E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3822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$20.6M  ·  35%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 by 2035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4553712"/>
            <a:ext cx="128016" cy="128016"/>
          </a:xfrm>
          <a:prstGeom prst="rect">
            <a:avLst/>
          </a:prstGeom>
          <a:solidFill>
            <a:srgbClr val="B84C65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$19.9M  ·  34%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grower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5468112"/>
            <a:ext cx="128016" cy="128016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5394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40880" y="5650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$18.1M  ·  31%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Cyclical anchor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 · 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Utilization predicts EBITDA margin.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pptxgenjs scatter chart (non-bubble). 11 years of (util, EBITDA %) points. Native handles scatter when sizing uniformity is fine.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slope: every 10 utilization points ≈ +7 points of EBITDA. Pricing alone never closed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 · 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practices, three different trajectories.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time-points on six axes (every other year, 2025 to 2035). Revenue in $M — one shared scale, no normalization. Native handles multi-series radar when axes share units.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2103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SHAPES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2377440"/>
            <a:ext cx="1371600" cy="0"/>
          </a:xfrm>
          <a:prstGeom prst="line">
            <a:avLst/>
          </a:prstGeom>
          <a:noFill/>
          <a:ln w="19050">
            <a:solidFill>
              <a:srgbClr val="3537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3044952"/>
            <a:ext cx="128016" cy="128016"/>
          </a:xfrm>
          <a:prstGeom prst="rect">
            <a:avLst/>
          </a:prstGeom>
          <a:solidFill>
            <a:srgbClr val="2D5F7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40880" y="32278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Tightest shape. Shallow dip in 2027, steady climb after. Least cyclical.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096512"/>
            <a:ext cx="128016" cy="128016"/>
          </a:xfrm>
          <a:prstGeom prst="rect">
            <a:avLst/>
          </a:prstGeom>
          <a:solidFill>
            <a:srgbClr val="BFE5EF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0" y="4023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42793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Deepest dent in 2029, then the biggest snap-back — ends largest in 2035.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5148072"/>
            <a:ext cx="128016" cy="128016"/>
          </a:xfrm>
          <a:prstGeom prst="rect">
            <a:avLst/>
          </a:prstGeom>
          <a:solidFill>
            <a:srgbClr val="B84C65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53309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Grew through every year, downturn included. The most counter-cyclical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 ·  STRESS-TEST (DUAL-AXIS COMBO)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bars, EBITDA % line, secondary axis.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Multi-type chart: native pptxgenjs pres.ChartType has no 'combo' — you pass an array of typed blocks. Each block has its own options. Tests secondary axis, per-series styling, legend mixing.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 charts are where native shines — secondary axis, mixed bar + line, per-series styling all work in one addChart call.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·  STRESS-TEST (COMPARISON)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mix, ten years apart.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donuts, same color mapping, different years. Tests whether two instances of native addChart can be visually locked together. Center callouts added as overlays — native donuts have no center text option.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219456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715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$24.1M</a:t>
            </a:r>
            <a:endParaRPr lang="en-US" sz="18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7159752" y="219456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159752" y="5715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2035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159752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$58.7M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728716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went from 38% of revenue to 31%; Operations grew to the #1 share; Technology more than tripled in dollars.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 ·  STRESS-TEST (PHASED MULTI-SERIES)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vs EBITDA $, colored by phase.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series (setup, compression, recovery, scale) sharing one x-axis. Tests pptxgenjs scatter's null-padding pattern for multi-series with non-overlapping x values.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1090879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Compression years sit in the bottom-left cluster. Scale years walk up the diagonal. Phase coloring surfaces structure the simple scatter hides.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 ·  STRESS-TEST (FILLED OVERLAY)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practices, filled regions.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radarStyle = 'filled' with transparency so all three practices read as overlapping shapes. Tests multi-series overlay legibility and whether native radar respects alpha.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2103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FILL REVEALS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2377440"/>
            <a:ext cx="1371600" cy="0"/>
          </a:xfrm>
          <a:prstGeom prst="line">
            <a:avLst/>
          </a:prstGeom>
          <a:noFill/>
          <a:ln w="19050">
            <a:solidFill>
              <a:srgbClr val="3537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Filled overlay makes the area under each practice's shape comparable at a glance. Where line-only emphasizes trajectory, filled emphasizes cumulative footprint.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31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ceiling shows here: three filled regions on six axes fight for legibility. At four-plus series, filled radar stops scaling.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66560" y="5303520"/>
            <a:ext cx="4846320" cy="0"/>
          </a:xfrm>
          <a:prstGeom prst="line">
            <a:avLst/>
          </a:prstGeom>
          <a:noFill/>
          <a:ln w="6350">
            <a:solidFill>
              <a:srgbClr val="C9B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limit: no per-axis scale, no conditional fill.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Chart-type audit deck — Column + Waterfall</dc:title>
  <dc:subject>PptxGenJS Presentation</dc:subject>
  <dc:creator>Saperia Consulting</dc:creator>
  <cp:lastModifiedBy>Saperia Consulting</cp:lastModifiedBy>
  <cp:revision>1</cp:revision>
  <dcterms:created xsi:type="dcterms:W3CDTF">2026-04-20T21:48:44Z</dcterms:created>
  <dcterms:modified xsi:type="dcterms:W3CDTF">2026-04-20T21:48:44Z</dcterms:modified>
</cp:coreProperties>
</file>