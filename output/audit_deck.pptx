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71.3</c:v>
                </c:pt>
                <c:pt idx="1">
                  <c:v>63.5</c:v>
                </c:pt>
                <c:pt idx="2">
                  <c:v>62.4</c:v>
                </c:pt>
                <c:pt idx="3">
                  <c:v>66</c:v>
                </c:pt>
                <c:pt idx="4">
                  <c:v>59.6</c:v>
                </c:pt>
                <c:pt idx="5">
                  <c:v>76.6</c:v>
                </c:pt>
                <c:pt idx="6">
                  <c:v>75.5</c:v>
                </c:pt>
                <c:pt idx="7">
                  <c:v>73.7</c:v>
                </c:pt>
                <c:pt idx="8">
                  <c:v>70.5</c:v>
                </c:pt>
                <c:pt idx="9">
                  <c:v>71</c:v>
                </c:pt>
                <c:pt idx="10">
                  <c:v>67.5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80"/>
          <c:min val="55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Utilization %</a:t>
                </a:r>
              </a:p>
            </c:rich>
          </c:tx>
          <c:layout/>
          <c:overlay val="0"/>
        </c:title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/>
            </a:solidFill>
            <a:ln w="317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24.1</c:v>
                </c:pt>
                <c:pt idx="1">
                  <c:v>22.3</c:v>
                </c:pt>
                <c:pt idx="2">
                  <c:v>22.1</c:v>
                </c:pt>
                <c:pt idx="3">
                  <c:v>25.6</c:v>
                </c:pt>
                <c:pt idx="4">
                  <c:v>25.3</c:v>
                </c:pt>
                <c:pt idx="5">
                  <c:v>34.2</c:v>
                </c:pt>
                <c:pt idx="6">
                  <c:v>40.8</c:v>
                </c:pt>
                <c:pt idx="7">
                  <c:v>47.8</c:v>
                </c:pt>
                <c:pt idx="8">
                  <c:v>51.1</c:v>
                </c:pt>
                <c:pt idx="9">
                  <c:v>56</c:v>
                </c:pt>
                <c:pt idx="10">
                  <c:v>58.7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40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2025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9.17</c:v>
                </c:pt>
                <c:pt idx="1">
                  <c:v>8.97</c:v>
                </c:pt>
                <c:pt idx="2">
                  <c:v>5.95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2035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Setup</c:v>
                </c:pt>
              </c:strCache>
            </c:strRef>
          </c:tx>
          <c:spPr>
            <a:solidFill>
              <a:srgbClr val="8A796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8A7968"/>
              </a:solidFill>
              <a:ln w="12700" cap="flat">
                <a:solidFill>
                  <a:srgbClr val="8A796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6.53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Compression</c:v>
                </c:pt>
              </c:strCache>
            </c:strRef>
          </c:tx>
          <c:spPr>
            <a:solidFill>
              <a:srgbClr val="B84C65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B84C65"/>
              </a:solidFill>
              <a:ln w="12700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>4.69</c:v>
                </c:pt>
                <c:pt idx="2">
                  <c:v>4.32</c:v>
                </c:pt>
                <c:pt idx="3">
                  <c:v>6.19</c:v>
                </c:pt>
                <c:pt idx="4">
                  <c:v>3.87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Recovery</c:v>
                </c:pt>
              </c:strCache>
            </c:strRef>
          </c:tx>
          <c:spPr>
            <a:solidFill>
              <a:srgbClr val="4A5E6A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4A5E6A"/>
              </a:solidFill>
              <a:ln w="12700" cap="flat">
                <a:solidFill>
                  <a:srgbClr val="4A5E6A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Sheet1!$D$2:$D$12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11.43</c:v>
                </c:pt>
                <c:pt idx="6">
                  <c:v>12.88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Sheet1!$E$2:$E$12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14.72</c:v>
                </c:pt>
                <c:pt idx="8">
                  <c:v>13.96</c:v>
                </c:pt>
                <c:pt idx="9">
                  <c:v>15.65</c:v>
                </c:pt>
                <c:pt idx="10">
                  <c:v>15.4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20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>
                <a:alpha val="25000"/>
              </a:srgbClr>
            </a:solidFill>
            <a:ln w="190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>
                <a:alpha val="25000"/>
              </a:srgbClr>
            </a:solidFill>
            <a:ln w="190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>
                <a:alpha val="25000"/>
              </a:srgbClr>
            </a:solidFill>
            <a:ln w="190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PURE NATIVE PPT COLUMN CHART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chart, nothing else.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pptxgenjs addChart. Saperia palette and fonts passed in; everything else is PowerPoint defaults.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COLUMN CHART + OVERLAY CHROME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chart, shapes on top.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 for the plot area. Axis title, hero callout, and value labels live as overlay shapes/text.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→ 2030: </a:t>
            </a:r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+35%</a:t>
            </a:r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one year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6080760"/>
            <a:ext cx="11091672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bar is a rect.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chart object. Rectangles at computed positions, axis ticks as text runs. More code; full editorial control.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7052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39988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329247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58610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18797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04669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976062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905425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83478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6415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($M)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56221" y="4347606"/>
            <a:ext cx="594360" cy="132167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85584" y="4443618"/>
            <a:ext cx="594360" cy="122566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4" name="Shape 32"/>
          <p:cNvSpPr/>
          <p:nvPr/>
        </p:nvSpPr>
        <p:spPr>
          <a:xfrm>
            <a:off x="3214947" y="4455140"/>
            <a:ext cx="594360" cy="121414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5" name="Shape 33"/>
          <p:cNvSpPr/>
          <p:nvPr/>
        </p:nvSpPr>
        <p:spPr>
          <a:xfrm>
            <a:off x="4144310" y="4263664"/>
            <a:ext cx="594360" cy="14056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6" name="Shape 34"/>
          <p:cNvSpPr/>
          <p:nvPr/>
        </p:nvSpPr>
        <p:spPr>
          <a:xfrm>
            <a:off x="5073673" y="4281769"/>
            <a:ext cx="594360" cy="138751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7" name="Shape 35"/>
          <p:cNvSpPr/>
          <p:nvPr/>
        </p:nvSpPr>
        <p:spPr>
          <a:xfrm>
            <a:off x="6003036" y="3790737"/>
            <a:ext cx="594360" cy="187854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8" name="Shape 36"/>
          <p:cNvSpPr/>
          <p:nvPr/>
        </p:nvSpPr>
        <p:spPr>
          <a:xfrm>
            <a:off x="6932399" y="3431377"/>
            <a:ext cx="594360" cy="223790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1762" y="3047329"/>
            <a:ext cx="594360" cy="262195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0" name="Shape 38"/>
          <p:cNvSpPr/>
          <p:nvPr/>
        </p:nvSpPr>
        <p:spPr>
          <a:xfrm>
            <a:off x="8791125" y="2867376"/>
            <a:ext cx="594360" cy="280190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Shape 39"/>
          <p:cNvSpPr/>
          <p:nvPr/>
        </p:nvSpPr>
        <p:spPr>
          <a:xfrm>
            <a:off x="9720488" y="2597445"/>
            <a:ext cx="594360" cy="3071835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49851" y="2450958"/>
            <a:ext cx="594360" cy="321832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3" name="Text 41"/>
          <p:cNvSpPr/>
          <p:nvPr/>
        </p:nvSpPr>
        <p:spPr>
          <a:xfrm>
            <a:off x="5843016" y="3406689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53745"/>
                </a:solidFill>
                <a:highlight>
                  <a:srgbClr val="C1FF7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NATIVE STACKED-COLUMN HACK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waterfall. The closest native can get.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pptxgenjs has no waterfall type. Best-effort: stacked column with an invisible base series. No connectors. One color for every delta — positives indistinguishable from negatives.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STACKED-COLUMN HACK + OVERLAY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rescued, colors cannot be.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native hack. Overlay adds delta labels and step connectors. Bars themselves are still one color — pptxgenjs does not expose per-bar color in native charts.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2922161" y="355793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382589" y="406267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843016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303443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763871" y="221376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 waterfall.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bar is a rect. Connectors are lines. Positive steps in STEEL, negative in BERRY, anchors in INK. Delta labels above each float; anchors labeled with totals.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3605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19648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65690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7776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03819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49861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($M)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621754" y="3877970"/>
            <a:ext cx="594360" cy="1791310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370294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082181" y="3877970"/>
            <a:ext cx="594360" cy="504749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7" name="Text 35"/>
          <p:cNvSpPr/>
          <p:nvPr/>
        </p:nvSpPr>
        <p:spPr>
          <a:xfrm>
            <a:off x="2830721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42609" y="4382719"/>
            <a:ext cx="594360" cy="101498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9" name="Text 37"/>
          <p:cNvSpPr/>
          <p:nvPr/>
        </p:nvSpPr>
        <p:spPr>
          <a:xfrm>
            <a:off x="4291149" y="40352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03036" y="3971239"/>
            <a:ext cx="594360" cy="512978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Text 39"/>
          <p:cNvSpPr/>
          <p:nvPr/>
        </p:nvSpPr>
        <p:spPr>
          <a:xfrm>
            <a:off x="5751576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463463" y="3971239"/>
            <a:ext cx="594360" cy="636422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43" name="Text 41"/>
          <p:cNvSpPr/>
          <p:nvPr/>
        </p:nvSpPr>
        <p:spPr>
          <a:xfrm>
            <a:off x="7212003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923891" y="2533802"/>
            <a:ext cx="594360" cy="2073859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5" name="Text 43"/>
          <p:cNvSpPr/>
          <p:nvPr/>
        </p:nvSpPr>
        <p:spPr>
          <a:xfrm>
            <a:off x="8672431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384318" y="2533802"/>
            <a:ext cx="594360" cy="3135478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10132858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$11.4M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years of compression, then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+$7.6M in one year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EBITDA snap-back.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EBITDA % compressed, then snapped back.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line chart. Saperia palette, axes, gridlines. Callout highlights the trough. No overlay — native handles this type cleanly.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trough: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15.3%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12-point compression from 2025. Back to 33% by 2030.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split close to thirds by 2035.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doughnut. Text callouts on the right replace native labels (the common native weakness).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984325" y="340895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31%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53102" y="4978653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273370" y="34928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34%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 TOTAL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2468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4400" dirty="0"/>
          </a:p>
        </p:txBody>
      </p:sp>
      <p:sp>
        <p:nvSpPr>
          <p:cNvPr id="12" name="Shape 9"/>
          <p:cNvSpPr/>
          <p:nvPr/>
        </p:nvSpPr>
        <p:spPr>
          <a:xfrm>
            <a:off x="6766560" y="36393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0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040880" y="3822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  ·  35%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04088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66560" y="455371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040880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  ·  34%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040880" y="4983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766560" y="546811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21" name="Text 18"/>
          <p:cNvSpPr/>
          <p:nvPr/>
        </p:nvSpPr>
        <p:spPr>
          <a:xfrm>
            <a:off x="7040880" y="5394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40880" y="5650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  ·  31%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040880" y="5897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Utilization predicts EBITDA margin.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scatter chart (non-bubble). 11 years of (util, EBITDA %) points. Native handles scatter when sizing uniformity is fine.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Positive slope: every 10 utilization points ≈ +7 points of EBITDA. Pricing alone never closed the gap.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three different trajectories.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time-points on six axes (every other year, 2025 to 2035). Revenue in $M — one shared scale, no normalization. Native handles multi-series radar when axes share units.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SHAPES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0" y="304495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0" y="2971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040880" y="322783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Tightest shape. Shallow dip in 2027, steady climb after. Least cyclical.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965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0" y="4023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040880" y="42793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Deepest dent in 2029, then the biggest snap-back — ends largest in 2035.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66560" y="514807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5" name="Text 12"/>
          <p:cNvSpPr/>
          <p:nvPr/>
        </p:nvSpPr>
        <p:spPr>
          <a:xfrm>
            <a:off x="704088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40880" y="533095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Grew through every year, downturn included. The most counter-cyclical practice.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STRESS-TEST (DUAL-AXIS COMBO)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bars, EBITDA % line, secondary axis.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Multi-type chart: native pptxgenjs pres.ChartType has no 'combo' — you pass an array of typed blocks. Each block has its own options. Tests secondary axis, per-series styling, legend mixing.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Combo charts are where native shines — secondary axis, mixed bar + line, per-series styling all work in one addChart call.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STRESS-TEST (COMPARISON)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mix, ten years apart.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donuts, same color mapping, different years. Tests whether two instances of native addChart can be visually locked together. Center callouts added as overlays — native donuts have no center text option.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914400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14400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$24.1M</a:t>
            </a:r>
            <a:endParaRPr lang="en-US" sz="18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159752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159752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159752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728716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went from 38% of revenue to 31%; Operations grew to the #1 share; Technology more than tripled in dollars.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STRESS-TEST (PHASED MULTI-SERIES)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vs EBITDA $, colored by phase.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series (setup, compression, recovery, scale) sharing one x-axis. Tests pptxgenjs scatter's null-padding pattern for multi-series with non-overlapping x values.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Compression years sit in the bottom-left cluster. Scale years walk up the diagonal. Phase coloring surfaces structure the simple scatter hides.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STRESS-TEST (FILLED OVERLAY)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three practices, filled regions.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radarStyle = 'filled' with transparency so all three practices read as overlapping shapes. Tests multi-series overlay legibility and whether native radar respects alpha.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FILL REVEALS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26517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Filled overlay makes the area under each practice's shape comparable at a glance. Where line-only emphasizes trajectory, filled emphasizes cumulative footprint.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3931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ceiling shows here: three filled regions on six axes fight for legibility. At four-plus series, filled radar stops scaling.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766560" y="5303520"/>
            <a:ext cx="4846320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5394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limit: no per-axis scale, no conditional fill.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Chart-type audit deck — Column + Waterfall</dc:title>
  <dc:subject>PptxGenJS Presentation</dc:subject>
  <dc:creator>Saperia Consulting</dc:creator>
  <cp:lastModifiedBy>Saperia Consulting</cp:lastModifiedBy>
  <cp:revision>1</cp:revision>
  <dcterms:created xsi:type="dcterms:W3CDTF">2026-04-20T22:05:39Z</dcterms:created>
  <dcterms:modified xsi:type="dcterms:W3CDTF">2026-04-20T22:05:39Z</dcterms:modified>
</cp:coreProperties>
</file>