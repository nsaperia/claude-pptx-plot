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8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9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5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4.69</c:v>
                </c:pt>
                <c:pt idx="2">
                  <c:v>4.32</c:v>
                </c:pt>
                <c:pt idx="3">
                  <c:v>4.32</c:v>
                </c:pt>
                <c:pt idx="4">
                  <c:v>3.87</c:v>
                </c:pt>
                <c:pt idx="5">
                  <c:v>3.87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Delta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2030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6.53</c:v>
                </c:pt>
                <c:pt idx="1">
                  <c:v>1.8399999999999999</c:v>
                </c:pt>
                <c:pt idx="2">
                  <c:v>0.3700000000000001</c:v>
                </c:pt>
                <c:pt idx="3">
                  <c:v>1.87</c:v>
                </c:pt>
                <c:pt idx="4">
                  <c:v>2.3200000000000003</c:v>
                </c:pt>
                <c:pt idx="5">
                  <c:v>7.56</c:v>
                </c:pt>
                <c:pt idx="6">
                  <c:v>11.43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9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71.3</c:v>
                </c:pt>
                <c:pt idx="1">
                  <c:v>63.5</c:v>
                </c:pt>
                <c:pt idx="2">
                  <c:v>62.4</c:v>
                </c:pt>
                <c:pt idx="3">
                  <c:v>66</c:v>
                </c:pt>
                <c:pt idx="4">
                  <c:v>59.6</c:v>
                </c:pt>
                <c:pt idx="5">
                  <c:v>76.6</c:v>
                </c:pt>
                <c:pt idx="6">
                  <c:v>75.5</c:v>
                </c:pt>
                <c:pt idx="7">
                  <c:v>73.7</c:v>
                </c:pt>
                <c:pt idx="8">
                  <c:v>70.5</c:v>
                </c:pt>
                <c:pt idx="9">
                  <c:v>71</c:v>
                </c:pt>
                <c:pt idx="10">
                  <c:v>67.5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80"/>
          <c:min val="55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Utilization %</a:t>
                </a:r>
              </a:p>
            </c:rich>
          </c:tx>
          <c:layout/>
          <c:overlay val="0"/>
        </c:title>
        <c:numFmt formatCode="0&quot;%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35"/>
          <c:min val="1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/>
            </a:solidFill>
            <a:ln w="317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/>
            </a:solidFill>
            <a:ln w="317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2D5F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24.1</c:v>
                </c:pt>
                <c:pt idx="1">
                  <c:v>22.3</c:v>
                </c:pt>
                <c:pt idx="2">
                  <c:v>22.1</c:v>
                </c:pt>
                <c:pt idx="3">
                  <c:v>25.6</c:v>
                </c:pt>
                <c:pt idx="4">
                  <c:v>25.3</c:v>
                </c:pt>
                <c:pt idx="5">
                  <c:v>34.2</c:v>
                </c:pt>
                <c:pt idx="6">
                  <c:v>40.8</c:v>
                </c:pt>
                <c:pt idx="7">
                  <c:v>47.8</c:v>
                </c:pt>
                <c:pt idx="8">
                  <c:v>51.1</c:v>
                </c:pt>
                <c:pt idx="9">
                  <c:v>56</c:v>
                </c:pt>
                <c:pt idx="10">
                  <c:v>58.7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EBITDA %</c:v>
                </c:pt>
              </c:strCache>
            </c:strRef>
          </c:tx>
          <c:spPr>
            <a:solidFill>
              <a:srgbClr val="B84C65"/>
            </a:solidFill>
            <a:ln w="317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</c:v>
                  </c:pt>
                  <c:pt idx="1">
                    <c:v>2026</c:v>
                  </c:pt>
                  <c:pt idx="2">
                    <c:v>2027</c:v>
                  </c:pt>
                  <c:pt idx="3">
                    <c:v>2028</c:v>
                  </c:pt>
                  <c:pt idx="4">
                    <c:v>2029</c:v>
                  </c:pt>
                  <c:pt idx="5">
                    <c:v>2030</c:v>
                  </c:pt>
                  <c:pt idx="6">
                    <c:v>2031</c:v>
                  </c:pt>
                  <c:pt idx="7">
                    <c:v>2032</c:v>
                  </c:pt>
                  <c:pt idx="8">
                    <c:v>2033</c:v>
                  </c:pt>
                  <c:pt idx="9">
                    <c:v>2034</c:v>
                  </c:pt>
                  <c:pt idx="10">
                    <c:v>2035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27.1</c:v>
                </c:pt>
                <c:pt idx="1">
                  <c:v>21</c:v>
                </c:pt>
                <c:pt idx="2">
                  <c:v>19.5</c:v>
                </c:pt>
                <c:pt idx="3">
                  <c:v>24.2</c:v>
                </c:pt>
                <c:pt idx="4">
                  <c:v>15.3</c:v>
                </c:pt>
                <c:pt idx="5">
                  <c:v>33.4</c:v>
                </c:pt>
                <c:pt idx="6">
                  <c:v>31.6</c:v>
                </c:pt>
                <c:pt idx="7">
                  <c:v>30.8</c:v>
                </c:pt>
                <c:pt idx="8">
                  <c:v>27.3</c:v>
                </c:pt>
                <c:pt idx="9">
                  <c:v>28</c:v>
                </c:pt>
                <c:pt idx="10">
                  <c:v>26.3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40"/>
          <c:min val="0"/>
        </c:scaling>
        <c:delete val="0"/>
        <c:axPos val="r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%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2025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9.17</c:v>
                </c:pt>
                <c:pt idx="1">
                  <c:v>8.97</c:v>
                </c:pt>
                <c:pt idx="2">
                  <c:v>5.95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 2035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D5F7C"/>
              </a:solidFill>
              <a:effectLst/>
            </c:spPr>
          </c:dPt>
          <c:dPt>
            <c:idx val="1"/>
            <c:bubble3D val="0"/>
            <c:spPr>
              <a:solidFill>
                <a:srgbClr val="BFE5EF"/>
              </a:solidFill>
              <a:effectLst/>
            </c:spPr>
          </c:dPt>
          <c:dPt>
            <c:idx val="2"/>
            <c:bubble3D val="0"/>
            <c:spPr>
              <a:solidFill>
                <a:srgbClr val="B84C65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Strategy</c:v>
                </c:pt>
                <c:pt idx="1">
                  <c:v>Operations</c:v>
                </c:pt>
                <c:pt idx="2">
                  <c:v>Technology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18.11</c:v>
                </c:pt>
                <c:pt idx="1">
                  <c:v>20.61</c:v>
                </c:pt>
                <c:pt idx="2">
                  <c:v>19.94</c:v>
                </c:pt>
              </c:numCache>
            </c:numRef>
          </c:val>
        </c:ser>
        <c:firstSliceAng val="0"/>
        <c:holeSize val="65"/>
      </c:doughnutChart>
      <c:spPr>
        <a:solidFill>
          <a:srgbClr val="FFF5ED"/>
        </a:solidFill>
        <a:ln>
          <a:noFill/>
        </a:ln>
        <a:effectLst/>
      </c:spPr>
    </c:plotArea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Setup</c:v>
                </c:pt>
              </c:strCache>
            </c:strRef>
          </c:tx>
          <c:spPr>
            <a:solidFill>
              <a:srgbClr val="8A7968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8A7968"/>
              </a:solidFill>
              <a:ln w="12700" cap="flat">
                <a:solidFill>
                  <a:srgbClr val="8A7968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Sheet1!$B$2:$B$12</c:f>
              <c:numCache>
                <c:formatCode>General</c:formatCode>
                <c:ptCount val="11"/>
                <c:pt idx="0">
                  <c:v>6.53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Compression</c:v>
                </c:pt>
              </c:strCache>
            </c:strRef>
          </c:tx>
          <c:spPr>
            <a:solidFill>
              <a:srgbClr val="B84C65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B84C65"/>
              </a:solidFill>
              <a:ln w="12700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Sheet1!$C$2:$C$12</c:f>
              <c:numCache>
                <c:formatCode>General</c:formatCode>
                <c:ptCount val="11"/>
                <c:pt idx="0">
                  <c:v/>
                </c:pt>
                <c:pt idx="1">
                  <c:v>4.69</c:v>
                </c:pt>
                <c:pt idx="2">
                  <c:v>4.32</c:v>
                </c:pt>
                <c:pt idx="3">
                  <c:v>6.19</c:v>
                </c:pt>
                <c:pt idx="4">
                  <c:v>3.87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Recovery</c:v>
                </c:pt>
              </c:strCache>
            </c:strRef>
          </c:tx>
          <c:spPr>
            <a:solidFill>
              <a:srgbClr val="4A5E6A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4A5E6A"/>
              </a:solidFill>
              <a:ln w="12700" cap="flat">
                <a:solidFill>
                  <a:srgbClr val="4A5E6A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Sheet1!$D$2:$D$12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11.43</c:v>
                </c:pt>
                <c:pt idx="6">
                  <c:v>12.88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Scale</c:v>
                </c:pt>
              </c:strCache>
            </c:strRef>
          </c:tx>
          <c:spPr>
            <a:solidFill>
              <a:srgbClr val="2D5F7C"/>
            </a:solidFill>
            <a:ln>
              <a:noFill/>
            </a:ln>
            <a:effectLst/>
          </c:spPr>
          <c:marker>
            <c:symbol val="circle"/>
            <c:size val="11"/>
            <c:spPr>
              <a:solidFill>
                <a:srgbClr val="2D5F7C"/>
              </a:solidFill>
              <a:ln w="12700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xVal>
            <c:numRef>
              <c:f>Sheet1!$A$2:$A$12</c:f>
              <c:numCache>
                <c:formatCode>General</c:formatCode>
                <c:ptCount val="11"/>
                <c:pt idx="0">
                  <c:v>24.09</c:v>
                </c:pt>
                <c:pt idx="1">
                  <c:v>22.34</c:v>
                </c:pt>
                <c:pt idx="2">
                  <c:v>22.13</c:v>
                </c:pt>
                <c:pt idx="3">
                  <c:v>25.62</c:v>
                </c:pt>
                <c:pt idx="4">
                  <c:v>25.29</c:v>
                </c:pt>
                <c:pt idx="5">
                  <c:v>34.24</c:v>
                </c:pt>
                <c:pt idx="6">
                  <c:v>40.79</c:v>
                </c:pt>
                <c:pt idx="7">
                  <c:v>47.79</c:v>
                </c:pt>
                <c:pt idx="8">
                  <c:v>51.07</c:v>
                </c:pt>
                <c:pt idx="9">
                  <c:v>55.99</c:v>
                </c:pt>
                <c:pt idx="10">
                  <c:v>58.66</c:v>
                </c:pt>
              </c:numCache>
            </c:numRef>
          </c:xVal>
          <c:yVal>
            <c:numRef>
              <c:f>Sheet1!$E$2:$E$12</c:f>
              <c:numCache>
                <c:formatCode>General</c:formatCode>
                <c:ptCount val="11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14.72</c:v>
                </c:pt>
                <c:pt idx="8">
                  <c:v>13.96</c:v>
                </c:pt>
                <c:pt idx="9">
                  <c:v>15.65</c:v>
                </c:pt>
                <c:pt idx="10">
                  <c:v>15.4</c:v>
                </c:pt>
              </c:numCache>
            </c:numRef>
          </c:yVal>
          <c:smooth val="0"/>
        </c:ser>
        <c:dLbls>
          <c:numFmt formatCode="General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2094734554"/>
        <c:axId val="2094734552"/>
      </c:scatterChart>
      <c:valAx>
        <c:axId val="2094734554"/>
        <c:scaling>
          <c:orientation val="minMax"/>
          <c:max val="60"/>
          <c:min val="20"/>
        </c:scaling>
        <c:delete val="0"/>
        <c:axPos val="b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Revenue ($M)</a:t>
                </a:r>
              </a:p>
            </c:rich>
          </c:tx>
          <c:layout/>
          <c:overlay val="0"/>
        </c:title>
        <c:numFmt formatCode="$0&quot;M&quot;" sourceLinked="1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val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C9B9A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A7968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8A7968"/>
                    </a:solidFill>
                    <a:latin typeface="Calibri"/>
                  </a:rPr>
                  <a:t>EBITDA ($M)</a:t>
                </a:r>
              </a:p>
            </c:rich>
          </c:tx>
          <c:layout/>
          <c:overlay val="0"/>
        </c:title>
        <c:numFmt formatCode="$0&quot;M&quot;" sourceLinked="0"/>
        <c:majorTickMark val="none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midCat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fill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</c:v>
                </c:pt>
              </c:strCache>
            </c:strRef>
          </c:tx>
          <c:spPr>
            <a:solidFill>
              <a:srgbClr val="2D5F7C">
                <a:alpha val="25000"/>
              </a:srgbClr>
            </a:solidFill>
            <a:ln w="19050" cap="flat">
              <a:solidFill>
                <a:srgbClr val="2D5F7C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2D5F7C"/>
              </a:solidFill>
              <a:ln w="9525" cap="flat">
                <a:solidFill>
                  <a:srgbClr val="2D5F7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9.17</c:v>
                </c:pt>
                <c:pt idx="1">
                  <c:v>8.27</c:v>
                </c:pt>
                <c:pt idx="2">
                  <c:v>9.98</c:v>
                </c:pt>
                <c:pt idx="3">
                  <c:v>12.93</c:v>
                </c:pt>
                <c:pt idx="4">
                  <c:v>17.6</c:v>
                </c:pt>
                <c:pt idx="5">
                  <c:v>18.11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Operations</c:v>
                </c:pt>
              </c:strCache>
            </c:strRef>
          </c:tx>
          <c:spPr>
            <a:solidFill>
              <a:srgbClr val="BFE5EF">
                <a:alpha val="25000"/>
              </a:srgbClr>
            </a:solidFill>
            <a:ln w="19050" cap="flat">
              <a:solidFill>
                <a:srgbClr val="BFE5EF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FE5EF"/>
              </a:solidFill>
              <a:ln w="9525" cap="flat">
                <a:solidFill>
                  <a:srgbClr val="BFE5E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8.97</c:v>
                </c:pt>
                <c:pt idx="1">
                  <c:v>7.28</c:v>
                </c:pt>
                <c:pt idx="2">
                  <c:v>5.12</c:v>
                </c:pt>
                <c:pt idx="3">
                  <c:v>13.29</c:v>
                </c:pt>
                <c:pt idx="4">
                  <c:v>18.26</c:v>
                </c:pt>
                <c:pt idx="5">
                  <c:v>20.61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Technology</c:v>
                </c:pt>
              </c:strCache>
            </c:strRef>
          </c:tx>
          <c:spPr>
            <a:solidFill>
              <a:srgbClr val="B84C65">
                <a:alpha val="25000"/>
              </a:srgbClr>
            </a:solidFill>
            <a:ln w="19050" cap="flat">
              <a:solidFill>
                <a:srgbClr val="B84C65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B84C65"/>
              </a:solidFill>
              <a:ln w="9525" cap="flat">
                <a:solidFill>
                  <a:srgbClr val="B84C6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2025</c:v>
                  </c:pt>
                  <c:pt idx="1">
                    <c:v>2027</c:v>
                  </c:pt>
                  <c:pt idx="2">
                    <c:v>2029</c:v>
                  </c:pt>
                  <c:pt idx="3">
                    <c:v>2031</c:v>
                  </c:pt>
                  <c:pt idx="4">
                    <c:v>2033</c:v>
                  </c:pt>
                  <c:pt idx="5">
                    <c:v>2035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5.95</c:v>
                </c:pt>
                <c:pt idx="1">
                  <c:v>6.57</c:v>
                </c:pt>
                <c:pt idx="2">
                  <c:v>10.19</c:v>
                </c:pt>
                <c:pt idx="3">
                  <c:v>14.57</c:v>
                </c:pt>
                <c:pt idx="4">
                  <c:v>15.22</c:v>
                </c:pt>
                <c:pt idx="5">
                  <c:v>19.94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0"/>
        <c:axPos val="l"/>
        <c:majorGridlines>
          <c:spPr>
            <a:ln w="5080" cap="flat">
              <a:solidFill>
                <a:srgbClr val="C9B9A8"/>
              </a:solidFill>
              <a:prstDash val="solid"/>
              <a:round/>
            </a:ln>
          </c:spPr>
        </c:majorGridlines>
        <c:numFmt formatCode="$0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79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5ED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8A7968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5ED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chart" Target="/ppt/charts/chart11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PURE NATIVE PPT COLUMN CHART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chart, nothing else.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Pure pptxgenjs addChart. Saperia palette and fonts passed in; everything else is PowerPoint defaults.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COLUMN CHART + OVERLAY CHROME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chart, shapes on top.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chart for the plot area. Axis title, hero callout, and value labels live as overlay shapes/text.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264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→ 2030: </a:t>
            </a:r>
            <a:pPr indent="0" marL="0">
              <a:buNone/>
            </a:pPr>
            <a:r>
              <a:rPr lang="en-US" sz="13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+35%</a:t>
            </a:r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one year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6080760"/>
            <a:ext cx="11091672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bar is a rect.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chart object. Rectangles at computed positions, axis ticks as text runs. More code; full editorial control.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7052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239988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329247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58610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18797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04669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7976062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8905425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83478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6415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$40M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$50M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($M)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56221" y="4347606"/>
            <a:ext cx="594360" cy="132167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3" name="Shape 31"/>
          <p:cNvSpPr/>
          <p:nvPr/>
        </p:nvSpPr>
        <p:spPr>
          <a:xfrm>
            <a:off x="2285584" y="4443618"/>
            <a:ext cx="594360" cy="122566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4" name="Shape 32"/>
          <p:cNvSpPr/>
          <p:nvPr/>
        </p:nvSpPr>
        <p:spPr>
          <a:xfrm>
            <a:off x="3214947" y="4455140"/>
            <a:ext cx="594360" cy="121414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5" name="Shape 33"/>
          <p:cNvSpPr/>
          <p:nvPr/>
        </p:nvSpPr>
        <p:spPr>
          <a:xfrm>
            <a:off x="4144310" y="4263664"/>
            <a:ext cx="594360" cy="14056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6" name="Shape 34"/>
          <p:cNvSpPr/>
          <p:nvPr/>
        </p:nvSpPr>
        <p:spPr>
          <a:xfrm>
            <a:off x="5073673" y="4281769"/>
            <a:ext cx="594360" cy="138751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7" name="Shape 35"/>
          <p:cNvSpPr/>
          <p:nvPr/>
        </p:nvSpPr>
        <p:spPr>
          <a:xfrm>
            <a:off x="6003036" y="3790737"/>
            <a:ext cx="594360" cy="187854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8" name="Shape 36"/>
          <p:cNvSpPr/>
          <p:nvPr/>
        </p:nvSpPr>
        <p:spPr>
          <a:xfrm>
            <a:off x="6932399" y="3431377"/>
            <a:ext cx="594360" cy="2237903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39" name="Shape 37"/>
          <p:cNvSpPr/>
          <p:nvPr/>
        </p:nvSpPr>
        <p:spPr>
          <a:xfrm>
            <a:off x="7861762" y="3047329"/>
            <a:ext cx="594360" cy="2621951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0" name="Shape 38"/>
          <p:cNvSpPr/>
          <p:nvPr/>
        </p:nvSpPr>
        <p:spPr>
          <a:xfrm>
            <a:off x="8791125" y="2867376"/>
            <a:ext cx="594360" cy="2801904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Shape 39"/>
          <p:cNvSpPr/>
          <p:nvPr/>
        </p:nvSpPr>
        <p:spPr>
          <a:xfrm>
            <a:off x="9720488" y="2597445"/>
            <a:ext cx="594360" cy="3071835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2" name="Shape 40"/>
          <p:cNvSpPr/>
          <p:nvPr/>
        </p:nvSpPr>
        <p:spPr>
          <a:xfrm>
            <a:off x="10649851" y="2450958"/>
            <a:ext cx="594360" cy="3218322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3" name="Text 41"/>
          <p:cNvSpPr/>
          <p:nvPr/>
        </p:nvSpPr>
        <p:spPr>
          <a:xfrm>
            <a:off x="5843016" y="3406689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353745"/>
                </a:solidFill>
                <a:highlight>
                  <a:srgbClr val="C1FF72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A  ·  NATIVE STACKED-COLUMN HACK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a waterfall. The closest native can get.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pptxgenjs has no waterfall type. Best-effort: stacked column with an invisible base series. No connectors. One color for every delta — positives indistinguishable from negatives.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B  ·  NATIVE STACKED-COLUMN HACK + OVERLAY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Labels rescued, colors cannot be.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native hack. Overlay adds delta labels and step connectors. Bars themselves are still one color — pptxgenjs does not expose per-bar color in native charts.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9" name="Shape 6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1" name="Shape 8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2922161" y="355793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382589" y="406267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843016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7303443" y="3651199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763871" y="221376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C  ·  PURE NATIVE SHAPES — NO CHART OBJECT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real waterfall.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bar is a rect. Connectors are lines. Positive steps in STEEL, negative in BERRY, anchors in INK. Delta labels above each float; anchors labeled with totals.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188720" y="2103120"/>
            <a:ext cx="10222992" cy="3566160"/>
          </a:xfrm>
          <a:prstGeom prst="rect">
            <a:avLst/>
          </a:prstGeom>
          <a:ln w="6350">
            <a:solidFill>
              <a:srgbClr val="C9B9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36054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19648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656909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117336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577763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9038191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498618" y="570585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188720" y="5907024"/>
            <a:ext cx="10222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55869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$0M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640080" y="50383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40080" y="448970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$4M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0080" y="394106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40080" y="339242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$8M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284378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0080" y="2295144"/>
            <a:ext cx="4754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$12M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 rot="-5400000">
            <a:off x="182880" y="38862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($M)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188720" y="51206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188720" y="457200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88720" y="402336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88720" y="347472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88720" y="292608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8720" y="2377440"/>
            <a:ext cx="10222992" cy="0"/>
          </a:xfrm>
          <a:prstGeom prst="line">
            <a:avLst/>
          </a:prstGeom>
          <a:noFill/>
          <a:ln w="5080">
            <a:solidFill>
              <a:srgbClr val="C9B9A8">
                <a:alpha val="60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86270" y="3877970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846698" y="438271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07125" y="4484218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767553" y="3971239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8227980" y="460766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9688408" y="2533802"/>
            <a:ext cx="525754" cy="0"/>
          </a:xfrm>
          <a:prstGeom prst="line">
            <a:avLst/>
          </a:prstGeom>
          <a:noFill/>
          <a:ln w="9525">
            <a:solidFill>
              <a:srgbClr val="8A7968">
                <a:alpha val="70000"/>
              </a:srgbClr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1621754" y="3877970"/>
            <a:ext cx="594360" cy="1791310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370294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082181" y="3877970"/>
            <a:ext cx="594360" cy="504749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7" name="Text 35"/>
          <p:cNvSpPr/>
          <p:nvPr/>
        </p:nvSpPr>
        <p:spPr>
          <a:xfrm>
            <a:off x="2830721" y="353049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−$1.8M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42609" y="4382719"/>
            <a:ext cx="594360" cy="101498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39" name="Text 37"/>
          <p:cNvSpPr/>
          <p:nvPr/>
        </p:nvSpPr>
        <p:spPr>
          <a:xfrm>
            <a:off x="4291149" y="403524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−$0.4M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003036" y="3971239"/>
            <a:ext cx="594360" cy="512978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1" name="Text 39"/>
          <p:cNvSpPr/>
          <p:nvPr/>
        </p:nvSpPr>
        <p:spPr>
          <a:xfrm>
            <a:off x="5751576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+$1.9M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463463" y="3971239"/>
            <a:ext cx="594360" cy="636422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43" name="Text 41"/>
          <p:cNvSpPr/>
          <p:nvPr/>
        </p:nvSpPr>
        <p:spPr>
          <a:xfrm>
            <a:off x="7212003" y="3623767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84C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−$2.3M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8923891" y="2533802"/>
            <a:ext cx="594360" cy="2073859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45" name="Text 43"/>
          <p:cNvSpPr/>
          <p:nvPr/>
        </p:nvSpPr>
        <p:spPr>
          <a:xfrm>
            <a:off x="8672431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D5F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+$7.6M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10384318" y="2533802"/>
            <a:ext cx="594360" cy="3135478"/>
          </a:xfrm>
          <a:prstGeom prst="rect">
            <a:avLst/>
          </a:prstGeom>
          <a:solidFill>
            <a:srgbClr val="353745">
              <a:alpha val="85000"/>
            </a:srgbClr>
          </a:solidFill>
          <a:ln/>
        </p:spPr>
      </p:sp>
      <p:sp>
        <p:nvSpPr>
          <p:cNvPr id="47" name="Text 45"/>
          <p:cNvSpPr/>
          <p:nvPr/>
        </p:nvSpPr>
        <p:spPr>
          <a:xfrm>
            <a:off x="10132858" y="218633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$11.4M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years of compression, then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+$7.6M in one year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EBITDA snap-back.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EBITDA % compressed, then snapped back.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line chart. Saperia palette, axes, gridlines. Callout highlights the trough. No overlay — native handles this type cleanly.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2029 trough: </a:t>
            </a:r>
            <a:pPr indent="0" marL="0">
              <a:buNone/>
            </a:pPr>
            <a:r>
              <a:rPr lang="en-US" sz="1200" b="1" i="1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15.3%</a:t>
            </a:r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 12-point compression from 2025. Back to 33% by 2030.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split close to thirds by 2035.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doughnut. Text callouts on the right replace native labels (the common native weakness).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984325" y="340895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31%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253102" y="4978653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35%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2273370" y="34928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34%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 TOTAL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2468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4400" dirty="0"/>
          </a:p>
        </p:txBody>
      </p:sp>
      <p:sp>
        <p:nvSpPr>
          <p:cNvPr id="12" name="Shape 9"/>
          <p:cNvSpPr/>
          <p:nvPr/>
        </p:nvSpPr>
        <p:spPr>
          <a:xfrm>
            <a:off x="6766560" y="36393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0" y="35661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040880" y="38221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  ·  35%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04088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66560" y="455371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7" name="Text 14"/>
          <p:cNvSpPr/>
          <p:nvPr/>
        </p:nvSpPr>
        <p:spPr>
          <a:xfrm>
            <a:off x="7040880" y="44805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040880" y="47365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  ·  34%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7040880" y="4983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766560" y="546811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21" name="Text 18"/>
          <p:cNvSpPr/>
          <p:nvPr/>
        </p:nvSpPr>
        <p:spPr>
          <a:xfrm>
            <a:off x="7040880" y="53949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040880" y="565099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  ·  31%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040880" y="5897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Utilization predicts EBITDA margin.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pptxgenjs scatter chart (non-bubble). 11 years of (util, EBITDA %) points. Native handles scatter when sizing uniformity is fine.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Positive slope: every 10 utilization points ≈ +7 points of EBITDA. Pricing alone never closed the gap.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NATIVE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practices, three different trajectories.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time-points on six axes (every other year, 2025 to 2035). Revenue in $M — one shared scale, no normalization. Native handles multi-series radar when axes share units.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SHAPES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766560" y="3044952"/>
            <a:ext cx="128016" cy="128016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0" y="2971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40880" y="322783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Tightest shape. Shallow dip in 2027, steady climb after. Least cyclical.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66560" y="4096512"/>
            <a:ext cx="128016" cy="128016"/>
          </a:xfrm>
          <a:prstGeom prst="rect">
            <a:avLst/>
          </a:prstGeom>
          <a:solidFill>
            <a:srgbClr val="BFE5EF"/>
          </a:solidFill>
          <a:ln/>
        </p:spPr>
      </p:sp>
      <p:sp>
        <p:nvSpPr>
          <p:cNvPr id="12" name="Text 9"/>
          <p:cNvSpPr/>
          <p:nvPr/>
        </p:nvSpPr>
        <p:spPr>
          <a:xfrm>
            <a:off x="7040880" y="402336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040880" y="427939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Deepest dent in 2029, then the biggest snap-back — ends largest in 2035.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766560" y="5148072"/>
            <a:ext cx="128016" cy="128016"/>
          </a:xfrm>
          <a:prstGeom prst="rect">
            <a:avLst/>
          </a:prstGeom>
          <a:solidFill>
            <a:srgbClr val="B84C65"/>
          </a:solidFill>
          <a:ln/>
        </p:spPr>
      </p:sp>
      <p:sp>
        <p:nvSpPr>
          <p:cNvPr id="15" name="Text 12"/>
          <p:cNvSpPr/>
          <p:nvPr/>
        </p:nvSpPr>
        <p:spPr>
          <a:xfrm>
            <a:off x="704088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040880" y="5330952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Grew through every year, downturn included. The most counter-cyclical practice.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  ·  STRESS-TEST (DUAL-AXIS COMBO)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bars, EBITDA % line, secondary axis.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Multi-type chart: native pptxgenjs pres.ChartType has no 'combo' — you pass an array of typed blocks. Each block has its own options. Tests secondary axis, per-series styling, legend mixing.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Combo charts are where native shines — secondary axis, mixed bar + line, per-series styling all work in one addChart call.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DONUT CHART  ·  STRESS-TEST (COMPARISON)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mix, ten years apart.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donuts, same color mapping, different years. Tests whether two instances of native addChart can be visually locked together. Center callouts added as overlays — native donuts have no center text option.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914400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914400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91440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$24.1M</a:t>
            </a:r>
            <a:endParaRPr lang="en-US" sz="18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7159752" y="2194560"/>
          <a:ext cx="41148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7159752" y="57150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7159752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$58.7M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5728716" y="365760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 went from 38% of revenue to 31%; Operations grew to the #1 share; Technology more than tripled in dollars.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PLOT  ·  STRESS-TEST (PHASED MULTI-SERIES)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vs EBITDA $, colored by phase.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series (setup, compression, recovery, scale) sharing one x-axis. Tests pptxgenjs scatter's null-padding pattern for multi-series with non-overlapping x values.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10908792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617220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Compression years sit in the bottom-left cluster. Scale years walk up the diagonal. Phase coloring surfaces structure the simple scatter hides.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CHART  ·  STRESS-TEST (FILLED OVERLAY)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three practices, filled regions.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radarStyle = 'filled' with transparency so all three practices read as overlapping shapes. Tests multi-series overlay legibility and whether native radar respects alpha.</a:t>
            </a:r>
            <a:endParaRPr lang="en-US" sz="13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6766560" y="2103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FILL REVEALS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76656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766560" y="265176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Filled overlay makes the area under each practice's shape comparable at a glance. Where line-only emphasizes trajectory, filled emphasizes cumulative footprint.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766560" y="3931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Native ceiling shows here: three filled regions on six axes fight for legibility. At four-plus series, filled radar stops scaling.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766560" y="5303520"/>
            <a:ext cx="484632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5394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limit: no per-axis scale, no conditional fill.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five-stage pipeline funnel.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PPT has a native funnel type but pptxgenjs cannot emit it. Built with shape trapezoids via claude-pptx-plot. Stage labels and values embedded; conversion rates on the right.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828800" y="2011680"/>
            <a:ext cx="5486400" cy="749808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0" y="224942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2842591" y="2807208"/>
            <a:ext cx="3458817" cy="749808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42591" y="3044952"/>
            <a:ext cx="345881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300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3602935" y="3602736"/>
            <a:ext cx="1938130" cy="749808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02935" y="3840480"/>
            <a:ext cx="1938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150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3932417" y="4398264"/>
            <a:ext cx="1279166" cy="749808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2417" y="4636008"/>
            <a:ext cx="12791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85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4160520" y="5193792"/>
            <a:ext cx="822960" cy="749808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60520" y="543153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21031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CONVERSION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2377440"/>
            <a:ext cx="1371600" cy="0"/>
          </a:xfrm>
          <a:prstGeom prst="line">
            <a:avLst/>
          </a:prstGeom>
          <a:noFill/>
          <a:ln w="19050">
            <a:solidFill>
              <a:srgbClr val="35374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0" y="26060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leads → Qualified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28072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29600" y="326440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 → Scoped / demo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29600" y="34655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50%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229600" y="39227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/ demo → Proposal sent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1239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57%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0" y="45811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sent → Closed-won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229600" y="478231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47%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8229600" y="5285232"/>
            <a:ext cx="3200400" cy="0"/>
          </a:xfrm>
          <a:prstGeom prst="line">
            <a:avLst/>
          </a:prstGeom>
          <a:noFill/>
          <a:ln w="6350">
            <a:solidFill>
              <a:srgbClr val="C9B9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0" y="537667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LEAD-TO-WIN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229600" y="5605272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353745"/>
                </a:solidFill>
                <a:highlight>
                  <a:srgbClr val="C1FF72"/>
                </a:highlight>
                <a:latin typeface="Georgia" pitchFamily="34" charset="0"/>
                <a:ea typeface="Georgia" pitchFamily="34" charset="-122"/>
                <a:cs typeface="Georgia" pitchFamily="34" charset="-120"/>
              </a:rPr>
              <a:t>8.0%</a:t>
            </a:r>
            <a:endParaRPr lang="en-US" sz="3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FUNNEL CHART  ·  STRESS-TEST (TWO-ERA COMPARISON)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 pipeline vs 2035 pipeline.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funnels, same stages, ten years apart. Shape-based placement lets them share an x-axis logic and per-stage color coding — native would hit a wall here even if it existed.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914400" y="2194560"/>
            <a:ext cx="4114800" cy="676656"/>
          </a:xfrm>
          <a:prstGeom prst="trapezoid">
            <a:avLst/>
          </a:prstGeom>
          <a:solidFill>
            <a:srgbClr val="B84C65">
              <a:alpha val="82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450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 flipV="1">
            <a:off x="1926832" y="2916936"/>
            <a:ext cx="2089936" cy="676656"/>
          </a:xfrm>
          <a:prstGeom prst="trapezoid">
            <a:avLst/>
          </a:prstGeom>
          <a:solidFill>
            <a:srgbClr val="B84C65">
              <a:alpha val="74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26832" y="3118104"/>
            <a:ext cx="2089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220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 flipV="1">
            <a:off x="2477067" y="3639312"/>
            <a:ext cx="989466" cy="676656"/>
          </a:xfrm>
          <a:prstGeom prst="trapezoid">
            <a:avLst/>
          </a:prstGeom>
          <a:solidFill>
            <a:srgbClr val="B84C65">
              <a:alpha val="66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77067" y="3840480"/>
            <a:ext cx="9894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95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 flipV="1">
            <a:off x="2675152" y="4361688"/>
            <a:ext cx="593297" cy="676656"/>
          </a:xfrm>
          <a:prstGeom prst="trapezoid">
            <a:avLst/>
          </a:prstGeom>
          <a:solidFill>
            <a:srgbClr val="B84C65">
              <a:alpha val="58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75152" y="4562856"/>
            <a:ext cx="59329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V="1">
            <a:off x="2807208" y="5084064"/>
            <a:ext cx="329184" cy="676656"/>
          </a:xfrm>
          <a:prstGeom prst="trapezoid">
            <a:avLst/>
          </a:prstGeom>
          <a:solidFill>
            <a:srgbClr val="B84C65">
              <a:alpha val="50000"/>
            </a:srgbClr>
          </a:solidFill>
          <a:ln w="6350">
            <a:solidFill>
              <a:srgbClr val="B84C6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0720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1440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4.4% lead-to-win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194560"/>
            <a:ext cx="4114800" cy="676656"/>
          </a:xfrm>
          <a:prstGeom prst="trapezoid">
            <a:avLst/>
          </a:prstGeom>
          <a:solidFill>
            <a:srgbClr val="2D5F7C">
              <a:alpha val="82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650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 flipV="1">
            <a:off x="7889443" y="2916936"/>
            <a:ext cx="2600554" cy="676656"/>
          </a:xfrm>
          <a:prstGeom prst="trapezoid">
            <a:avLst/>
          </a:prstGeom>
          <a:solidFill>
            <a:srgbClr val="2D5F7C">
              <a:alpha val="74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9443" y="3118104"/>
            <a:ext cx="2600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Qualified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420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 flipV="1">
            <a:off x="8514893" y="3639312"/>
            <a:ext cx="1349654" cy="676656"/>
          </a:xfrm>
          <a:prstGeom prst="trapezoid">
            <a:avLst/>
          </a:prstGeom>
          <a:solidFill>
            <a:srgbClr val="2D5F7C">
              <a:alpha val="66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4893" y="3840480"/>
            <a:ext cx="1349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230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 flipV="1">
            <a:off x="8811158" y="4361688"/>
            <a:ext cx="757123" cy="676656"/>
          </a:xfrm>
          <a:prstGeom prst="trapezoid">
            <a:avLst/>
          </a:prstGeom>
          <a:solidFill>
            <a:srgbClr val="2D5F7C">
              <a:alpha val="58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811158" y="4562856"/>
            <a:ext cx="75712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140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flipV="1">
            <a:off x="9025128" y="5084064"/>
            <a:ext cx="329184" cy="676656"/>
          </a:xfrm>
          <a:prstGeom prst="trapezoid">
            <a:avLst/>
          </a:prstGeom>
          <a:solidFill>
            <a:srgbClr val="2D5F7C">
              <a:alpha val="50000"/>
            </a:srgbClr>
          </a:solidFill>
          <a:ln w="6350">
            <a:solidFill>
              <a:srgbClr val="2D5F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25128" y="528523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75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32320" y="5806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7132320" y="612648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11.5% lead-to-win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303520" y="3749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8A796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4846320" y="44348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2.6× efficiency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2035 revenue by practice.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PPT-native type pptxgenjs cannot emit. Slice-and-dice layout in claude-pptx-plot — rectangles sized by value, colored by practice, labeled in situ.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3800394" cy="411480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2340864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Leader by 2035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94944" y="5797296"/>
            <a:ext cx="3690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95338" y="2011680"/>
            <a:ext cx="3675065" cy="411480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0202" y="206654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50202" y="2340864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Fastest grower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50202" y="5797296"/>
            <a:ext cx="356533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5266" y="2011680"/>
            <a:ext cx="3387614" cy="411480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80130" y="206654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80130" y="2340864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Cyclical anchor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80130" y="5797296"/>
            <a:ext cx="327788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three nearly-equal segments, treemap reads like a horizontal composition bar. Its advantage shows at higher cardinality.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 ·  STRESS-TEST (18 CELLS)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practice-year as a cell.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practices × six years = 18 cells, sized by $M revenue, colored by practice. Slice-and-dice gets noisy at this density — shows where squarified algorithms would pay off.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991121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2066544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94944" y="5705856"/>
            <a:ext cx="8813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$20.6M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658633" y="2011680"/>
            <a:ext cx="958010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13497" y="2066544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2035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13497" y="5705856"/>
            <a:ext cx="84828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$19.9M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644075" y="2011680"/>
            <a:ext cx="87498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698939" y="2066544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2033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698939" y="5705856"/>
            <a:ext cx="7652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$18.3M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46491" y="2011680"/>
            <a:ext cx="867571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355" y="2066544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355" y="5705856"/>
            <a:ext cx="7578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$18.1M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441493" y="2011680"/>
            <a:ext cx="842366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96357" y="2066544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 2033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96357" y="5705856"/>
            <a:ext cx="7326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$17.6M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11291" y="2011680"/>
            <a:ext cx="724746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63469" y="2011680"/>
            <a:ext cx="692622" cy="40233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83524" y="2011680"/>
            <a:ext cx="629364" cy="40233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40320" y="2011680"/>
            <a:ext cx="611573" cy="4023360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79325" y="2011680"/>
            <a:ext cx="3533555" cy="545967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9325" y="2585079"/>
            <a:ext cx="547758" cy="3449961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54515" y="2585079"/>
            <a:ext cx="2958365" cy="588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54515" y="3201408"/>
            <a:ext cx="601992" cy="283363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283939" y="3201408"/>
            <a:ext cx="2328941" cy="678628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83939" y="3907468"/>
            <a:ext cx="652933" cy="2127572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64304" y="3907468"/>
            <a:ext cx="1648576" cy="76498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19168" y="3962332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0019168" y="4343264"/>
            <a:ext cx="1538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$6.6M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964304" y="4699880"/>
            <a:ext cx="858659" cy="1335160"/>
          </a:xfrm>
          <a:prstGeom prst="rect">
            <a:avLst/>
          </a:prstGeom>
          <a:solidFill>
            <a:srgbClr val="B84C6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9168" y="4754744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019168" y="5705856"/>
            <a:ext cx="7489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$6.0M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10850395" y="4699880"/>
            <a:ext cx="762485" cy="1335160"/>
          </a:xfrm>
          <a:prstGeom prst="rect">
            <a:avLst/>
          </a:prstGeom>
          <a:solidFill>
            <a:srgbClr val="BFE5E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905259" y="4754744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 2029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905259" y="5705856"/>
            <a:ext cx="652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$5.1M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621792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 cells, sliced-and-diced. Each color is a practice; size is $M revenue in that year. Good for scanning dominance; bad for precise comparison.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 ·  ESCAPE-HATCH (SHAPES)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× year revenue, intensity-coded.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× 11 grid of cells. Fill color interpolated linearly between light and STEEL based on $M revenue. Values printed in each cell. Native PPT has no heatmap type.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645920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46188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46457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346725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46993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2029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47262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047530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7799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848067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48335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2034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648604" y="2103120"/>
            <a:ext cx="9002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" y="2359152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645920" y="2359152"/>
            <a:ext cx="900268" cy="1072896"/>
          </a:xfrm>
          <a:prstGeom prst="rect">
            <a:avLst/>
          </a:prstGeom>
          <a:solidFill>
            <a:srgbClr val="C5C9C8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645920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46188" y="2359152"/>
            <a:ext cx="900268" cy="1072896"/>
          </a:xfrm>
          <a:prstGeom prst="rect">
            <a:avLst/>
          </a:prstGeom>
          <a:solidFill>
            <a:srgbClr val="C5C9C8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46188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446457" y="2359152"/>
            <a:ext cx="900268" cy="1072896"/>
          </a:xfrm>
          <a:prstGeom prst="rect">
            <a:avLst/>
          </a:prstGeom>
          <a:solidFill>
            <a:srgbClr val="D0D1C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46457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$8.3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346725" y="2359152"/>
            <a:ext cx="900268" cy="1072896"/>
          </a:xfrm>
          <a:prstGeom prst="rect">
            <a:avLst/>
          </a:prstGeom>
          <a:solidFill>
            <a:srgbClr val="B3BDC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46725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246993" y="2359152"/>
            <a:ext cx="900268" cy="1072896"/>
          </a:xfrm>
          <a:prstGeom prst="rect">
            <a:avLst/>
          </a:prstGeom>
          <a:solidFill>
            <a:srgbClr val="BAC1C3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46993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47262" y="2359152"/>
            <a:ext cx="900268" cy="1072896"/>
          </a:xfrm>
          <a:prstGeom prst="rect">
            <a:avLst/>
          </a:prstGeom>
          <a:solidFill>
            <a:srgbClr val="879EA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47262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$13.8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047530" y="2359152"/>
            <a:ext cx="900268" cy="1072896"/>
          </a:xfrm>
          <a:prstGeom prst="rect">
            <a:avLst/>
          </a:prstGeom>
          <a:solidFill>
            <a:srgbClr val="93A7B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47530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$12.9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7947799" y="2359152"/>
            <a:ext cx="900268" cy="1072896"/>
          </a:xfrm>
          <a:prstGeom prst="rect">
            <a:avLst/>
          </a:prstGeom>
          <a:solidFill>
            <a:srgbClr val="7793A2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7799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848067" y="2359152"/>
            <a:ext cx="900268" cy="1072896"/>
          </a:xfrm>
          <a:prstGeom prst="rect">
            <a:avLst/>
          </a:prstGeom>
          <a:solidFill>
            <a:srgbClr val="557B9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848067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$17.6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9748335" y="2359152"/>
            <a:ext cx="900268" cy="1072896"/>
          </a:xfrm>
          <a:prstGeom prst="rect">
            <a:avLst/>
          </a:prstGeom>
          <a:solidFill>
            <a:srgbClr val="49738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748335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$18.5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0648604" y="2359152"/>
            <a:ext cx="900268" cy="1072896"/>
          </a:xfrm>
          <a:prstGeom prst="rect">
            <a:avLst/>
          </a:prstGeom>
          <a:solidFill>
            <a:srgbClr val="4E768D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648604" y="2359152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" y="3432048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645920" y="3432048"/>
            <a:ext cx="900268" cy="1072896"/>
          </a:xfrm>
          <a:prstGeom prst="rect">
            <a:avLst/>
          </a:prstGeom>
          <a:solidFill>
            <a:srgbClr val="C7CBC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645920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$9.0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546188" y="3432048"/>
            <a:ext cx="900268" cy="1072896"/>
          </a:xfrm>
          <a:prstGeom prst="rect">
            <a:avLst/>
          </a:prstGeom>
          <a:solidFill>
            <a:srgbClr val="DBD9D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546188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446457" y="3432048"/>
            <a:ext cx="900268" cy="1072896"/>
          </a:xfrm>
          <a:prstGeom prst="rect">
            <a:avLst/>
          </a:prstGeom>
          <a:solidFill>
            <a:srgbClr val="DEDBD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46457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$7.3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46725" y="3432048"/>
            <a:ext cx="900268" cy="1072896"/>
          </a:xfrm>
          <a:prstGeom prst="rect">
            <a:avLst/>
          </a:prstGeom>
          <a:solidFill>
            <a:srgbClr val="D0D1C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46725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$8.3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46993" y="3432048"/>
            <a:ext cx="900268" cy="1072896"/>
          </a:xfrm>
          <a:prstGeom prst="rect">
            <a:avLst/>
          </a:prstGeom>
          <a:solidFill>
            <a:srgbClr val="FBEFE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46993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$5.1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147262" y="3432048"/>
            <a:ext cx="900268" cy="1072896"/>
          </a:xfrm>
          <a:prstGeom prst="rect">
            <a:avLst/>
          </a:prstGeom>
          <a:solidFill>
            <a:srgbClr val="BDC3C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47262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$9.8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47530" y="3432048"/>
            <a:ext cx="900268" cy="1072896"/>
          </a:xfrm>
          <a:prstGeom prst="rect">
            <a:avLst/>
          </a:prstGeom>
          <a:solidFill>
            <a:srgbClr val="8EA3AD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047530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$13.3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947799" y="3432048"/>
            <a:ext cx="900268" cy="1072896"/>
          </a:xfrm>
          <a:prstGeom prst="rect">
            <a:avLst/>
          </a:prstGeom>
          <a:solidFill>
            <a:srgbClr val="608295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947799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$16.8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848067" y="3432048"/>
            <a:ext cx="900268" cy="1072896"/>
          </a:xfrm>
          <a:prstGeom prst="rect">
            <a:avLst/>
          </a:prstGeom>
          <a:solidFill>
            <a:srgbClr val="4C748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48067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$18.3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9748335" y="3432048"/>
            <a:ext cx="900268" cy="1072896"/>
          </a:xfrm>
          <a:prstGeom prst="rect">
            <a:avLst/>
          </a:prstGeom>
          <a:solidFill>
            <a:srgbClr val="4A738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748335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$18.4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10648604" y="3432048"/>
            <a:ext cx="900268" cy="1072896"/>
          </a:xfrm>
          <a:prstGeom prst="rect">
            <a:avLst/>
          </a:prstGeom>
          <a:solidFill>
            <a:srgbClr val="2D5F7C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648604" y="3432048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$20.6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40080" y="4504944"/>
            <a:ext cx="914400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1645920" y="4504944"/>
            <a:ext cx="900268" cy="1072896"/>
          </a:xfrm>
          <a:prstGeom prst="rect">
            <a:avLst/>
          </a:prstGeom>
          <a:solidFill>
            <a:srgbClr val="EFE7DE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645920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$6.0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546188" y="4504944"/>
            <a:ext cx="900268" cy="1072896"/>
          </a:xfrm>
          <a:prstGeom prst="rect">
            <a:avLst/>
          </a:prstGeom>
          <a:solidFill>
            <a:srgbClr val="F3E9E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2546188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3446457" y="4504944"/>
            <a:ext cx="900268" cy="1072896"/>
          </a:xfrm>
          <a:prstGeom prst="rect">
            <a:avLst/>
          </a:prstGeom>
          <a:solidFill>
            <a:srgbClr val="E7E1DA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446457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$6.6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4346725" y="4504944"/>
            <a:ext cx="900268" cy="1072896"/>
          </a:xfrm>
          <a:prstGeom prst="rect">
            <a:avLst/>
          </a:prstGeom>
          <a:solidFill>
            <a:srgbClr val="E4DFD9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346725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$6.8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246993" y="4504944"/>
            <a:ext cx="900268" cy="1072896"/>
          </a:xfrm>
          <a:prstGeom prst="rect">
            <a:avLst/>
          </a:prstGeom>
          <a:solidFill>
            <a:srgbClr val="B7C0C2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246993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$10.2</a:t>
            </a:r>
            <a:endParaRPr lang="en-US" sz="900" dirty="0"/>
          </a:p>
        </p:txBody>
      </p:sp>
      <p:sp>
        <p:nvSpPr>
          <p:cNvPr id="73" name="Shape 71"/>
          <p:cNvSpPr/>
          <p:nvPr/>
        </p:nvSpPr>
        <p:spPr>
          <a:xfrm>
            <a:off x="6147262" y="4504944"/>
            <a:ext cx="900268" cy="1072896"/>
          </a:xfrm>
          <a:prstGeom prst="rect">
            <a:avLst/>
          </a:prstGeom>
          <a:solidFill>
            <a:srgbClr val="B2BCBF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47262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537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$10.6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>
            <a:off x="7047530" y="4504944"/>
            <a:ext cx="900268" cy="1072896"/>
          </a:xfrm>
          <a:prstGeom prst="rect">
            <a:avLst/>
          </a:prstGeom>
          <a:solidFill>
            <a:srgbClr val="7D97A4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047530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$14.6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7947799" y="4504944"/>
            <a:ext cx="900268" cy="1072896"/>
          </a:xfrm>
          <a:prstGeom prst="rect">
            <a:avLst/>
          </a:prstGeom>
          <a:solidFill>
            <a:srgbClr val="6A8A9B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947799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$16.0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8848067" y="4504944"/>
            <a:ext cx="900268" cy="1072896"/>
          </a:xfrm>
          <a:prstGeom prst="rect">
            <a:avLst/>
          </a:prstGeom>
          <a:solidFill>
            <a:srgbClr val="7591A0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48067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$15.2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9748335" y="4504944"/>
            <a:ext cx="900268" cy="1072896"/>
          </a:xfrm>
          <a:prstGeom prst="rect">
            <a:avLst/>
          </a:prstGeom>
          <a:solidFill>
            <a:srgbClr val="426E87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748335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$19.0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10648604" y="4504944"/>
            <a:ext cx="900268" cy="1072896"/>
          </a:xfrm>
          <a:prstGeom prst="rect">
            <a:avLst/>
          </a:prstGeom>
          <a:solidFill>
            <a:srgbClr val="366681"/>
          </a:solidFill>
          <a:ln w="12700">
            <a:solidFill>
              <a:srgbClr val="FFF5ED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10648604" y="4504944"/>
            <a:ext cx="900268" cy="1072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$19.9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914400" y="5760720"/>
            <a:ext cx="96012" cy="182880"/>
          </a:xfrm>
          <a:prstGeom prst="rect">
            <a:avLst/>
          </a:prstGeom>
          <a:solidFill>
            <a:srgbClr val="FBEFE4"/>
          </a:solidFill>
          <a:ln/>
        </p:spPr>
      </p:sp>
      <p:sp>
        <p:nvSpPr>
          <p:cNvPr id="86" name="Shape 84"/>
          <p:cNvSpPr/>
          <p:nvPr/>
        </p:nvSpPr>
        <p:spPr>
          <a:xfrm>
            <a:off x="1005840" y="5760720"/>
            <a:ext cx="96012" cy="182880"/>
          </a:xfrm>
          <a:prstGeom prst="rect">
            <a:avLst/>
          </a:prstGeom>
          <a:solidFill>
            <a:srgbClr val="F6EBE1"/>
          </a:solidFill>
          <a:ln/>
        </p:spPr>
      </p:sp>
      <p:sp>
        <p:nvSpPr>
          <p:cNvPr id="87" name="Shape 85"/>
          <p:cNvSpPr/>
          <p:nvPr/>
        </p:nvSpPr>
        <p:spPr>
          <a:xfrm>
            <a:off x="1097280" y="5760720"/>
            <a:ext cx="96012" cy="182880"/>
          </a:xfrm>
          <a:prstGeom prst="rect">
            <a:avLst/>
          </a:prstGeom>
          <a:solidFill>
            <a:srgbClr val="F0E8DF"/>
          </a:solidFill>
          <a:ln/>
        </p:spPr>
      </p:sp>
      <p:sp>
        <p:nvSpPr>
          <p:cNvPr id="88" name="Shape 86"/>
          <p:cNvSpPr/>
          <p:nvPr/>
        </p:nvSpPr>
        <p:spPr>
          <a:xfrm>
            <a:off x="1188720" y="5760720"/>
            <a:ext cx="96012" cy="182880"/>
          </a:xfrm>
          <a:prstGeom prst="rect">
            <a:avLst/>
          </a:prstGeom>
          <a:solidFill>
            <a:srgbClr val="EBE4DC"/>
          </a:solidFill>
          <a:ln/>
        </p:spPr>
      </p:sp>
      <p:sp>
        <p:nvSpPr>
          <p:cNvPr id="89" name="Shape 87"/>
          <p:cNvSpPr/>
          <p:nvPr/>
        </p:nvSpPr>
        <p:spPr>
          <a:xfrm>
            <a:off x="1280160" y="5760720"/>
            <a:ext cx="96012" cy="182880"/>
          </a:xfrm>
          <a:prstGeom prst="rect">
            <a:avLst/>
          </a:prstGeom>
          <a:solidFill>
            <a:srgbClr val="E6E0D9"/>
          </a:solidFill>
          <a:ln/>
        </p:spPr>
      </p:sp>
      <p:sp>
        <p:nvSpPr>
          <p:cNvPr id="90" name="Shape 88"/>
          <p:cNvSpPr/>
          <p:nvPr/>
        </p:nvSpPr>
        <p:spPr>
          <a:xfrm>
            <a:off x="1371600" y="5760720"/>
            <a:ext cx="96012" cy="182880"/>
          </a:xfrm>
          <a:prstGeom prst="rect">
            <a:avLst/>
          </a:prstGeom>
          <a:solidFill>
            <a:srgbClr val="E1DDD7"/>
          </a:solidFill>
          <a:ln/>
        </p:spPr>
      </p:sp>
      <p:sp>
        <p:nvSpPr>
          <p:cNvPr id="91" name="Shape 89"/>
          <p:cNvSpPr/>
          <p:nvPr/>
        </p:nvSpPr>
        <p:spPr>
          <a:xfrm>
            <a:off x="1463040" y="5760720"/>
            <a:ext cx="96012" cy="182880"/>
          </a:xfrm>
          <a:prstGeom prst="rect">
            <a:avLst/>
          </a:prstGeom>
          <a:solidFill>
            <a:srgbClr val="DBD9D4"/>
          </a:solidFill>
          <a:ln/>
        </p:spPr>
      </p:sp>
      <p:sp>
        <p:nvSpPr>
          <p:cNvPr id="92" name="Shape 90"/>
          <p:cNvSpPr/>
          <p:nvPr/>
        </p:nvSpPr>
        <p:spPr>
          <a:xfrm>
            <a:off x="1554480" y="5760720"/>
            <a:ext cx="96012" cy="182880"/>
          </a:xfrm>
          <a:prstGeom prst="rect">
            <a:avLst/>
          </a:prstGeom>
          <a:solidFill>
            <a:srgbClr val="D6D5D1"/>
          </a:solidFill>
          <a:ln/>
        </p:spPr>
      </p:sp>
      <p:sp>
        <p:nvSpPr>
          <p:cNvPr id="93" name="Shape 91"/>
          <p:cNvSpPr/>
          <p:nvPr/>
        </p:nvSpPr>
        <p:spPr>
          <a:xfrm>
            <a:off x="1645920" y="5760720"/>
            <a:ext cx="96012" cy="182880"/>
          </a:xfrm>
          <a:prstGeom prst="rect">
            <a:avLst/>
          </a:prstGeom>
          <a:solidFill>
            <a:srgbClr val="D1D1CF"/>
          </a:solidFill>
          <a:ln/>
        </p:spPr>
      </p:sp>
      <p:sp>
        <p:nvSpPr>
          <p:cNvPr id="94" name="Shape 92"/>
          <p:cNvSpPr/>
          <p:nvPr/>
        </p:nvSpPr>
        <p:spPr>
          <a:xfrm>
            <a:off x="1737360" y="5760720"/>
            <a:ext cx="96012" cy="182880"/>
          </a:xfrm>
          <a:prstGeom prst="rect">
            <a:avLst/>
          </a:prstGeom>
          <a:solidFill>
            <a:srgbClr val="CBCECC"/>
          </a:solidFill>
          <a:ln/>
        </p:spPr>
      </p:sp>
      <p:sp>
        <p:nvSpPr>
          <p:cNvPr id="95" name="Shape 93"/>
          <p:cNvSpPr/>
          <p:nvPr/>
        </p:nvSpPr>
        <p:spPr>
          <a:xfrm>
            <a:off x="1828800" y="5760720"/>
            <a:ext cx="96012" cy="182880"/>
          </a:xfrm>
          <a:prstGeom prst="rect">
            <a:avLst/>
          </a:prstGeom>
          <a:solidFill>
            <a:srgbClr val="C6CAC9"/>
          </a:solidFill>
          <a:ln/>
        </p:spPr>
      </p:sp>
      <p:sp>
        <p:nvSpPr>
          <p:cNvPr id="96" name="Shape 94"/>
          <p:cNvSpPr/>
          <p:nvPr/>
        </p:nvSpPr>
        <p:spPr>
          <a:xfrm>
            <a:off x="1920240" y="5760720"/>
            <a:ext cx="96012" cy="182880"/>
          </a:xfrm>
          <a:prstGeom prst="rect">
            <a:avLst/>
          </a:prstGeom>
          <a:solidFill>
            <a:srgbClr val="C1C6C7"/>
          </a:solidFill>
          <a:ln/>
        </p:spPr>
      </p:sp>
      <p:sp>
        <p:nvSpPr>
          <p:cNvPr id="97" name="Shape 95"/>
          <p:cNvSpPr/>
          <p:nvPr/>
        </p:nvSpPr>
        <p:spPr>
          <a:xfrm>
            <a:off x="2011680" y="5760720"/>
            <a:ext cx="96012" cy="182880"/>
          </a:xfrm>
          <a:prstGeom prst="rect">
            <a:avLst/>
          </a:prstGeom>
          <a:solidFill>
            <a:srgbClr val="BCC3C4"/>
          </a:solidFill>
          <a:ln/>
        </p:spPr>
      </p:sp>
      <p:sp>
        <p:nvSpPr>
          <p:cNvPr id="98" name="Shape 96"/>
          <p:cNvSpPr/>
          <p:nvPr/>
        </p:nvSpPr>
        <p:spPr>
          <a:xfrm>
            <a:off x="2103120" y="5760720"/>
            <a:ext cx="96012" cy="182880"/>
          </a:xfrm>
          <a:prstGeom prst="rect">
            <a:avLst/>
          </a:prstGeom>
          <a:solidFill>
            <a:srgbClr val="B6BFC1"/>
          </a:solidFill>
          <a:ln/>
        </p:spPr>
      </p:sp>
      <p:sp>
        <p:nvSpPr>
          <p:cNvPr id="99" name="Shape 97"/>
          <p:cNvSpPr/>
          <p:nvPr/>
        </p:nvSpPr>
        <p:spPr>
          <a:xfrm>
            <a:off x="2194560" y="5760720"/>
            <a:ext cx="96012" cy="182880"/>
          </a:xfrm>
          <a:prstGeom prst="rect">
            <a:avLst/>
          </a:prstGeom>
          <a:solidFill>
            <a:srgbClr val="B1BBBF"/>
          </a:solidFill>
          <a:ln/>
        </p:spPr>
      </p:sp>
      <p:sp>
        <p:nvSpPr>
          <p:cNvPr id="100" name="Shape 98"/>
          <p:cNvSpPr/>
          <p:nvPr/>
        </p:nvSpPr>
        <p:spPr>
          <a:xfrm>
            <a:off x="2286000" y="5760720"/>
            <a:ext cx="96012" cy="182880"/>
          </a:xfrm>
          <a:prstGeom prst="rect">
            <a:avLst/>
          </a:prstGeom>
          <a:solidFill>
            <a:srgbClr val="ACB8BC"/>
          </a:solidFill>
          <a:ln/>
        </p:spPr>
      </p:sp>
      <p:sp>
        <p:nvSpPr>
          <p:cNvPr id="101" name="Shape 99"/>
          <p:cNvSpPr/>
          <p:nvPr/>
        </p:nvSpPr>
        <p:spPr>
          <a:xfrm>
            <a:off x="2377440" y="5760720"/>
            <a:ext cx="96012" cy="182880"/>
          </a:xfrm>
          <a:prstGeom prst="rect">
            <a:avLst/>
          </a:prstGeom>
          <a:solidFill>
            <a:srgbClr val="A6B4B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2468880" y="5760720"/>
            <a:ext cx="96012" cy="182880"/>
          </a:xfrm>
          <a:prstGeom prst="rect">
            <a:avLst/>
          </a:prstGeom>
          <a:solidFill>
            <a:srgbClr val="A1B0B7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560320" y="5760720"/>
            <a:ext cx="96012" cy="182880"/>
          </a:xfrm>
          <a:prstGeom prst="rect">
            <a:avLst/>
          </a:prstGeom>
          <a:solidFill>
            <a:srgbClr val="9CADB4"/>
          </a:solidFill>
          <a:ln/>
        </p:spPr>
      </p:sp>
      <p:sp>
        <p:nvSpPr>
          <p:cNvPr id="104" name="Shape 102"/>
          <p:cNvSpPr/>
          <p:nvPr/>
        </p:nvSpPr>
        <p:spPr>
          <a:xfrm>
            <a:off x="2651760" y="5760720"/>
            <a:ext cx="96012" cy="182880"/>
          </a:xfrm>
          <a:prstGeom prst="rect">
            <a:avLst/>
          </a:prstGeom>
          <a:solidFill>
            <a:srgbClr val="97A9B1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743200" y="5760720"/>
            <a:ext cx="96012" cy="182880"/>
          </a:xfrm>
          <a:prstGeom prst="rect">
            <a:avLst/>
          </a:prstGeom>
          <a:solidFill>
            <a:srgbClr val="91A5AF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834640" y="5760720"/>
            <a:ext cx="96012" cy="182880"/>
          </a:xfrm>
          <a:prstGeom prst="rect">
            <a:avLst/>
          </a:prstGeom>
          <a:solidFill>
            <a:srgbClr val="8CA1A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2926080" y="5760720"/>
            <a:ext cx="96012" cy="182880"/>
          </a:xfrm>
          <a:prstGeom prst="rect">
            <a:avLst/>
          </a:prstGeom>
          <a:solidFill>
            <a:srgbClr val="879EA9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017520" y="5760720"/>
            <a:ext cx="96012" cy="182880"/>
          </a:xfrm>
          <a:prstGeom prst="rect">
            <a:avLst/>
          </a:prstGeom>
          <a:solidFill>
            <a:srgbClr val="829AA7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108960" y="5760720"/>
            <a:ext cx="96012" cy="182880"/>
          </a:xfrm>
          <a:prstGeom prst="rect">
            <a:avLst/>
          </a:prstGeom>
          <a:solidFill>
            <a:srgbClr val="7C96A4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200400" y="5760720"/>
            <a:ext cx="96012" cy="182880"/>
          </a:xfrm>
          <a:prstGeom prst="rect">
            <a:avLst/>
          </a:prstGeom>
          <a:solidFill>
            <a:srgbClr val="7793A1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291840" y="5760720"/>
            <a:ext cx="96012" cy="182880"/>
          </a:xfrm>
          <a:prstGeom prst="rect">
            <a:avLst/>
          </a:prstGeom>
          <a:solidFill>
            <a:srgbClr val="728F9F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383280" y="5760720"/>
            <a:ext cx="96012" cy="182880"/>
          </a:xfrm>
          <a:prstGeom prst="rect">
            <a:avLst/>
          </a:prstGeom>
          <a:solidFill>
            <a:srgbClr val="6C8B9C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74720" y="5760720"/>
            <a:ext cx="96012" cy="182880"/>
          </a:xfrm>
          <a:prstGeom prst="rect">
            <a:avLst/>
          </a:prstGeom>
          <a:solidFill>
            <a:srgbClr val="678899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66160" y="5760720"/>
            <a:ext cx="96012" cy="182880"/>
          </a:xfrm>
          <a:prstGeom prst="rect">
            <a:avLst/>
          </a:prstGeom>
          <a:solidFill>
            <a:srgbClr val="628497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657600" y="5760720"/>
            <a:ext cx="96012" cy="182880"/>
          </a:xfrm>
          <a:prstGeom prst="rect">
            <a:avLst/>
          </a:prstGeom>
          <a:solidFill>
            <a:srgbClr val="5D8094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49040" y="5760720"/>
            <a:ext cx="96012" cy="182880"/>
          </a:xfrm>
          <a:prstGeom prst="rect">
            <a:avLst/>
          </a:prstGeom>
          <a:solidFill>
            <a:srgbClr val="577D91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40480" y="5760720"/>
            <a:ext cx="96012" cy="182880"/>
          </a:xfrm>
          <a:prstGeom prst="rect">
            <a:avLst/>
          </a:prstGeom>
          <a:solidFill>
            <a:srgbClr val="52798F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931920" y="5760720"/>
            <a:ext cx="96012" cy="182880"/>
          </a:xfrm>
          <a:prstGeom prst="rect">
            <a:avLst/>
          </a:prstGeom>
          <a:solidFill>
            <a:srgbClr val="4D758C"/>
          </a:solidFill>
          <a:ln/>
        </p:spPr>
      </p:sp>
      <p:sp>
        <p:nvSpPr>
          <p:cNvPr id="119" name="Shape 117"/>
          <p:cNvSpPr/>
          <p:nvPr/>
        </p:nvSpPr>
        <p:spPr>
          <a:xfrm>
            <a:off x="4023360" y="5760720"/>
            <a:ext cx="96012" cy="182880"/>
          </a:xfrm>
          <a:prstGeom prst="rect">
            <a:avLst/>
          </a:prstGeom>
          <a:solidFill>
            <a:srgbClr val="477189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114800" y="5760720"/>
            <a:ext cx="96012" cy="182880"/>
          </a:xfrm>
          <a:prstGeom prst="rect">
            <a:avLst/>
          </a:prstGeom>
          <a:solidFill>
            <a:srgbClr val="426E8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206240" y="5760720"/>
            <a:ext cx="96012" cy="182880"/>
          </a:xfrm>
          <a:prstGeom prst="rect">
            <a:avLst/>
          </a:prstGeom>
          <a:solidFill>
            <a:srgbClr val="3D6A84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297680" y="5760720"/>
            <a:ext cx="96012" cy="182880"/>
          </a:xfrm>
          <a:prstGeom prst="rect">
            <a:avLst/>
          </a:prstGeom>
          <a:solidFill>
            <a:srgbClr val="38668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389120" y="5760720"/>
            <a:ext cx="96012" cy="182880"/>
          </a:xfrm>
          <a:prstGeom prst="rect">
            <a:avLst/>
          </a:prstGeom>
          <a:solidFill>
            <a:srgbClr val="32637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480560" y="5760720"/>
            <a:ext cx="96012" cy="182880"/>
          </a:xfrm>
          <a:prstGeom prst="rect">
            <a:avLst/>
          </a:prstGeom>
          <a:solidFill>
            <a:srgbClr val="2D5F7C"/>
          </a:solidFill>
          <a:ln/>
        </p:spPr>
      </p:sp>
      <p:sp>
        <p:nvSpPr>
          <p:cNvPr id="125" name="Text 123"/>
          <p:cNvSpPr/>
          <p:nvPr/>
        </p:nvSpPr>
        <p:spPr>
          <a:xfrm>
            <a:off x="914400" y="598017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$M revenue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3108960" y="5980176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548640" y="626364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Scan across a row to see practice trajectory; scan down a column to see firm mix that year. The 2029 dent sits in the middle.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79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GAUGE / TACHOMETER  ·  ESCAPE-HATCH (MATPLOTLIB)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KPIs, two categories, one panel.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35374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Rendered via matplotlib (Wedge arcs, needle, triangle target markers) and embedded as a PNG. pptxgenjs blockArc can't hit arbitrary angles cleanly; matplotlib handles curves natively. Categorical eyebrows group the metrics.</a:t>
            </a:r>
            <a:endParaRPr lang="en-US" sz="1300" dirty="0"/>
          </a:p>
        </p:txBody>
      </p:sp>
      <p:pic>
        <p:nvPicPr>
          <p:cNvPr id="5" name="Image 0" descr="/Users/nathansaperia/Downloads/PPTX Chart Builder/claude-pptx-plot/assets/gaug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5476" y="1920240"/>
            <a:ext cx="6858000" cy="457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Chart-type audit deck — Column + Waterfall</dc:title>
  <dc:subject>PptxGenJS Presentation</dc:subject>
  <dc:creator>Saperia Consulting</dc:creator>
  <cp:lastModifiedBy>Saperia Consulting</cp:lastModifiedBy>
  <cp:revision>1</cp:revision>
  <dcterms:created xsi:type="dcterms:W3CDTF">2026-04-20T22:57:15Z</dcterms:created>
  <dcterms:modified xsi:type="dcterms:W3CDTF">2026-04-20T22:57:15Z</dcterms:modified>
</cp:coreProperties>
</file>