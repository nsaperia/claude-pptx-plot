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5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8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($M)</c:v>
                </c:pt>
              </c:strCache>
            </c:strRef>
          </c:tx>
          <c:spPr>
            <a:solidFill>
              <a:srgbClr val="2D5F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  <c:pt idx="8">
                    <c:v>2033</c:v>
                  </c:pt>
                  <c:pt idx="9">
                    <c:v>2034</c:v>
                  </c:pt>
                  <c:pt idx="10">
                    <c:v>2035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24.09</c:v>
                </c:pt>
                <c:pt idx="1">
                  <c:v>22.34</c:v>
                </c:pt>
                <c:pt idx="2">
                  <c:v>22.13</c:v>
                </c:pt>
                <c:pt idx="3">
                  <c:v>25.62</c:v>
                </c:pt>
                <c:pt idx="4">
                  <c:v>25.29</c:v>
                </c:pt>
                <c:pt idx="5">
                  <c:v>34.24</c:v>
                </c:pt>
                <c:pt idx="6">
                  <c:v>40.79</c:v>
                </c:pt>
                <c:pt idx="7">
                  <c:v>47.79</c:v>
                </c:pt>
                <c:pt idx="8">
                  <c:v>51.07</c:v>
                </c:pt>
                <c:pt idx="9">
                  <c:v>55.99</c:v>
                </c:pt>
                <c:pt idx="10">
                  <c:v>58.66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Revenue ($M)</a:t>
                </a:r>
              </a:p>
            </c:rich>
          </c:tx>
          <c:layout/>
          <c:overlay val="0"/>
        </c:title>
        <c:numFmt formatCode="$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($M)</c:v>
                </c:pt>
              </c:strCache>
            </c:strRef>
          </c:tx>
          <c:spPr>
            <a:solidFill>
              <a:srgbClr val="2D5F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  <c:pt idx="8">
                    <c:v>2033</c:v>
                  </c:pt>
                  <c:pt idx="9">
                    <c:v>2034</c:v>
                  </c:pt>
                  <c:pt idx="10">
                    <c:v>2035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24.09</c:v>
                </c:pt>
                <c:pt idx="1">
                  <c:v>22.34</c:v>
                </c:pt>
                <c:pt idx="2">
                  <c:v>22.13</c:v>
                </c:pt>
                <c:pt idx="3">
                  <c:v>25.62</c:v>
                </c:pt>
                <c:pt idx="4">
                  <c:v>25.29</c:v>
                </c:pt>
                <c:pt idx="5">
                  <c:v>34.24</c:v>
                </c:pt>
                <c:pt idx="6">
                  <c:v>40.79</c:v>
                </c:pt>
                <c:pt idx="7">
                  <c:v>47.79</c:v>
                </c:pt>
                <c:pt idx="8">
                  <c:v>51.07</c:v>
                </c:pt>
                <c:pt idx="9">
                  <c:v>55.99</c:v>
                </c:pt>
                <c:pt idx="10">
                  <c:v>58.66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5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4.69</c:v>
                </c:pt>
                <c:pt idx="2">
                  <c:v>4.32</c:v>
                </c:pt>
                <c:pt idx="3">
                  <c:v>4.32</c:v>
                </c:pt>
                <c:pt idx="4">
                  <c:v>3.87</c:v>
                </c:pt>
                <c:pt idx="5">
                  <c:v>3.87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Delta</c:v>
                </c:pt>
              </c:strCache>
            </c:strRef>
          </c:tx>
          <c:spPr>
            <a:solidFill>
              <a:srgbClr val="2D5F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2030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6.53</c:v>
                </c:pt>
                <c:pt idx="1">
                  <c:v>1.8399999999999999</c:v>
                </c:pt>
                <c:pt idx="2">
                  <c:v>0.3700000000000001</c:v>
                </c:pt>
                <c:pt idx="3">
                  <c:v>1.87</c:v>
                </c:pt>
                <c:pt idx="4">
                  <c:v>2.3200000000000003</c:v>
                </c:pt>
                <c:pt idx="5">
                  <c:v>7.56</c:v>
                </c:pt>
                <c:pt idx="6">
                  <c:v>11.43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"/>
          <c:min val="0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EBITDA ($M)</a:t>
                </a:r>
              </a:p>
            </c:rich>
          </c:tx>
          <c:layout/>
          <c:overlay val="0"/>
        </c:title>
        <c:numFmt formatCode="$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5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4.69</c:v>
                </c:pt>
                <c:pt idx="2">
                  <c:v>4.32</c:v>
                </c:pt>
                <c:pt idx="3">
                  <c:v>4.32</c:v>
                </c:pt>
                <c:pt idx="4">
                  <c:v>3.87</c:v>
                </c:pt>
                <c:pt idx="5">
                  <c:v>3.87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Delta</c:v>
                </c:pt>
              </c:strCache>
            </c:strRef>
          </c:tx>
          <c:spPr>
            <a:solidFill>
              <a:srgbClr val="2D5F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2030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6.53</c:v>
                </c:pt>
                <c:pt idx="1">
                  <c:v>1.8399999999999999</c:v>
                </c:pt>
                <c:pt idx="2">
                  <c:v>0.3700000000000001</c:v>
                </c:pt>
                <c:pt idx="3">
                  <c:v>1.87</c:v>
                </c:pt>
                <c:pt idx="4">
                  <c:v>2.3200000000000003</c:v>
                </c:pt>
                <c:pt idx="5">
                  <c:v>7.56</c:v>
                </c:pt>
                <c:pt idx="6">
                  <c:v>11.43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"/>
          <c:min val="0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EBITDA ($M)</a:t>
                </a:r>
              </a:p>
            </c:rich>
          </c:tx>
          <c:layout/>
          <c:overlay val="0"/>
        </c:title>
        <c:numFmt formatCode="$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EBITDA %</c:v>
                </c:pt>
              </c:strCache>
            </c:strRef>
          </c:tx>
          <c:spPr>
            <a:solidFill>
              <a:srgbClr val="2D5F7C"/>
            </a:solidFill>
            <a:ln w="31750" cap="flat">
              <a:solidFill>
                <a:srgbClr val="2D5F7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D5F7C"/>
              </a:solidFill>
              <a:ln w="9525" cap="flat">
                <a:solidFill>
                  <a:srgbClr val="2D5F7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  <c:pt idx="8">
                    <c:v>2033</c:v>
                  </c:pt>
                  <c:pt idx="9">
                    <c:v>2034</c:v>
                  </c:pt>
                  <c:pt idx="10">
                    <c:v>2035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27.1</c:v>
                </c:pt>
                <c:pt idx="1">
                  <c:v>21</c:v>
                </c:pt>
                <c:pt idx="2">
                  <c:v>19.5</c:v>
                </c:pt>
                <c:pt idx="3">
                  <c:v>24.2</c:v>
                </c:pt>
                <c:pt idx="4">
                  <c:v>15.3</c:v>
                </c:pt>
                <c:pt idx="5">
                  <c:v>33.4</c:v>
                </c:pt>
                <c:pt idx="6">
                  <c:v>31.6</c:v>
                </c:pt>
                <c:pt idx="7">
                  <c:v>30.8</c:v>
                </c:pt>
                <c:pt idx="8">
                  <c:v>27.3</c:v>
                </c:pt>
                <c:pt idx="9">
                  <c:v>28</c:v>
                </c:pt>
                <c:pt idx="10">
                  <c:v>26.3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  <c:min val="10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EBITDA %</a:t>
                </a:r>
              </a:p>
            </c:rich>
          </c:tx>
          <c:layout/>
          <c:overlay val="0"/>
        </c:title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 mix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D5F7C"/>
              </a:solidFill>
              <a:effectLst/>
            </c:spPr>
          </c:dPt>
          <c:dPt>
            <c:idx val="1"/>
            <c:bubble3D val="0"/>
            <c:spPr>
              <a:solidFill>
                <a:srgbClr val="BFE5EF"/>
              </a:solidFill>
              <a:effectLst/>
            </c:spPr>
          </c:dPt>
          <c:dPt>
            <c:idx val="2"/>
            <c:bubble3D val="0"/>
            <c:spPr>
              <a:solidFill>
                <a:srgbClr val="B84C65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353745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353745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353745"/>
                      </a:solidFill>
                      <a:latin typeface="Calibri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Strategy</c:v>
                </c:pt>
                <c:pt idx="1">
                  <c:v>Operations</c:v>
                </c:pt>
                <c:pt idx="2">
                  <c:v>Technology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18.11</c:v>
                </c:pt>
                <c:pt idx="1">
                  <c:v>20.61</c:v>
                </c:pt>
                <c:pt idx="2">
                  <c:v>19.94</c:v>
                </c:pt>
              </c:numCache>
            </c:numRef>
          </c:val>
        </c:ser>
        <c:firstSliceAng val="0"/>
        <c:holeSize val="65"/>
      </c:doughnutChart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EBITDA %</c:v>
                </c:pt>
              </c:strCache>
            </c:strRef>
          </c:tx>
          <c:spPr>
            <a:solidFill>
              <a:srgbClr val="2D5F7C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2D5F7C"/>
              </a:solidFill>
              <a:ln w="12700" cap="flat">
                <a:solidFill>
                  <a:srgbClr val="2D5F7C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71.3</c:v>
                </c:pt>
                <c:pt idx="1">
                  <c:v>63.5</c:v>
                </c:pt>
                <c:pt idx="2">
                  <c:v>62.4</c:v>
                </c:pt>
                <c:pt idx="3">
                  <c:v>66</c:v>
                </c:pt>
                <c:pt idx="4">
                  <c:v>59.6</c:v>
                </c:pt>
                <c:pt idx="5">
                  <c:v>76.6</c:v>
                </c:pt>
                <c:pt idx="6">
                  <c:v>75.5</c:v>
                </c:pt>
                <c:pt idx="7">
                  <c:v>73.7</c:v>
                </c:pt>
                <c:pt idx="8">
                  <c:v>70.5</c:v>
                </c:pt>
                <c:pt idx="9">
                  <c:v>71</c:v>
                </c:pt>
                <c:pt idx="10">
                  <c:v>67.5</c:v>
                </c:pt>
              </c:numCache>
            </c:numRef>
          </c:xVal>
          <c:yVal>
            <c:numRef>
              <c:f>Sheet1!$B$2:$B$12</c:f>
              <c:numCache>
                <c:formatCode>General</c:formatCode>
                <c:ptCount val="11"/>
                <c:pt idx="0">
                  <c:v>27.1</c:v>
                </c:pt>
                <c:pt idx="1">
                  <c:v>21</c:v>
                </c:pt>
                <c:pt idx="2">
                  <c:v>19.5</c:v>
                </c:pt>
                <c:pt idx="3">
                  <c:v>24.2</c:v>
                </c:pt>
                <c:pt idx="4">
                  <c:v>15.3</c:v>
                </c:pt>
                <c:pt idx="5">
                  <c:v>33.4</c:v>
                </c:pt>
                <c:pt idx="6">
                  <c:v>31.6</c:v>
                </c:pt>
                <c:pt idx="7">
                  <c:v>30.8</c:v>
                </c:pt>
                <c:pt idx="8">
                  <c:v>27.3</c:v>
                </c:pt>
                <c:pt idx="9">
                  <c:v>28</c:v>
                </c:pt>
                <c:pt idx="10">
                  <c:v>26.3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80"/>
          <c:min val="55"/>
        </c:scaling>
        <c:delete val="0"/>
        <c:axPos val="b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Utilization %</a:t>
                </a:r>
              </a:p>
            </c:rich>
          </c:tx>
          <c:layout/>
          <c:overlay val="0"/>
        </c:title>
        <c:numFmt formatCode="0&quot;%&quot;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35"/>
          <c:min val="10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EBITDA %</a:t>
                </a:r>
              </a:p>
            </c:rich>
          </c:tx>
          <c:layout/>
          <c:overlay val="0"/>
        </c:title>
        <c:numFmt formatCode="0&quot;%&quot;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solidFill>
          <a:srgbClr val="FFF5ED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radarChart>
        <c:radarStyle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</c:v>
                </c:pt>
              </c:strCache>
            </c:strRef>
          </c:tx>
          <c:spPr>
            <a:solidFill>
              <a:srgbClr val="2D5F7C"/>
            </a:solidFill>
            <a:ln w="31750" cap="flat">
              <a:solidFill>
                <a:srgbClr val="2D5F7C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2D5F7C"/>
              </a:solidFill>
              <a:ln w="9525" cap="flat">
                <a:solidFill>
                  <a:srgbClr val="2D5F7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2025 Rev</c:v>
                  </c:pt>
                  <c:pt idx="1">
                    <c:v>2035 Rev</c:v>
                  </c:pt>
                  <c:pt idx="2">
                    <c:v>10Y CAGR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Operations</c:v>
                </c:pt>
              </c:strCache>
            </c:strRef>
          </c:tx>
          <c:spPr>
            <a:solidFill>
              <a:srgbClr val="BFE5EF"/>
            </a:solidFill>
            <a:ln w="31750" cap="flat">
              <a:solidFill>
                <a:srgbClr val="BFE5EF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BFE5EF"/>
              </a:solidFill>
              <a:ln w="9525" cap="flat">
                <a:solidFill>
                  <a:srgbClr val="BFE5E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2025 Rev</c:v>
                  </c:pt>
                  <c:pt idx="1">
                    <c:v>2035 Rev</c:v>
                  </c:pt>
                  <c:pt idx="2">
                    <c:v>10Y CAGR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93</c:v>
                </c:pt>
                <c:pt idx="1">
                  <c:v>100</c:v>
                </c:pt>
                <c:pt idx="2">
                  <c:v>28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Technology</c:v>
                </c:pt>
              </c:strCache>
            </c:strRef>
          </c:tx>
          <c:spPr>
            <a:solidFill>
              <a:srgbClr val="B84C65"/>
            </a:solidFill>
            <a:ln w="31750" cap="flat">
              <a:solidFill>
                <a:srgbClr val="B84C65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B84C65"/>
              </a:solidFill>
              <a:ln w="9525" cap="flat">
                <a:solidFill>
                  <a:srgbClr val="B84C6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2025 Rev</c:v>
                  </c:pt>
                  <c:pt idx="1">
                    <c:v>2035 Rev</c:v>
                  </c:pt>
                  <c:pt idx="2">
                    <c:v>10Y CAGR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</c:v>
                </c:pt>
                <c:pt idx="1">
                  <c:v>73</c:v>
                </c:pt>
                <c:pt idx="2">
                  <c:v>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5080" cap="flat">
              <a:solidFill>
                <a:srgbClr val="C9B9A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8A7968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A  ·  PURE NATIVE PPT COLUMN CHART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chart, nothing else.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Pure pptxgenjs addChart. Saperia palette and fonts passed in; everything else is PowerPoint defaults.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B  ·  NATIVE COLUMN CHART + OVERLAY CHROME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Native chart, shapes on top.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Native chart for the plot area. Axis title, hero callout, and value labels live as overlay shapes/text.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12648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2029 → 2030: </a:t>
            </a:r>
            <a:pPr indent="0" marL="0">
              <a:buNone/>
            </a:pPr>
            <a:r>
              <a:rPr lang="en-US" sz="1300" b="1" i="1" dirty="0">
                <a:solidFill>
                  <a:srgbClr val="353745"/>
                </a:solidFill>
                <a:highlight>
                  <a:srgbClr val="C1FF72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+35%</a:t>
            </a:r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one year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6080760"/>
            <a:ext cx="11091672" cy="0"/>
          </a:xfrm>
          <a:prstGeom prst="line">
            <a:avLst/>
          </a:prstGeom>
          <a:noFill/>
          <a:ln w="6350">
            <a:solidFill>
              <a:srgbClr val="C9B9A8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C  ·  PURE NATIVE SHAPES — NO CHART OBJECT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bar is a rect.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chart object. Rectangles at computed positions, axis ticks as text runs. More code; full editorial control.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188720" y="2103120"/>
            <a:ext cx="10222992" cy="3566160"/>
          </a:xfrm>
          <a:prstGeom prst="rect">
            <a:avLst/>
          </a:prstGeom>
          <a:ln w="6350">
            <a:solidFill>
              <a:srgbClr val="C9B9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70521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2399884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329247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258610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187973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2029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117336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2030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046699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2031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976062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2032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905425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2033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9834788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2034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764151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2035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188720" y="5907024"/>
            <a:ext cx="10222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558698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$0M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40080" y="503834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$10M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40080" y="448970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$20M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40080" y="394106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$30M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40080" y="339242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$40M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0080" y="284378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$50M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40080" y="229514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$60M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 rot="-5400000">
            <a:off x="182880" y="38862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($M)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188720" y="512064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88720" y="457200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" y="402336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88720" y="347472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88720" y="292608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88720" y="237744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356221" y="4347606"/>
            <a:ext cx="594360" cy="1321674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3" name="Shape 31"/>
          <p:cNvSpPr/>
          <p:nvPr/>
        </p:nvSpPr>
        <p:spPr>
          <a:xfrm>
            <a:off x="2285584" y="4443618"/>
            <a:ext cx="594360" cy="1225662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4" name="Shape 32"/>
          <p:cNvSpPr/>
          <p:nvPr/>
        </p:nvSpPr>
        <p:spPr>
          <a:xfrm>
            <a:off x="3214947" y="4455140"/>
            <a:ext cx="594360" cy="1214140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5" name="Shape 33"/>
          <p:cNvSpPr/>
          <p:nvPr/>
        </p:nvSpPr>
        <p:spPr>
          <a:xfrm>
            <a:off x="4144310" y="4263664"/>
            <a:ext cx="594360" cy="1405616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6" name="Shape 34"/>
          <p:cNvSpPr/>
          <p:nvPr/>
        </p:nvSpPr>
        <p:spPr>
          <a:xfrm>
            <a:off x="5073673" y="4281769"/>
            <a:ext cx="594360" cy="1387511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7" name="Shape 35"/>
          <p:cNvSpPr/>
          <p:nvPr/>
        </p:nvSpPr>
        <p:spPr>
          <a:xfrm>
            <a:off x="6003036" y="3790737"/>
            <a:ext cx="594360" cy="1878543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8" name="Shape 36"/>
          <p:cNvSpPr/>
          <p:nvPr/>
        </p:nvSpPr>
        <p:spPr>
          <a:xfrm>
            <a:off x="6932399" y="3431377"/>
            <a:ext cx="594360" cy="2237903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9" name="Shape 37"/>
          <p:cNvSpPr/>
          <p:nvPr/>
        </p:nvSpPr>
        <p:spPr>
          <a:xfrm>
            <a:off x="7861762" y="3047329"/>
            <a:ext cx="594360" cy="2621951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40" name="Shape 38"/>
          <p:cNvSpPr/>
          <p:nvPr/>
        </p:nvSpPr>
        <p:spPr>
          <a:xfrm>
            <a:off x="8791125" y="2867376"/>
            <a:ext cx="594360" cy="2801904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41" name="Shape 39"/>
          <p:cNvSpPr/>
          <p:nvPr/>
        </p:nvSpPr>
        <p:spPr>
          <a:xfrm>
            <a:off x="9720488" y="2597445"/>
            <a:ext cx="594360" cy="3071835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42" name="Shape 40"/>
          <p:cNvSpPr/>
          <p:nvPr/>
        </p:nvSpPr>
        <p:spPr>
          <a:xfrm>
            <a:off x="10649851" y="2450958"/>
            <a:ext cx="594360" cy="3218322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43" name="Text 41"/>
          <p:cNvSpPr/>
          <p:nvPr/>
        </p:nvSpPr>
        <p:spPr>
          <a:xfrm>
            <a:off x="5843016" y="3406689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53745"/>
                </a:solidFill>
                <a:highlight>
                  <a:srgbClr val="C1FF72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2030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A  ·  NATIVE STACKED-COLUMN HACK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 waterfall. The closest native can get.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pptxgenjs has no waterfall type. Best-effort: stacked column with an invisible base series. No connectors. One color for every delta — positives indistinguishable from negatives.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B  ·  NATIVE STACKED-COLUMN HACK + OVERLAY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Labels rescued, colors cannot be.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native hack. Overlay adds delta labels and step connectors. Bars themselves are still one color — pptxgenjs does not expose per-bar color in native charts.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2386270" y="3877970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7" name="Shape 4"/>
          <p:cNvSpPr/>
          <p:nvPr/>
        </p:nvSpPr>
        <p:spPr>
          <a:xfrm>
            <a:off x="3846698" y="4382719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8" name="Shape 5"/>
          <p:cNvSpPr/>
          <p:nvPr/>
        </p:nvSpPr>
        <p:spPr>
          <a:xfrm>
            <a:off x="5307125" y="4484218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9" name="Shape 6"/>
          <p:cNvSpPr/>
          <p:nvPr/>
        </p:nvSpPr>
        <p:spPr>
          <a:xfrm>
            <a:off x="6767553" y="3971239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8227980" y="4607662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9688408" y="2533802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12" name="Text 9"/>
          <p:cNvSpPr/>
          <p:nvPr/>
        </p:nvSpPr>
        <p:spPr>
          <a:xfrm>
            <a:off x="2922161" y="355793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84C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−$1.8M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382589" y="4062679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84C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−$0.4M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843016" y="3651199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D5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+$1.9M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7303443" y="3651199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84C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−$2.3M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8763871" y="221376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D5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+$7.6M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C  ·  PURE NATIVE SHAPES — NO CHART OBJECT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real waterfall.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bar is a rect. Connectors are lines. Positive steps in STEEL, negative in BERRY, anchors in INK. Delta labels above each float; anchors labeled with totals.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188720" y="2103120"/>
            <a:ext cx="10222992" cy="3566160"/>
          </a:xfrm>
          <a:prstGeom prst="rect">
            <a:avLst/>
          </a:prstGeom>
          <a:ln w="6350">
            <a:solidFill>
              <a:srgbClr val="C9B9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36054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196481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656909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117336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577763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2029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9038191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2030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498618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2030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88720" y="5907024"/>
            <a:ext cx="10222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" y="558698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$0M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40080" y="503834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$2M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40080" y="448970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$4M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0080" y="394106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$6M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40080" y="339242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$8M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40080" y="284378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$10M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40080" y="229514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$12M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 rot="-5400000">
            <a:off x="182880" y="38862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($M)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188720" y="512064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88720" y="457200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88720" y="402336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88720" y="347472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88720" y="292608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88720" y="237744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86270" y="3877970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3846698" y="4382719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5307125" y="4484218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767553" y="3971239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8227980" y="4607662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9688408" y="2533802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1621754" y="3877970"/>
            <a:ext cx="594360" cy="1791310"/>
          </a:xfrm>
          <a:prstGeom prst="rect">
            <a:avLst/>
          </a:prstGeom>
          <a:solidFill>
            <a:srgbClr val="353745">
              <a:alpha val="85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1370294" y="353049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$6.5M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082181" y="3877970"/>
            <a:ext cx="594360" cy="504749"/>
          </a:xfrm>
          <a:prstGeom prst="rect">
            <a:avLst/>
          </a:prstGeom>
          <a:solidFill>
            <a:srgbClr val="B84C65"/>
          </a:solidFill>
          <a:ln/>
        </p:spPr>
      </p:sp>
      <p:sp>
        <p:nvSpPr>
          <p:cNvPr id="37" name="Text 35"/>
          <p:cNvSpPr/>
          <p:nvPr/>
        </p:nvSpPr>
        <p:spPr>
          <a:xfrm>
            <a:off x="2830721" y="353049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4C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−$1.8M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42609" y="4382719"/>
            <a:ext cx="594360" cy="101498"/>
          </a:xfrm>
          <a:prstGeom prst="rect">
            <a:avLst/>
          </a:prstGeom>
          <a:solidFill>
            <a:srgbClr val="B84C65"/>
          </a:solidFill>
          <a:ln/>
        </p:spPr>
      </p:sp>
      <p:sp>
        <p:nvSpPr>
          <p:cNvPr id="39" name="Text 37"/>
          <p:cNvSpPr/>
          <p:nvPr/>
        </p:nvSpPr>
        <p:spPr>
          <a:xfrm>
            <a:off x="4291149" y="4035247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4C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−$0.4M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003036" y="3971239"/>
            <a:ext cx="594360" cy="512978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41" name="Text 39"/>
          <p:cNvSpPr/>
          <p:nvPr/>
        </p:nvSpPr>
        <p:spPr>
          <a:xfrm>
            <a:off x="5751576" y="3623767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5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+$1.9M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463463" y="3971239"/>
            <a:ext cx="594360" cy="636422"/>
          </a:xfrm>
          <a:prstGeom prst="rect">
            <a:avLst/>
          </a:prstGeom>
          <a:solidFill>
            <a:srgbClr val="B84C65"/>
          </a:solidFill>
          <a:ln/>
        </p:spPr>
      </p:sp>
      <p:sp>
        <p:nvSpPr>
          <p:cNvPr id="43" name="Text 41"/>
          <p:cNvSpPr/>
          <p:nvPr/>
        </p:nvSpPr>
        <p:spPr>
          <a:xfrm>
            <a:off x="7212003" y="3623767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4C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−$2.3M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8923891" y="2533802"/>
            <a:ext cx="594360" cy="2073859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45" name="Text 43"/>
          <p:cNvSpPr/>
          <p:nvPr/>
        </p:nvSpPr>
        <p:spPr>
          <a:xfrm>
            <a:off x="8672431" y="218633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5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+$7.6M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10384318" y="2533802"/>
            <a:ext cx="594360" cy="3135478"/>
          </a:xfrm>
          <a:prstGeom prst="rect">
            <a:avLst/>
          </a:prstGeom>
          <a:solidFill>
            <a:srgbClr val="353745">
              <a:alpha val="85000"/>
            </a:srgbClr>
          </a:solidFill>
          <a:ln/>
        </p:spPr>
      </p:sp>
      <p:sp>
        <p:nvSpPr>
          <p:cNvPr id="47" name="Text 45"/>
          <p:cNvSpPr/>
          <p:nvPr/>
        </p:nvSpPr>
        <p:spPr>
          <a:xfrm>
            <a:off x="10132858" y="218633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$11.4M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48640" y="61722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years of compression, then </a:t>
            </a:r>
            <a:pPr indent="0" marL="0">
              <a:buNone/>
            </a:pPr>
            <a:r>
              <a:rPr lang="en-US" sz="1200" b="1" i="1" dirty="0">
                <a:solidFill>
                  <a:srgbClr val="353745"/>
                </a:solidFill>
                <a:highlight>
                  <a:srgbClr val="C1FF72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+$7.6M in one year</a:t>
            </a:r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 EBITDA snap-back.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CHART  ·  NATIVE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EBITDA % compressed, then snapped back.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Native pptxgenjs line chart. Saperia palette, axes, gridlines. Callout highlights the trough. No overlay — native handles this type cleanly.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1722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2029 trough: </a:t>
            </a:r>
            <a:pPr indent="0" marL="0">
              <a:buNone/>
            </a:pPr>
            <a:r>
              <a:rPr lang="en-US" sz="1200" b="1" i="1" dirty="0">
                <a:solidFill>
                  <a:srgbClr val="353745"/>
                </a:solidFill>
                <a:highlight>
                  <a:srgbClr val="C1FF72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15.3%</a:t>
            </a:r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a 12-point compression from 2025. Back to 33% by 2030.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DONUT CHART  ·  NATIVE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practices, split close to thirds by 2035.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Native pptxgenjs doughnut. Text callouts on the right replace native labels (the common native weakness).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594360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6766560" y="21031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2035 TOTAL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766560" y="2377440"/>
            <a:ext cx="1371600" cy="0"/>
          </a:xfrm>
          <a:prstGeom prst="line">
            <a:avLst/>
          </a:prstGeom>
          <a:noFill/>
          <a:ln w="19050">
            <a:solidFill>
              <a:srgbClr val="3537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766560" y="246888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$58.7M</a:t>
            </a:r>
            <a:endParaRPr lang="en-US" sz="4400" dirty="0"/>
          </a:p>
        </p:txBody>
      </p:sp>
      <p:sp>
        <p:nvSpPr>
          <p:cNvPr id="9" name="Shape 6"/>
          <p:cNvSpPr/>
          <p:nvPr/>
        </p:nvSpPr>
        <p:spPr>
          <a:xfrm>
            <a:off x="6766560" y="3639312"/>
            <a:ext cx="128016" cy="128016"/>
          </a:xfrm>
          <a:prstGeom prst="rect">
            <a:avLst/>
          </a:prstGeom>
          <a:solidFill>
            <a:srgbClr val="BFE5EF"/>
          </a:solidFill>
          <a:ln/>
        </p:spPr>
      </p:sp>
      <p:sp>
        <p:nvSpPr>
          <p:cNvPr id="10" name="Text 7"/>
          <p:cNvSpPr/>
          <p:nvPr/>
        </p:nvSpPr>
        <p:spPr>
          <a:xfrm>
            <a:off x="7040880" y="35661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040880" y="382219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$20.6M  ·  35%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040880" y="4069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Leader by 2035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766560" y="4553712"/>
            <a:ext cx="128016" cy="128016"/>
          </a:xfrm>
          <a:prstGeom prst="rect">
            <a:avLst/>
          </a:prstGeom>
          <a:solidFill>
            <a:srgbClr val="B84C65"/>
          </a:solidFill>
          <a:ln/>
        </p:spPr>
      </p:sp>
      <p:sp>
        <p:nvSpPr>
          <p:cNvPr id="14" name="Text 11"/>
          <p:cNvSpPr/>
          <p:nvPr/>
        </p:nvSpPr>
        <p:spPr>
          <a:xfrm>
            <a:off x="7040880" y="44805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040880" y="473659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$19.9M  ·  34%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040880" y="4983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Fastest grower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766560" y="5468112"/>
            <a:ext cx="128016" cy="128016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18" name="Text 15"/>
          <p:cNvSpPr/>
          <p:nvPr/>
        </p:nvSpPr>
        <p:spPr>
          <a:xfrm>
            <a:off x="7040880" y="53949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040880" y="565099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$18.1M  ·  31%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7040880" y="5897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Cyclical anchor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 PLOT  ·  NATIVE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Utilization predicts EBITDA margin.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Native pptxgenjs scatter chart (non-bubble). 11 years of (util, EBITDA %) points. Native handles scatter when sizing uniformity is fine.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1722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Positive slope: every 10 utilization points ≈ +7 points of EBITDA. Pricing alone never closed the gap.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CHART  ·  NATIVE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 shapes, same book.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practices mapped across three normalized dimensions. Native radar handles this cleanly when axes are on a shared scale.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594360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6766560" y="21031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SHAPES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766560" y="2377440"/>
            <a:ext cx="1371600" cy="0"/>
          </a:xfrm>
          <a:prstGeom prst="line">
            <a:avLst/>
          </a:prstGeom>
          <a:noFill/>
          <a:ln w="19050">
            <a:solidFill>
              <a:srgbClr val="35374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766560" y="3044952"/>
            <a:ext cx="128016" cy="128016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9" name="Text 6"/>
          <p:cNvSpPr/>
          <p:nvPr/>
        </p:nvSpPr>
        <p:spPr>
          <a:xfrm>
            <a:off x="7040880" y="29718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040880" y="3227832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Largest in 2025, smallest in 2035. Slowest CAGR. A cyclical anchor, not a growth engine.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766560" y="4096512"/>
            <a:ext cx="128016" cy="128016"/>
          </a:xfrm>
          <a:prstGeom prst="rect">
            <a:avLst/>
          </a:prstGeom>
          <a:solidFill>
            <a:srgbClr val="BFE5EF"/>
          </a:solidFill>
          <a:ln/>
        </p:spPr>
      </p:sp>
      <p:sp>
        <p:nvSpPr>
          <p:cNvPr id="12" name="Text 9"/>
          <p:cNvSpPr/>
          <p:nvPr/>
        </p:nvSpPr>
        <p:spPr>
          <a:xfrm>
            <a:off x="7040880" y="40233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040880" y="4279392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Smallest 2025 start for its eventual size. Strongest 2035 total — the balanced leader.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766560" y="5148072"/>
            <a:ext cx="128016" cy="128016"/>
          </a:xfrm>
          <a:prstGeom prst="rect">
            <a:avLst/>
          </a:prstGeom>
          <a:solidFill>
            <a:srgbClr val="B84C65"/>
          </a:solidFill>
          <a:ln/>
        </p:spPr>
      </p:sp>
      <p:sp>
        <p:nvSpPr>
          <p:cNvPr id="15" name="Text 12"/>
          <p:cNvSpPr/>
          <p:nvPr/>
        </p:nvSpPr>
        <p:spPr>
          <a:xfrm>
            <a:off x="7040880" y="50749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040880" y="5330952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Smallest start, fastest CAGR. The growth story; still #2 by revenue in 2035.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Chart-type audit deck — Column + Waterfall</dc:title>
  <dc:subject>PptxGenJS Presentation</dc:subject>
  <dc:creator>Saperia Consulting</dc:creator>
  <cp:lastModifiedBy>Saperia Consulting</cp:lastModifiedBy>
  <cp:revision>1</cp:revision>
  <dcterms:created xsi:type="dcterms:W3CDTF">2026-04-20T21:36:32Z</dcterms:created>
  <dcterms:modified xsi:type="dcterms:W3CDTF">2026-04-20T21:36:32Z</dcterms:modified>
</cp:coreProperties>
</file>